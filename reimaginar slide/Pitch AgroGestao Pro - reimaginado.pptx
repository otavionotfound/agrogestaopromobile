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08070c0a924dcc" /><Relationship Type="http://schemas.openxmlformats.org/officeDocument/2006/relationships/extended-properties" Target="/docProps/app.xml" Id="Rc9b8165354c346ff" /><Relationship Type="http://schemas.openxmlformats.org/officeDocument/2006/relationships/officeDocument" Target="/ppt/presentation.xml" Id="R716a1545d2164f0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a9b758e85534c23"/>
  </p:sldMasterIdLst>
  <p:notesMasterIdLst>
    <p:notesMasterId xmlns:r="http://schemas.openxmlformats.org/officeDocument/2006/relationships" r:id="R12ffb9c84c3e416d"/>
  </p:notesMasterIdLst>
  <p:sldIdLst>
    <p:sldId xmlns:r="http://schemas.openxmlformats.org/officeDocument/2006/relationships" id="256" r:id="R0881dc08dddf4cce"/>
    <p:sldId xmlns:r="http://schemas.openxmlformats.org/officeDocument/2006/relationships" id="257" r:id="R2637824fbe4a4136"/>
    <p:sldId xmlns:r="http://schemas.openxmlformats.org/officeDocument/2006/relationships" id="258" r:id="Rcdc6851244c943e8"/>
    <p:sldId xmlns:r="http://schemas.openxmlformats.org/officeDocument/2006/relationships" id="259" r:id="R0298f3ff8a654abc"/>
    <p:sldId xmlns:r="http://schemas.openxmlformats.org/officeDocument/2006/relationships" id="260" r:id="R1c309762b3344c19"/>
    <p:sldId xmlns:r="http://schemas.openxmlformats.org/officeDocument/2006/relationships" id="261" r:id="Rb1bae0d55e4a471a"/>
    <p:sldId xmlns:r="http://schemas.openxmlformats.org/officeDocument/2006/relationships" id="262" r:id="Rf716115257d34dac"/>
    <p:sldId xmlns:r="http://schemas.openxmlformats.org/officeDocument/2006/relationships" id="263" r:id="R2f634a870591486d"/>
    <p:sldId xmlns:r="http://schemas.openxmlformats.org/officeDocument/2006/relationships" id="264" r:id="R6401b5e1a8084813"/>
    <p:sldId xmlns:r="http://schemas.openxmlformats.org/officeDocument/2006/relationships" id="265" r:id="R944e07d1d16e4e41"/>
  </p:sldIdLst>
  <p:sldSz cx="18288000" cy="10287000"/>
  <p:notesSz cx="6858000" cy="9144000"/>
  <p:embeddedFontLst>
    <p:embeddedFont>
      <p:font typeface="Cambria Bold"/>
      <p:regular xmlns:r="http://schemas.openxmlformats.org/officeDocument/2006/relationships" r:id="R9d420e7b8de04ced"/>
    </p:embeddedFont>
    <p:embeddedFont>
      <p:font typeface="Calibri (MS) Bold"/>
      <p:regular xmlns:r="http://schemas.openxmlformats.org/officeDocument/2006/relationships" r:id="R09377be90df34f7c"/>
    </p:embeddedFont>
    <p:embeddedFont>
      <p:font typeface="Cambria Italics"/>
      <p:regular xmlns:r="http://schemas.openxmlformats.org/officeDocument/2006/relationships" r:id="Rc4ab156126fd4637"/>
    </p:embeddedFont>
    <p:embeddedFont>
      <p:font typeface="Calibri (MS)"/>
      <p:regular xmlns:r="http://schemas.openxmlformats.org/officeDocument/2006/relationships" r:id="R2cc87926afbf45a1"/>
    </p:embeddedFont>
    <p:embeddedFont>
      <p:font typeface="Cambria"/>
      <p:regular xmlns:r="http://schemas.openxmlformats.org/officeDocument/2006/relationships" r:id="Re0e0908d70464caf"/>
    </p:embeddedFont>
    <p:embeddedFont>
      <p:font typeface="Cambria Bold Italics"/>
      <p:regular xmlns:r="http://schemas.openxmlformats.org/officeDocument/2006/relationships" r:id="R2fb7df63b38e494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89ac944154eac" /><Relationship Type="http://schemas.openxmlformats.org/officeDocument/2006/relationships/slideMaster" Target="/ppt/slideMasters/slideMaster1.xml" Id="R7a9b758e85534c23" /><Relationship Type="http://schemas.openxmlformats.org/officeDocument/2006/relationships/notesMaster" Target="/ppt/notesMasters/notesMaster1.xml" Id="R12ffb9c84c3e416d" /><Relationship Type="http://schemas.openxmlformats.org/officeDocument/2006/relationships/presProps" Target="/ppt/presProps.xml" Id="Ra594ff571e384715" /><Relationship Type="http://schemas.openxmlformats.org/officeDocument/2006/relationships/viewProps" Target="/ppt/viewProps.xml" Id="Rf6007b5ce2fb4da3" /><Relationship Type="http://schemas.openxmlformats.org/officeDocument/2006/relationships/tableStyles" Target="/ppt/tableStyles.xml" Id="Rafe0eddb81ff42e5" /><Relationship Type="http://schemas.openxmlformats.org/officeDocument/2006/relationships/font" Target="/ppt/fonts/font.dat" Id="R9d420e7b8de04ced" /><Relationship Type="http://schemas.openxmlformats.org/officeDocument/2006/relationships/font" Target="/ppt/fonts/font2.dat" Id="R09377be90df34f7c" /><Relationship Type="http://schemas.openxmlformats.org/officeDocument/2006/relationships/font" Target="/ppt/fonts/font3.dat" Id="Rc4ab156126fd4637" /><Relationship Type="http://schemas.openxmlformats.org/officeDocument/2006/relationships/font" Target="/ppt/fonts/font4.dat" Id="R2cc87926afbf45a1" /><Relationship Type="http://schemas.openxmlformats.org/officeDocument/2006/relationships/font" Target="/ppt/fonts/font5.dat" Id="Re0e0908d70464caf" /><Relationship Type="http://schemas.openxmlformats.org/officeDocument/2006/relationships/font" Target="/ppt/fonts/font6.dat" Id="R2fb7df63b38e4940" /><Relationship Type="http://schemas.openxmlformats.org/officeDocument/2006/relationships/slide" Target="/ppt/slides/slide1.xml" Id="R0881dc08dddf4cce" /><Relationship Type="http://schemas.openxmlformats.org/officeDocument/2006/relationships/slide" Target="/ppt/slides/slide2.xml" Id="R2637824fbe4a4136" /><Relationship Type="http://schemas.openxmlformats.org/officeDocument/2006/relationships/slide" Target="/ppt/slides/slide3.xml" Id="Rcdc6851244c943e8" /><Relationship Type="http://schemas.openxmlformats.org/officeDocument/2006/relationships/slide" Target="/ppt/slides/slide4.xml" Id="R0298f3ff8a654abc" /><Relationship Type="http://schemas.openxmlformats.org/officeDocument/2006/relationships/slide" Target="/ppt/slides/slide5.xml" Id="R1c309762b3344c19" /><Relationship Type="http://schemas.openxmlformats.org/officeDocument/2006/relationships/slide" Target="/ppt/slides/slide6.xml" Id="Rb1bae0d55e4a471a" /><Relationship Type="http://schemas.openxmlformats.org/officeDocument/2006/relationships/slide" Target="/ppt/slides/slide7.xml" Id="Rf716115257d34dac" /><Relationship Type="http://schemas.openxmlformats.org/officeDocument/2006/relationships/slide" Target="/ppt/slides/slide8.xml" Id="R2f634a870591486d" /><Relationship Type="http://schemas.openxmlformats.org/officeDocument/2006/relationships/slide" Target="/ppt/slides/slide9.xml" Id="R6401b5e1a8084813" /><Relationship Type="http://schemas.openxmlformats.org/officeDocument/2006/relationships/slide" Target="/ppt/slides/slide10.xml" Id="R944e07d1d16e4e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f6d0bb8fc5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46b6874dd47d0" /><Relationship Type="http://schemas.openxmlformats.org/officeDocument/2006/relationships/notesMaster" Target="/ppt/notesMasters/notesMaster1.xml" Id="Rc27c39e7c0ee47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9a5170df444879" /><Relationship Type="http://schemas.openxmlformats.org/officeDocument/2006/relationships/notesMaster" Target="/ppt/notesMasters/notesMaster1.xml" Id="R96a4ccd07d754b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2571265b4e464a" /><Relationship Type="http://schemas.openxmlformats.org/officeDocument/2006/relationships/notesMaster" Target="/ppt/notesMasters/notesMaster1.xml" Id="R1885f4ca1af840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4d190c735f4abb" /><Relationship Type="http://schemas.openxmlformats.org/officeDocument/2006/relationships/notesMaster" Target="/ppt/notesMasters/notesMaster1.xml" Id="Raffdd701d98d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c063b6b66c4db2" /><Relationship Type="http://schemas.openxmlformats.org/officeDocument/2006/relationships/notesMaster" Target="/ppt/notesMasters/notesMaster1.xml" Id="Rb1c255533882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ced9e146644b40" /><Relationship Type="http://schemas.openxmlformats.org/officeDocument/2006/relationships/notesMaster" Target="/ppt/notesMasters/notesMaster1.xml" Id="Rf142df4f4bf84b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f471f9c868422e" /><Relationship Type="http://schemas.openxmlformats.org/officeDocument/2006/relationships/notesMaster" Target="/ppt/notesMasters/notesMaster1.xml" Id="Racf20f066bb940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c377b87b74802" /><Relationship Type="http://schemas.openxmlformats.org/officeDocument/2006/relationships/notesMaster" Target="/ppt/notesMasters/notesMaster1.xml" Id="R70eebd091aad4f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79fa6274514a01" /><Relationship Type="http://schemas.openxmlformats.org/officeDocument/2006/relationships/notesMaster" Target="/ppt/notesMasters/notesMaster1.xml" Id="R18bb87fd8c034d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52ea88fe9b482e" /><Relationship Type="http://schemas.openxmlformats.org/officeDocument/2006/relationships/notesMaster" Target="/ppt/notesMasters/notesMaster1.xml" Id="Rb0d9693af4634e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C:/Users/Otavi/Downloads/appAgroGestao/README.md (estado atual, recursos implementados, limites e objetivo de piloto)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https://agenciadenoticias.ibge.gov.br/agencia-sala-de-imprensa/2013-agencia-de-noticias/releases/25789-censo-agro-2017-populacao-ocupada-nos-estabelecimentos-agropecuarios-cai-8-8 (3.897.408 estabelecimentos de agricultura familiar; 77% do total)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C:/Users/Otavi/Downloads/appAgroGestao/README.md (estado atual, recursos implementados, limites e objetivo de piloto)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C:/Users/Otavi/Downloads/appAgroGestao/README.md (estado atual, recursos implementados, limites e objetivo de piloto)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C:/Users/Otavi/Downloads/appAgroGestao/README.md (estado atual, recursos implementados, limites e objetivo de piloto)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https://agenciadenoticias.ibge.gov.br/agencia-sala-de-imprensa/2013-agencia-de-noticias/releases/25789-censo-agro-2017-populacao-ocupada-nos-estabelecimentos-agropecuarios-cai-8-8 (3,9 milhões; 77%)</a:t>
            </a:r>
          </a:p>
          <a:p xmlns:a="http://schemas.openxmlformats.org/drawingml/2006/main">
            <a:r>
              <a:t>- https://www.infoteca.cnptia.embrapa.br/infoteca/handle/doc/1184214 (Radar Agtech Brasil 2024; 1.972 agtechs)</a:t>
            </a:r>
          </a:p>
          <a:p xmlns:a="http://schemas.openxmlformats.org/drawingml/2006/main">
            <a:r>
              <a:t>- https://cdlcampina.org.br/2025/02/03/oportunidades-e-desafios-tecnologicos-no-agronegocio-em-2025/ (41% de adoção no Nordeste)</a:t>
            </a:r>
          </a:p>
          <a:p xmlns:a="http://schemas.openxmlformats.org/drawingml/2006/main">
            <a:r>
              <a:t>- 59% é inferência aritmética: 100% - 41%.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C:/Users/Otavi/Downloads/appAgroGestao/README.md (estado atual, recursos implementados, limites e objetivo de piloto)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C:/Users/Otavi/Downloads/appAgroGestao/README.md (estado atual, recursos implementados, limites e objetivo de piloto)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94629dc604f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80c957be341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1885c6e2243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2f648ade941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df64deb7d48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3e5e0869947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1528172af4e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b84fd81f74d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f5900031343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834add4aa45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1ee85a0ed448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D3342-7866-4E70-A32D-BC4EE70B0A9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17D47B-BC74-40F3-81CA-224BCB2967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53729-ECF4-4FE5-A1EF-67005E035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E55B20-4DE5-4CE6-B7E5-27D42D5D09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6D7B03-4D2D-47AC-B7E3-9F27D6D2B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E05C5A-E052-4590-B974-715E06AEC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FF4DF-F842-45C1-AC2B-51FD4CFDD3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145912-E5C7-47AC-AAF6-6CFD772A3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CCC1F0-AB13-49A2-8B8B-03F59AEC5B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A7A565-F9A7-4EC1-AE1A-47451C50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16E4EC-C1E9-4418-A2AA-BA91A9391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20A776-36E3-40CF-AF10-EC9D15323C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3B41BA-ECF1-443A-B623-C0CD5EA46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7D9E2-321D-41D3-8800-9D42518A7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F46D4A-365C-4428-B32C-A28FE07EB8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CAA967-B66A-49ED-9453-ADF8584C6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593C1-44BB-47D0-BF25-11551A2805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16BBFF-2AD1-4236-B146-114473973C8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7BF411-CECF-42E4-A6B6-294715788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81E277-E6BA-4A4F-B996-63E026362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210284-B40B-465B-B16C-E5CFA9D33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4D33ED-1B59-4126-AE1A-FEF61FCC4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7C796-9AC7-423A-832A-1D5829608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56A8DA-DD31-4409-B75B-8F23B96F15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7969DEE-3CE0-4316-81DE-ACEC21D91F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E676C0D-EBDD-49E9-BCED-8212B65195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C502D4B-B61B-4D61-B7F6-DE5B81F8A1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784BD0C-57A1-4A5A-9C40-D4AC0DFBD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30B3328-2273-44BD-AF2F-75F8B1B02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50E43C-AE17-480E-A376-247A95E19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36A038-1A53-474C-8EEA-0104533CF7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A23728-FB35-4020-BD26-AFD763B9A4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217922-7E4F-4189-9C47-638FF7F4E1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1428EEF-244D-44C4-9E13-F1826F0568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3F2FD52-ED70-44B4-90F1-44A2F5B8B2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A2D86CF-A2BF-48DD-BB60-D29ECF0069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37237C-BEEC-4966-B6D1-63FB6E927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12BBAC-8228-4615-AFAB-B68164C9A8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2DF254-248E-45AC-B2EB-200DB88DD9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932221-20D8-486D-9B5D-9E35ABF0A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A9EA70-1423-4B5A-98A1-63D47A433A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56B7A4-5EBC-43D0-A2A1-8D0101EEF6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E18-1288-4C0E-ADD9-35B791C16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1ED0EFE-F376-4B86-936A-127002B9E28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08890A-D818-4A35-871A-2D46A6099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F97787-25C3-4432-9E3E-E7245709E2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1A0BCD7-1A89-4556-8041-0FF82A0F68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FEE293-5798-43DB-BD1C-D818ADC852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95789-5BCF-4EC3-817E-97705C2AC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9CCEE2-AFDF-455E-BA4C-DE3593C27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5211FD-C51E-4946-B84B-D839A1C6AA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E034BB-0D35-42A3-ACB5-65AF69E462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8604F0-0EDD-4978-A27E-EF4D741AC1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2F46246-91D3-4551-AB3F-75D3FF0A1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C7864F-CFB5-45E8-A5D8-F50E109A32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D7DF4D-025C-4682-8C4E-9F3BB69B33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440F2D-FF7A-4AB1-BBCA-7F8BB24E9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46BA14-0762-468B-B3E1-0CBAEE8C4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44ab729e74440" /><Relationship Type="http://schemas.openxmlformats.org/officeDocument/2006/relationships/slideLayout" Target="/ppt/slideLayouts/slideLayout1.xml" Id="R9c9cfa48c9d74896" /><Relationship Type="http://schemas.openxmlformats.org/officeDocument/2006/relationships/slideLayout" Target="/ppt/slideLayouts/slideLayout2.xml" Id="R8d02b73f75bf4dbd" /><Relationship Type="http://schemas.openxmlformats.org/officeDocument/2006/relationships/slideLayout" Target="/ppt/slideLayouts/slideLayout3.xml" Id="R6b72b80599034be1" /><Relationship Type="http://schemas.openxmlformats.org/officeDocument/2006/relationships/slideLayout" Target="/ppt/slideLayouts/slideLayout4.xml" Id="R829058b5b654484f" /><Relationship Type="http://schemas.openxmlformats.org/officeDocument/2006/relationships/slideLayout" Target="/ppt/slideLayouts/slideLayout5.xml" Id="R189d6054a54743a9" /><Relationship Type="http://schemas.openxmlformats.org/officeDocument/2006/relationships/slideLayout" Target="/ppt/slideLayouts/slideLayout6.xml" Id="R3bef51788cc6421f" /><Relationship Type="http://schemas.openxmlformats.org/officeDocument/2006/relationships/slideLayout" Target="/ppt/slideLayouts/slideLayout7.xml" Id="Rcb60d10f5b954669" /><Relationship Type="http://schemas.openxmlformats.org/officeDocument/2006/relationships/slideLayout" Target="/ppt/slideLayouts/slideLayout8.xml" Id="Rffaefa04817d4404" /><Relationship Type="http://schemas.openxmlformats.org/officeDocument/2006/relationships/slideLayout" Target="/ppt/slideLayouts/slideLayout9.xml" Id="Redf9bd5de2f14077" /><Relationship Type="http://schemas.openxmlformats.org/officeDocument/2006/relationships/slideLayout" Target="/ppt/slideLayouts/slideLayout10.xml" Id="Rd8226bd6968d4306" /><Relationship Type="http://schemas.openxmlformats.org/officeDocument/2006/relationships/slideLayout" Target="/ppt/slideLayouts/slideLayout11.xml" Id="R0e28370ac9cb4f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13D2D2E-7BC1-4906-B025-DEECB7CD7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4F822E-EBC8-485C-9821-24254437B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DB59CF-7D3D-4C64-84B4-EDD979EAE67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A2F63D-C3AD-4188-A979-703952D523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2FC3B0-6E6C-49C8-BA2B-E2F32695ED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9cfa48c9d74896"/>
    <p:sldLayoutId xmlns:r="http://schemas.openxmlformats.org/officeDocument/2006/relationships" id="2147483650" r:id="R8d02b73f75bf4dbd"/>
    <p:sldLayoutId xmlns:r="http://schemas.openxmlformats.org/officeDocument/2006/relationships" id="2147483651" r:id="R6b72b80599034be1"/>
    <p:sldLayoutId xmlns:r="http://schemas.openxmlformats.org/officeDocument/2006/relationships" id="2147483652" r:id="R829058b5b654484f"/>
    <p:sldLayoutId xmlns:r="http://schemas.openxmlformats.org/officeDocument/2006/relationships" id="2147483653" r:id="R189d6054a54743a9"/>
    <p:sldLayoutId xmlns:r="http://schemas.openxmlformats.org/officeDocument/2006/relationships" id="2147483654" r:id="R3bef51788cc6421f"/>
    <p:sldLayoutId xmlns:r="http://schemas.openxmlformats.org/officeDocument/2006/relationships" id="2147483655" r:id="Rcb60d10f5b954669"/>
    <p:sldLayoutId xmlns:r="http://schemas.openxmlformats.org/officeDocument/2006/relationships" id="2147483656" r:id="Rffaefa04817d4404"/>
    <p:sldLayoutId xmlns:r="http://schemas.openxmlformats.org/officeDocument/2006/relationships" id="2147483657" r:id="Redf9bd5de2f14077"/>
    <p:sldLayoutId xmlns:r="http://schemas.openxmlformats.org/officeDocument/2006/relationships" id="2147483658" r:id="Rd8226bd6968d4306"/>
    <p:sldLayoutId xmlns:r="http://schemas.openxmlformats.org/officeDocument/2006/relationships" id="2147483659" r:id="R0e28370ac9cb4fa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a60becad904b15" /><Relationship Type="http://schemas.openxmlformats.org/officeDocument/2006/relationships/image" Target="/ppt/media/image.jpeg" Id="R22b3fe635326492e" /><Relationship Type="http://schemas.openxmlformats.org/officeDocument/2006/relationships/notesSlide" Target="/ppt/notesSlides/notesSlide1.xml" Id="R74aa4d72937b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9acf6b4a0a4da1" /><Relationship Type="http://schemas.openxmlformats.org/officeDocument/2006/relationships/image" Target="/ppt/media/image.jpeg" Id="Ra0de3cad4cfc4985" /><Relationship Type="http://schemas.openxmlformats.org/officeDocument/2006/relationships/notesSlide" Target="/ppt/notesSlides/notesSlide2.xml" Id="R8250ae7fc5e248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1e3f74a4014364" /><Relationship Type="http://schemas.openxmlformats.org/officeDocument/2006/relationships/image" Target="/ppt/media/image.jpeg" Id="R95d5c97817f64dba" /><Relationship Type="http://schemas.openxmlformats.org/officeDocument/2006/relationships/notesSlide" Target="/ppt/notesSlides/notesSlide3.xml" Id="R67efd5ecf67843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10ad5f5b854ce6" /><Relationship Type="http://schemas.openxmlformats.org/officeDocument/2006/relationships/image" Target="/ppt/media/image.jpeg" Id="R2fdb8332b5dd4d2f" /><Relationship Type="http://schemas.openxmlformats.org/officeDocument/2006/relationships/notesSlide" Target="/ppt/notesSlides/notesSlide4.xml" Id="R625ce7d5534642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da8f703e0e4033" /><Relationship Type="http://schemas.openxmlformats.org/officeDocument/2006/relationships/image" Target="/ppt/media/image.jpeg" Id="R4174d4a2f5cd421c" /><Relationship Type="http://schemas.openxmlformats.org/officeDocument/2006/relationships/notesSlide" Target="/ppt/notesSlides/notesSlide5.xml" Id="Rcd11a4ba72aa4e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8a1d4a819542c3" /><Relationship Type="http://schemas.openxmlformats.org/officeDocument/2006/relationships/image" Target="/ppt/media/image.jpeg" Id="Rfe501159533b4e6c" /><Relationship Type="http://schemas.openxmlformats.org/officeDocument/2006/relationships/notesSlide" Target="/ppt/notesSlides/notesSlide6.xml" Id="R5c66ae6d490a49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68065e32ba466d" /><Relationship Type="http://schemas.openxmlformats.org/officeDocument/2006/relationships/image" Target="/ppt/media/image.jpeg" Id="R1cd7cacc65be4754" /><Relationship Type="http://schemas.openxmlformats.org/officeDocument/2006/relationships/notesSlide" Target="/ppt/notesSlides/notesSlide7.xml" Id="R38cb16611f6b40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74e8e749914612" /><Relationship Type="http://schemas.openxmlformats.org/officeDocument/2006/relationships/image" Target="/ppt/media/image.jpeg" Id="R55d65dc2cd744b92" /><Relationship Type="http://schemas.openxmlformats.org/officeDocument/2006/relationships/notesSlide" Target="/ppt/notesSlides/notesSlide8.xml" Id="Rf9db402a970743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34152d15ba4d35" /><Relationship Type="http://schemas.openxmlformats.org/officeDocument/2006/relationships/image" Target="/ppt/media/image.jpeg" Id="R58a939cd938c45f3" /><Relationship Type="http://schemas.openxmlformats.org/officeDocument/2006/relationships/notesSlide" Target="/ppt/notesSlides/notesSlide9.xml" Id="Rb96a374b8a3a40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162ee488b3479f" /><Relationship Type="http://schemas.openxmlformats.org/officeDocument/2006/relationships/image" Target="/ppt/media/image.jpeg" Id="Rf84fd09206714325" /><Relationship Type="http://schemas.openxmlformats.org/officeDocument/2006/relationships/notesSlide" Target="/ppt/notesSlides/notesSlide10.xml" Id="R276c75f0f4ca42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E036B7F-4CC8-4AAE-B87C-894D62F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7523" cy="10287000"/>
          </a:xfrm>
          <a:custGeom xmlns:a="http://schemas.openxmlformats.org/drawingml/2006/main">
            <a:rect l="l" t="t" r="r" b="b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B3699A9-3E7B-46C2-AADB-712DDA1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5640" y="-1802130"/>
            <a:ext cx="8503920" cy="7151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54000"/>
              </a:lnSpc>
              <a:buNone/>
            </a:pPr>
            <a:r>
              <a:rPr sz="450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01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FF18F1E-A852-479B-95AA-8F66261D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240780"/>
            <a:ext cx="12344400" cy="480060"/>
          </a:xfrm>
          <a:custGeom xmlns:a="http://schemas.openxmlformats.org/drawingml/2006/main">
            <a:rect l="l" t="t" r="r" b="b"/>
            <a:pathLst>
              <a:path w="16459200" h="640080">
                <a:moveTo>
                  <a:pt x="0" y="0"/>
                </a:moveTo>
                <a:lnTo>
                  <a:pt x="16459200" y="0"/>
                </a:lnTo>
                <a:lnTo>
                  <a:pt x="1645920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0" t="-451043" r="0" b="-451043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CA8CD75-C597-4FFD-B16E-ECF57BD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219349"/>
            <a:ext cx="1234440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buNone/>
            </a:pPr>
            <a:r>
              <a:rPr sz="16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PITCH DECK · BETA FUNCIONAL PARA VALIDAÇÃO EM CAMPO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2A72981-3B14-4127-AF2E-EAF4310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860" y="6720840"/>
            <a:ext cx="15087600" cy="1440180"/>
          </a:xfrm>
          <a:custGeom xmlns:a="http://schemas.openxmlformats.org/drawingml/2006/main">
            <a:rect l="l" t="t" r="r" b="b"/>
            <a:pathLst>
              <a:path w="20116800" h="1920240">
                <a:moveTo>
                  <a:pt x="0" y="0"/>
                </a:moveTo>
                <a:lnTo>
                  <a:pt x="20116800" y="0"/>
                </a:lnTo>
                <a:lnTo>
                  <a:pt x="20116800" y="1920240"/>
                </a:lnTo>
                <a:lnTo>
                  <a:pt x="0" y="19202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0" t="-154128" r="0" b="-15412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CE3D72-176B-4A99-85AA-F380E29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860" y="6706553"/>
            <a:ext cx="15087600" cy="1454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0800"/>
              </a:lnSpc>
              <a:buNone/>
            </a:pPr>
            <a:r>
              <a:rPr sz="9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C7B8ED0-A26D-449A-95C0-40265EB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8229600"/>
            <a:ext cx="10424160" cy="960120"/>
          </a:xfrm>
          <a:custGeom xmlns:a="http://schemas.openxmlformats.org/drawingml/2006/main">
            <a:rect l="l" t="t" r="r" b="b"/>
            <a:pathLst>
              <a:path w="13898880" h="1280160">
                <a:moveTo>
                  <a:pt x="0" y="0"/>
                </a:moveTo>
                <a:lnTo>
                  <a:pt x="13898880" y="0"/>
                </a:lnTo>
                <a:lnTo>
                  <a:pt x="13898880" y="1280160"/>
                </a:lnTo>
                <a:lnTo>
                  <a:pt x="0" y="12801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0" t="-161551" r="0" b="-16155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F88A22-EEBC-4223-BDAC-FC09A14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8179594"/>
            <a:ext cx="10424160" cy="10101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250" i="1">
                <a:solidFill>
                  <a:srgbClr val="C9D6CB"/>
                </a:solidFill>
                <a:latin typeface="Cambria Italics"/>
                <a:ea typeface="Cambria Italics"/>
                <a:cs typeface="Cambria Italics"/>
              </a:rPr>
              <a:t>A rotina do pequeno produtor organizada em um aplicativo simples, offline e pronto para um piloto acompanhado.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B109134-6F96-4CBC-97B9-5A248F6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5966460"/>
            <a:ext cx="4114800" cy="411480"/>
          </a:xfrm>
          <a:custGeom xmlns:a="http://schemas.openxmlformats.org/drawingml/2006/main">
            <a:rect l="l" t="t" r="r" b="b"/>
            <a:pathLst>
              <a:path w="5486400" h="548640">
                <a:moveTo>
                  <a:pt x="0" y="0"/>
                </a:moveTo>
                <a:lnTo>
                  <a:pt x="5486400" y="0"/>
                </a:lnTo>
                <a:lnTo>
                  <a:pt x="54864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0" t="-144850" r="0" b="-14485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FFE6169-AC28-47BE-AF86-C64F74F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5937885"/>
            <a:ext cx="4114800" cy="44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ODS RELACIONADOS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E40E63F-F596-41EA-A32E-7B56B8E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6473952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E5243B"/>
          </a:solid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4F35D35-989D-40D7-98D2-4E011E4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6583680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19E8409-C904-42B8-B361-118FA38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6576537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DD308CF-AC1A-4DFD-BCC5-F0D3BD1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7159752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4F35DFB-9B7B-4680-80A8-3DDB889A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7138321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Erradicação da Pobreza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078DFC5-C654-4864-A59D-5FBD928A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872" y="6473952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A63A"/>
          </a:solidFill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126BF18-0ACD-491D-8DE8-96FD72D6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6583680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DB0C687-85CD-4F59-AFA0-8D3EBE2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6576537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C3EB74A-830C-4282-8633-D9F37EC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7159752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8849B7-4ADB-4699-8190-E0E4B10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7138321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Fome Zero e Agricultura Sustentável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AA49208-F0FC-48E6-B041-9F3AB998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8353044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A21942"/>
          </a:solid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DF4B704-2A9A-4965-9B4C-FBE237D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8462772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E6ADA02-0765-4FB2-8B1C-0A7654B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8455629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8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FE3F1DD-D294-406A-A86A-4864FDF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9038844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E4C422B-A909-4E55-89DA-525E2A2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9017413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Trabalho Decente e Crescimento Econômico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78CE5CE-8837-4476-A117-89034F0F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872" y="8353044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1367"/>
          </a:solidFill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3C22A1E-AF20-4573-857D-E88B2C82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8462772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8DC53F7-C15F-4C13-AA5E-9EA2DA9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8455629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10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35EA5F-7A75-4C82-94C5-EF97104A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9038844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b3fe635326492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75D2EAAD-545D-4F72-B974-8463FBB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9017413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Redução das Desigualdades</a:t>
            </a:r>
          </a:p>
        </p:txBody>
      </p:sp>
    </p:spTree>
    <p:extLst>
      <p:ext uri="{BB962C8B-B14F-4D97-AF65-F5344CB8AC3E}">
        <p14:creationId xmlns:p14="http://schemas.microsoft.com/office/powerpoint/2010/main" val="17738290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D393465-6DB9-46D1-AA2B-22A5EBD7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5364CA4-C1EA-43F9-9C80-6A0221A7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DB7D2B5-FF2C-4F61-877C-448FCF3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54208CD-5BAB-4C60-8323-971641CE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O PROBLEMA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FDFB163-DF79-4F19-AC3B-73C911EF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 rotina está no caderno — a visão do negócio, não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9D79693-B0F2-4F84-8D46-7584819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DCBBA3-9F06-4741-8C76-F301938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49F45A-E809-411E-95EF-24DC09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70FFC7E-D7D7-4FD3-A113-C021113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02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0AB7890-A079-4808-8A95-044659D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8760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F8430DA-4388-40D6-9215-BE11578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494473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01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6547300-49A4-43F0-ABE2-9BC62A1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1508760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FFFDEA-4FFB-46DD-A9F7-BCF9146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1444467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Produção, tarefas e dinheiro competem pela mesma atenção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67F8177-3417-46F9-BCAC-0C50F09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01275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25A170E6-22B0-4FFD-9739-4A76C7E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64408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AB4005-16E5-4B15-8FBF-6C57DBE1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0121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02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FE5AFCB-8008-4B8F-B23D-4AA060BD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3264408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C5D4A8A-28CC-4114-ABA4-B2054A4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3200115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Informações ficam espalhadas entre caderno, WhatsApp e memória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651D1446-3292-4175-8015-3F967B3E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7684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3549179-3BF3-441C-A24B-396E634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20056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CB96439-52D8-4CD3-8C7B-7A1A95F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05769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03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8D9F9F5-2B08-495F-A228-081111A4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5020056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F3250C7D-3728-4104-BE76-4CAC731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4955763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Soluções completas exigem tempo, configuração e aprendizado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39F42B47-5B2F-4D78-B721-E79CFAF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652405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7063791-7155-4995-9C6C-3F104C85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75704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EBE12E6-CDB5-41D7-9A8B-3E9E94B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61417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04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87D3D6E-5A93-4D79-812D-E745912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B6E8CA9-C644-4F33-9F4B-2B04EF0A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02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C4E00C4-AA98-4237-8D9F-07965C56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6775704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de3cad4cfc4985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0CC15FB-12D2-42C6-886D-535DA81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6711411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Sem histórico organizado, decidir e comprovar resultados fica mais difícil</a:t>
            </a:r>
          </a:p>
        </p:txBody>
      </p:sp>
    </p:spTree>
    <p:extLst>
      <p:ext uri="{BB962C8B-B14F-4D97-AF65-F5344CB8AC3E}">
        <p14:creationId xmlns:p14="http://schemas.microsoft.com/office/powerpoint/2010/main" val="19150874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4DC8214-F491-4122-BE55-48239DE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E666FA-6C80-4D8C-9F9B-2F888F1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A1D6148-9EE8-4671-9BDF-487CB721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11799D9-EEB1-44FA-A059-A91DC60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03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2EB2E0F-3D18-49F9-A59F-440A5AC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056753-6F9E-4BD0-98E3-4D4DF19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OPORTUNIDADE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A37175-C685-4218-BD4D-D097EF9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Milhões de propriedades ainda precisam de gestão simples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4DEEF53-88F7-438B-BD51-F9F2B9F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31055CB-3E04-4DB1-9496-8BF7FB3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697ACB7-1ECF-4B77-8AA2-A54DBC4A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13472A-29A4-49AF-929F-8C6BF6DE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03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EF04A9B-4DDC-43C2-8626-14B408D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165860"/>
            <a:ext cx="11223802" cy="1851660"/>
          </a:xfrm>
          <a:custGeom xmlns:a="http://schemas.openxmlformats.org/drawingml/2006/main">
            <a:rect l="l" t="t" r="r" b="b"/>
            <a:pathLst>
              <a:path w="14965069" h="2468880">
                <a:moveTo>
                  <a:pt x="0" y="0"/>
                </a:moveTo>
                <a:lnTo>
                  <a:pt x="14965069" y="0"/>
                </a:lnTo>
                <a:lnTo>
                  <a:pt x="14965069" y="2468880"/>
                </a:lnTo>
                <a:lnTo>
                  <a:pt x="0" y="2468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68108" r="0" b="-68108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25CD32-A91D-469D-8917-C177A213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158717"/>
            <a:ext cx="11223803" cy="18588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1880"/>
              </a:lnSpc>
              <a:buNone/>
            </a:pPr>
            <a:r>
              <a:rPr sz="9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3,9 milhões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DD7879E-574B-45B4-AF11-9FF2EFAD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948940"/>
            <a:ext cx="9852202" cy="891540"/>
          </a:xfrm>
          <a:custGeom xmlns:a="http://schemas.openxmlformats.org/drawingml/2006/main">
            <a:rect l="l" t="t" r="r" b="b"/>
            <a:pathLst>
              <a:path w="13136269" h="1188720">
                <a:moveTo>
                  <a:pt x="0" y="0"/>
                </a:moveTo>
                <a:lnTo>
                  <a:pt x="13136269" y="0"/>
                </a:lnTo>
                <a:lnTo>
                  <a:pt x="13136269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165324" r="0" b="-165324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75756B-3A6B-4F97-975F-395EC29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877503"/>
            <a:ext cx="9852203" cy="9629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8"/>
              </a:lnSpc>
              <a:buNone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de estabelecimentos são classificados como agricultura familiar no Brasil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F86F76D1-4C61-484C-996E-A89D927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178617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6DEEBE89-FBD4-41EC-A365-E4B0E29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457700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7138F9B-7CC3-4D55-9825-15A1EDF8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429125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47245B5-541F-4158-A76A-76181A04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4457700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E0A3EDF-8793-4854-AD12-24E362A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4393407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Eles representam 77% dos estabelecimentos agropecuários do país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DB30391B-7CBC-45C2-8997-EC040DA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57971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EAA566A-0FC4-45EE-8718-3335BFE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993892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01BAE3-B84C-4C7D-BF10-D066307F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965317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16FBA18D-42DA-44BE-A8DC-E3F22E4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5993892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CDE6823-797C-4DB4-912D-1B01905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5929599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 celular pode transformar registros dispersos em histórico organizado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4D249BA9-B0EF-4FA1-9D9C-3DE6616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7333297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F75294D7-FA24-4F5D-AC92-746FF94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530084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0F02B7-FBA9-46B7-8F38-68ADA27D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501509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1EE8654-A02B-4B3D-A7B5-76333A1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7530084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d5c97817f64dba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3035AE2-66EB-4F80-8636-9C1189A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7465791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 oportunidade está entre o caderno flexível e a plataforma complexa</a:t>
            </a:r>
          </a:p>
        </p:txBody>
      </p:sp>
    </p:spTree>
    <p:extLst>
      <p:ext uri="{BB962C8B-B14F-4D97-AF65-F5344CB8AC3E}">
        <p14:creationId xmlns:p14="http://schemas.microsoft.com/office/powerpoint/2010/main" val="4873925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3B0456D-3B39-44FB-AF90-BC9BB6A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5A4CFA0-E601-4AA3-9CB6-BE61FE9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25D480B-00B2-4FD3-9356-6B9BA247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B233BD5-B460-4392-AD2C-371AC9C0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04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6C98175-9881-447C-BB1D-DBBC3A0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1C72FD-1CD6-4354-925A-88906F7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SOLUÇÃO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B711F2D-2D3F-4178-9827-484210D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41"/>
              </a:lnSpc>
              <a:buNone/>
            </a:pPr>
            <a:r>
              <a:rPr sz="39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Uma rotina guiada para registrar o que aconteceu no campo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721B6C2-606A-4D72-9A42-D570797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4F1505-4C78-45F8-BF8D-91D43AF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901821E-B9CB-4893-9992-3082835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D64F10-D867-4589-B60C-035B4F5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04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DBE39FB-49F1-4CE1-B1AD-71F04D0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8760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5C1AF84-F471-4370-919F-41DD0A9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1617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FDE06EB-C098-4FA5-A15C-C99E8A7B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1508760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B991B1B-5C0C-42A3-90C8-1B2214C9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1437323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Pensado para agricultura familiar e pequenas propriedades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5A91D46-0E37-4056-AC22-FD41E287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01275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E3368A-77EC-4BE2-B420-36D0696B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64408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B427C9-C9D0-41C5-8DA0-5D847E8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7265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90C99C8-D444-4F48-8DC7-1C53A2C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3264408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A72C162-F0C2-4B2D-B807-D829A4B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3192971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Modo Simples recomendado desde o primeiro acesso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8E06AD9-15ED-47CB-9F9F-3B93A6F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7684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E27C590-6804-441C-9AA3-2A50C92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20056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A4B5531-AF83-452D-B6F7-DBA6A0C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12913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2B8BE7DE-F7A9-4352-BBF5-B143341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5020056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BFFA917-9C38-44E4-BC83-39F78671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948619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Perguntas curtas, botões amplos e linguagem direta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3F80AEE8-9049-4FEA-880F-A961458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652405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2567EF3-EE8F-4F53-ABAA-0E96F56A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75704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DEA5646-6C3F-4D3C-8D45-8CB391B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68561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23E929F-338E-4712-8292-E54771E5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6775704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db8332b5dd4d2f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4513F77-3BD1-4A1C-B147-161DD25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6704267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Registra offline e sincroniza quando houver conexão</a:t>
            </a:r>
          </a:p>
        </p:txBody>
      </p:sp>
    </p:spTree>
    <p:extLst>
      <p:ext uri="{BB962C8B-B14F-4D97-AF65-F5344CB8AC3E}">
        <p14:creationId xmlns:p14="http://schemas.microsoft.com/office/powerpoint/2010/main" val="950831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875FB-8228-41CE-98A8-8AF4389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BBAED58-CE44-46A8-A437-7B6EDF8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F5BF2D-12B1-4CF7-A0C2-7EFAFA1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BED77-72B9-4D2C-855C-674751FD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05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167D4B1-68BD-433E-8745-9FA8FB1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631CD6-8224-43E3-89CF-E6E6C21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PROPOSTA DE VALOR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90D2FB-51BA-4189-9288-1942C0E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32"/>
              </a:lnSpc>
              <a:buNone/>
            </a:pPr>
            <a:r>
              <a:rPr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Menos esforço para registrar. Mais clareza para decidir.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B9E5EB4-0C48-4F27-9E9B-CC23DD07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108365-43BA-4913-92D0-6AF5F85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7DD4276-49A6-4A02-BAD4-ECB2CE4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4448E6-39F0-4217-8459-D5EB87D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05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35014-D51D-4406-95BA-0005FC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72A1A0-F0DF-48AA-9D2F-C7F1273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0A9DB0-0F68-4395-847B-EA4730E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467211-9FC5-4C0B-AD75-19D8886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Um fluxo central para atualizar o dia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C26990C-CE3A-403C-8B63-CED0A7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BEFA07-2E04-4A8F-899D-0B5F0F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B587016-E3B7-435F-A6F3-E52516A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93DED6-619C-4246-97B4-0CA41A3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Terrenos, tarefas e dinheiro conectados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9B683E-2ABD-4DE3-86D6-592048F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5442223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CB1BDDD-16C1-49AB-B9BA-B317345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28A14A-196C-4896-8C52-623B3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D814F9-72EA-4F0B-80D0-922E6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8BF2B-C8C2-4A5C-B586-9E5BD2C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Operação offline-first com nuvem opcional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21CB594-9637-4C1D-A00A-DAAB545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824817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E9B55B0-0961-4A85-B5E4-14FC916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A318B2C-0DB1-467E-AB82-E643862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B14957-2B3A-43D3-9696-59E30ED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4d4a2f5cd421c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AC194FA-C34C-416E-8DD1-78F64D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Resumos, relatórios e backup protegidos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3B0662DC-D7A9-41A1-99DD-0AC51C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1105412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0203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B158858-9774-4BCE-A1D0-7566FE7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6ECBA68-696B-4B6A-94C2-D1EC588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423D332-0D30-4C79-8BC7-D478241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691C95F-E3AA-4EEC-AD87-CB94591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06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A5B66C4-A559-4033-831E-9F108B7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7FB0C2-06EA-4C96-AB4E-B602D7B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FUNCIONALIDADE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9EFBD2-50EA-435F-A558-4A5C626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846"/>
              </a:lnSpc>
              <a:buNone/>
            </a:pPr>
            <a:r>
              <a:rPr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Do acontecimento ao histórico em cinco passos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70BC98F-AF75-498E-91E9-E8184A5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EBEA80-1C26-40ED-B220-E182159C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148363C-C28E-418D-8806-4A42FF2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9B6085-8FD8-4CB4-BCE2-330C04A3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06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B60CBC8-68AD-44D0-8A08-C3D6A24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03020"/>
            <a:ext cx="11223802" cy="548640"/>
          </a:xfrm>
          <a:custGeom xmlns:a="http://schemas.openxmlformats.org/drawingml/2006/main">
            <a:rect l="l" t="t" r="r" b="b"/>
            <a:pathLst>
              <a:path w="14965069" h="731520">
                <a:moveTo>
                  <a:pt x="0" y="0"/>
                </a:moveTo>
                <a:lnTo>
                  <a:pt x="14965069" y="0"/>
                </a:lnTo>
                <a:lnTo>
                  <a:pt x="14965069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0" t="-348615" r="0" b="-348615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EAA78F5-9E78-4E3F-878B-792ABF81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288733"/>
            <a:ext cx="11223803" cy="5629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 i="1">
                <a:solidFill>
                  <a:srgbClr val="6B7268"/>
                </a:solidFill>
                <a:latin typeface="Cambria Italics"/>
                <a:ea typeface="Cambria Italics"/>
                <a:cs typeface="Cambria Italics"/>
              </a:rPr>
              <a:t>Uma rotina guiada reduz o esforço de manter os dados em dia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BE1B7B0-FE3A-4EA2-A28F-B788E1DC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60">
            <a:off x="7422204" y="3657410"/>
            <a:ext cx="899811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A6EE423-5CC7-4A53-B84E-6A1B0B8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938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6E5C44-B793-44E5-98AD-71623F9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938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4476BF-2D0C-479D-B191-7372F3C6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520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9F74ED-F546-42EB-9C07-C17B4ED3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520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Abre 'Atualizar meu dia'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90E7AFD-5958-42CA-990B-5CCE08D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0705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359054B-D5A8-4AE4-B05C-5BA2EF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0705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8B3DE92-E1A4-4348-8C83-DD90FD0F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277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78026B4-4688-462F-A2A8-4700BD0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277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Escolhe o que aconteceu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46956E9-C8AF-45FF-A95D-0A1B06D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5461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BCD6E99-F452-46F0-A0AF-459A23C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5461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4CF250B3-34D2-48B7-B7C4-B83C4D1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6043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BF416E-A718-4A84-9870-3BFC913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6043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Responde perguntas curtas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EEC8833-99F1-4954-9C70-1995AFA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218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CDF4E24-7C9A-4B4B-AAEF-3A5C64E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218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9A6C51C-D083-4427-9D6D-1F9E575A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0800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E9A1B1-B28E-41F2-A446-791ED24A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0800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Confere o resumo antes de salvar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8B2EA2D-E338-4870-AFEF-9E7EAA26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24984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7C7B865-08DC-4759-894A-C1F2E6B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24984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EBCC9A9-4AE8-46C8-9AA4-2B2769E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25566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59B1808D-81D0-43E4-A1FF-EBE7D210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25566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 app atualiza histórico, terreno e caixa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21C6DE0F-3A53-47E8-ACAE-CE85D8F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705897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AF25063-A60E-4F4C-99D8-263CF65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406640"/>
            <a:ext cx="11223802" cy="754380"/>
          </a:xfrm>
          <a:custGeom xmlns:a="http://schemas.openxmlformats.org/drawingml/2006/main">
            <a:rect l="l" t="t" r="r" b="b"/>
            <a:pathLst>
              <a:path w="14965069" h="1005840">
                <a:moveTo>
                  <a:pt x="0" y="0"/>
                </a:moveTo>
                <a:lnTo>
                  <a:pt x="14965069" y="0"/>
                </a:lnTo>
                <a:lnTo>
                  <a:pt x="14965069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501159533b4e6c">
              <a:alphaModFix amt="0"/>
            </a:blip>
            <a:stretch>
              <a:fillRect l="0" t="-239901" r="0" b="-239901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4651713-6BAD-45BF-9A5B-7CCF01D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92353"/>
            <a:ext cx="11223803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610"/>
              </a:lnSpc>
              <a:buNone/>
            </a:pPr>
            <a:r>
              <a:rPr sz="2175" i="1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O produtor registra uma vez e reencontra a informação no lugar certo.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173FCB44-85DA-4FEF-9B70-269C869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822483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92504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B3653B9-7282-4C9C-B4DA-4119619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47DC3B1-2056-41C1-AE8C-7175FEB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558CCFE-CB97-46EB-B23F-40113E1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3CF5AD1-C866-4734-9CCC-DEDB6A7F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07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7922C9F-DA0C-49A1-8C0B-A9A7116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4B1FB8-A0A3-4816-B103-A8F1255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COMPARATIVO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8D1377-D832-46C4-BF36-0EDAD5B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Uma ponte entre o caderno e as plataformas robustas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45890A5-FBFA-45AB-AA78-98620F9E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FCAF7A7-28F7-48E0-B5C2-E6ED7A35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380A2A7-8FD5-4D9B-AB04-E0DD5D22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910123-5552-42D8-B364-25A7367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07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0B7C882-B834-4F47-AB2C-2036AAD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71600"/>
            <a:ext cx="3367141" cy="548640"/>
          </a:xfrm>
          <a:custGeom xmlns:a="http://schemas.openxmlformats.org/drawingml/2006/main">
            <a:rect l="l" t="t" r="r" b="b"/>
            <a:pathLst>
              <a:path w="4489522" h="731520">
                <a:moveTo>
                  <a:pt x="0" y="0"/>
                </a:moveTo>
                <a:lnTo>
                  <a:pt x="4489522" y="0"/>
                </a:lnTo>
                <a:lnTo>
                  <a:pt x="44895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69584" r="0" b="-69584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66B6C0-4A1D-4CE3-B2BD-14A66F3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43025"/>
            <a:ext cx="3367145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Solução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3880828-924B-43C7-A465-49E05C5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1371600"/>
            <a:ext cx="3591616" cy="548640"/>
          </a:xfrm>
          <a:custGeom xmlns:a="http://schemas.openxmlformats.org/drawingml/2006/main">
            <a:rect l="l" t="t" r="r" b="b"/>
            <a:pathLst>
              <a:path w="4788822" h="731520">
                <a:moveTo>
                  <a:pt x="0" y="0"/>
                </a:moveTo>
                <a:lnTo>
                  <a:pt x="4788822" y="0"/>
                </a:lnTo>
                <a:lnTo>
                  <a:pt x="47888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77556" r="0" b="-77556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AB22B6-025D-440F-BA0C-2C898F5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1343025"/>
            <a:ext cx="35916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Público-alvo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30A898D-BDE4-4C5D-9F7F-0EDF411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1371600"/>
            <a:ext cx="2020284" cy="548640"/>
          </a:xfrm>
          <a:custGeom xmlns:a="http://schemas.openxmlformats.org/drawingml/2006/main">
            <a:rect l="l" t="t" r="r" b="b"/>
            <a:pathLst>
              <a:path w="2693712" h="731520">
                <a:moveTo>
                  <a:pt x="0" y="0"/>
                </a:moveTo>
                <a:lnTo>
                  <a:pt x="2693712" y="0"/>
                </a:lnTo>
                <a:lnTo>
                  <a:pt x="26937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21750" r="0" b="-2175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2B7BC15-3113-41A6-98E5-B576823E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1343025"/>
            <a:ext cx="2020281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Adequação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F778D79-C90C-425D-9D04-DF49DDD0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1371600"/>
            <a:ext cx="2244760" cy="548640"/>
          </a:xfrm>
          <a:custGeom xmlns:a="http://schemas.openxmlformats.org/drawingml/2006/main">
            <a:rect l="l" t="t" r="r" b="b"/>
            <a:pathLst>
              <a:path w="2993014" h="731520">
                <a:moveTo>
                  <a:pt x="0" y="0"/>
                </a:moveTo>
                <a:lnTo>
                  <a:pt x="2993014" y="0"/>
                </a:lnTo>
                <a:lnTo>
                  <a:pt x="2993014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29722" r="0" b="-2972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1F157B3-23AD-4428-8424-EDF9A87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1343025"/>
            <a:ext cx="2244757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Foco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E4ECD19E-1A70-45CE-AF02-DA103A4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60">
            <a:off x="6295053" y="1979295"/>
            <a:ext cx="1125241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302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2EE56FA-A43C-487D-85F7-B3A9259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6248" y="2263140"/>
            <a:ext cx="3120253" cy="822960"/>
          </a:xfrm>
          <a:custGeom xmlns:a="http://schemas.openxmlformats.org/drawingml/2006/main">
            <a:rect l="l" t="t" r="r" b="b"/>
            <a:pathLst>
              <a:path w="4160338" h="1097280">
                <a:moveTo>
                  <a:pt x="0" y="0"/>
                </a:moveTo>
                <a:lnTo>
                  <a:pt x="4160338" y="0"/>
                </a:lnTo>
                <a:lnTo>
                  <a:pt x="4160338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23877" r="0" b="-23877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9CF6BBA-0B28-47E9-98AF-65037FB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6248" y="2248853"/>
            <a:ext cx="3120257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AgroGestão Pro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8CF781D-F4C7-44B9-B984-35102C5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2263140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C6C9CB9-BD16-4166-8B5E-F70F681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2227422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Produtor familiar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1D0DA0E7-28CE-49B2-ACCE-4C3A9C9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2263140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81D198E-D4C2-4991-A20A-9BE4B59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2227422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Baixa curva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D577C65-8CE0-4116-BEC3-E78D77A6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2263140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9F57FEA-9E6F-49B0-B281-25EB201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2227422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Rotina essencial + offline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D4F92DB3-83E5-40DE-9474-C82B5C6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1928" y="2688336"/>
            <a:ext cx="137160" cy="137160"/>
          </a:xfrm>
          <a:custGeom xmlns:a="http://schemas.openxmlformats.org/drawingml/2006/main">
            <a:rect l="l" t="t" r="r" b="b"/>
            <a:pathLst>
              <a:path w="182880" h="182880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cubicBezTo>
                  <a:pt x="141986" y="0"/>
                  <a:pt x="182880" y="40894"/>
                  <a:pt x="182880" y="91440"/>
                </a:cubicBezTo>
                <a:cubicBezTo>
                  <a:pt x="182880" y="141986"/>
                  <a:pt x="141986" y="182880"/>
                  <a:pt x="91440" y="182880"/>
                </a:cubicBezTo>
                <a:cubicBezTo>
                  <a:pt x="40894" y="182880"/>
                  <a:pt x="0" y="141986"/>
                  <a:pt x="0" y="91440"/>
                </a:cubicBezTo>
                <a:close/>
              </a:path>
            </a:pathLst>
          </a:custGeom>
          <a:solidFill xmlns:a="http://schemas.openxmlformats.org/drawingml/2006/main">
            <a:srgbClr val="A8532E"/>
          </a:solidFill>
        </p:spPr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672D94B0-2E9D-4BDA-AA91-00721897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108770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94DDB1C-9866-4949-88AA-3B51CBA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0692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8945A1E-6D3B-4A41-83BA-F6DAE8C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36405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Caderno / WhatsApp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3B61A80-3009-4333-9435-7C3A9A4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3250692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76512E0A-E135-4335-A6AA-82236366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3214974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Uso informal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92C6BFF-0F6E-43FA-AF88-F4B3FE6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3250692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8969924D-1DBD-496E-BDFD-2B6E1EE8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3214974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Imediata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708FDE4-D172-4E7A-B228-7B7AB1A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3250692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31239BD-7250-411B-8B77-AA864D7B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3214974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Dados dispersos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24487FBC-D648-4A36-8DC9-AA060590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096322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4E93EB4-D537-4FEA-AE7F-AC129671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238244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3609F5D7-14E7-4B7F-A58D-3E5A1CB9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223957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Planilhas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9BC44AE-27CC-4493-A168-1CBFFA8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4238244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A8ABC611-7BB5-4EB1-8616-7FA5B9F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4202526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Usuário intermediário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7AECF74F-A5F5-4FAB-AAAA-79AB032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4238244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82F19A93-B95D-4674-9927-A2431D6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4202526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9CE44FC4-4A22-4E46-A33A-45E0D75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4238244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600E89F-55F1-4E3E-9224-9772523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4202526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Controle manual</a:t>
            </a:r>
          </a:p>
        </p:txBody>
      </p:sp>
      <p:sp>
        <p:nvSpPr>
          <p:cNvPr id="7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1C427CE7-A226-4D51-8F75-50024E7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508387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EEE0F064-4C1A-4B07-B0C7-AB6BEA5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225796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C46D1F88-1A3E-447E-BF0E-B402FD6B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211509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Plataformas robustas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4BD892B-4EEF-4667-BBEC-1FD1FAE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5225796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7ABC1271-919D-42E9-94EA-56CC84B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5190078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Operações maiores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9968B8D7-EFB9-4940-8ED0-C620D37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5225796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393D2746-A1D4-41F3-A070-CECC17FB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5190078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Alta curva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F2A9F7BD-ECB3-4C45-918B-E7DF919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5225796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1B6406E-2627-48C7-9B79-D5001A6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5190078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Gestão ampla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F87BB32F-85B2-4D68-AB92-0EF2774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240780"/>
            <a:ext cx="1371600" cy="1234440"/>
          </a:xfrm>
          <a:custGeom xmlns:a="http://schemas.openxmlformats.org/drawingml/2006/main">
            <a:rect l="l" t="t" r="r" b="b"/>
            <a:pathLst>
              <a:path w="1828800" h="1645920">
                <a:moveTo>
                  <a:pt x="0" y="0"/>
                </a:moveTo>
                <a:lnTo>
                  <a:pt x="1828800" y="0"/>
                </a:lnTo>
                <a:lnTo>
                  <a:pt x="1828800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-65473" t="0" r="-65473" b="0"/>
            </a:stretch>
          </a:blipFill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4DC5F51D-16FF-4417-B4C6-013C124F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226493"/>
            <a:ext cx="1371600" cy="12487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0800"/>
              </a:lnSpc>
              <a:buNone/>
            </a:pPr>
            <a:r>
              <a:rPr sz="9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“</a:t>
            </a:r>
          </a:p>
        </p:txBody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2059FBE8-C043-47D3-A763-997FB90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6652260"/>
            <a:ext cx="10400843" cy="1508760"/>
          </a:xfrm>
          <a:custGeom xmlns:a="http://schemas.openxmlformats.org/drawingml/2006/main">
            <a:rect l="l" t="t" r="r" b="b"/>
            <a:pathLst>
              <a:path w="13867791" h="2011680">
                <a:moveTo>
                  <a:pt x="0" y="0"/>
                </a:moveTo>
                <a:lnTo>
                  <a:pt x="13867791" y="0"/>
                </a:lnTo>
                <a:lnTo>
                  <a:pt x="13867791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7cacc65be4754">
              <a:alphaModFix amt="0"/>
            </a:blip>
            <a:stretch>
              <a:fillRect l="0" t="-84322" r="0" b="-84322"/>
            </a:stretch>
          </a:blipFill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181EB4F8-257E-42C7-A10E-5E8CFC0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6587967"/>
            <a:ext cx="10400843" cy="1573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400" i="1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O AgroGestão Pro não tenta substituir todos os sistemas. Ele resolve primeiro a rotina que precisa acontecer todos os dias.</a:t>
            </a:r>
          </a:p>
        </p:txBody>
      </p:sp>
    </p:spTree>
    <p:extLst>
      <p:ext uri="{BB962C8B-B14F-4D97-AF65-F5344CB8AC3E}">
        <p14:creationId xmlns:p14="http://schemas.microsoft.com/office/powerpoint/2010/main" val="3954221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875FB-8228-41CE-98A8-8AF4389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BBAED58-CE44-46A8-A437-7B6EDF8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F5BF2D-12B1-4CF7-A0C2-7EFAFA1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BED77-72B9-4D2C-855C-674751FD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08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167D4B1-68BD-433E-8745-9FA8FB1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631CD6-8224-43E3-89CF-E6E6C21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MERCADO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90D2FB-51BA-4189-9288-1942C0E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32"/>
              </a:lnSpc>
              <a:buNone/>
            </a:pPr>
            <a:r>
              <a:rPr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público amplo e uma lacuna clara de digitalização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B9E5EB4-0C48-4F27-9E9B-CC23DD07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108365-43BA-4913-92D0-6AF5F85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7DD4276-49A6-4A02-BAD4-ECB2CE4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4448E6-39F0-4217-8459-D5EB87D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08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35014-D51D-4406-95BA-0005FC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72A1A0-F0DF-48AA-9D2F-C7F1273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3,9 mi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0A9DB0-0F68-4395-847B-EA4730E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467211-9FC5-4C0B-AD75-19D8886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estabelecimentos de agricultura familiar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C26990C-CE3A-403C-8B63-CED0A7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BEFA07-2E04-4A8F-899D-0B5F0F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77%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B587016-E3B7-435F-A6F3-E52516A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93DED6-619C-4246-97B4-0CA41A3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dos estabelecimentos agropecuários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9B683E-2ABD-4DE3-86D6-592048F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5442223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CB1BDDD-16C1-49AB-B9BA-B317345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28A14A-196C-4896-8C52-623B3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1.972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D814F9-72EA-4F0B-80D0-922E6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8BF2B-C8C2-4A5C-B586-9E5BD2C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agtechs mapeadas no Brasil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21CB594-9637-4C1D-A00A-DAAB545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824817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E9B55B0-0961-4A85-B5E4-14FC916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A318B2C-0DB1-467E-AB82-E643862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59%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B14957-2B3A-43D3-9696-59E30ED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65dc2cd744b92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AC194FA-C34C-416E-8DD1-78F64D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ainda sem adoção no Nordeste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3B0662DC-D7A9-41A1-99DD-0AC51C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1105412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0203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2EE28A3-734F-4355-A0F6-BE4D6BFD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06BD55C-A665-4616-ABB2-DADDD1C8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E3E6D8C-0721-4F38-8368-523B41D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BF1AE7F-EB43-408E-8345-D5369F2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09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B01F235-4A16-4FD3-8AEC-E8F0B1A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38F4CFE-E1F1-4A93-9E0A-480C3C9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TRAÇÃO TÉCNICA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7B1D251-73D4-4B58-AEE6-42B7ABE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Beta funcional pronta para aprender com o uso real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A1463A-57F8-4D6C-B80B-8ADA0BA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DA51CF-3613-4D81-A03E-B7E2302C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91EB776-174C-484A-99D4-5CA032E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F64D22-BB2E-466B-A189-FE8D759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09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9A42A32-9D47-4652-A21C-FE69F61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2681" y="1165860"/>
            <a:ext cx="5954839" cy="8435340"/>
          </a:xfrm>
          <a:custGeom xmlns:a="http://schemas.openxmlformats.org/drawingml/2006/main">
            <a:rect l="l" t="t" r="r" b="b"/>
            <a:pathLst>
              <a:path w="7939786" h="11247120">
                <a:moveTo>
                  <a:pt x="0" y="0"/>
                </a:moveTo>
                <a:lnTo>
                  <a:pt x="7939786" y="0"/>
                </a:lnTo>
                <a:lnTo>
                  <a:pt x="7939786" y="11247120"/>
                </a:lnTo>
                <a:lnTo>
                  <a:pt x="0" y="11247120"/>
                </a:lnTo>
                <a:close/>
              </a:path>
            </a:pathLst>
          </a:custGeom>
          <a:solidFill xmlns:a="http://schemas.openxmlformats.org/drawingml/2006/main">
            <a:srgbClr val="F4E6DA"/>
          </a:solidFill>
        </p:spPr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EBC46A2-46B6-4009-983F-0A458AF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3880">
            <a:off x="7696438" y="5378768"/>
            <a:ext cx="80381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896186E-8CA5-4266-A53C-CD28C5A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71600"/>
            <a:ext cx="4857521" cy="754380"/>
          </a:xfrm>
          <a:custGeom xmlns:a="http://schemas.openxmlformats.org/drawingml/2006/main">
            <a:rect l="l" t="t" r="r" b="b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75465" r="0" b="-75465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F6AB5D-66F7-4580-8CE3-F406DA1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57313"/>
            <a:ext cx="4857521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Beta funcional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6C1DCA2-0E7D-442D-83C7-ED5F1E2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400300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734D136-DAA5-4544-9104-1C75BD5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371725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5C7AF0E-AB99-4C44-9C30-129D8F8A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2400300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4DB361CC-9442-4600-A395-6B8F5870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2364582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Rotina diária guiada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A42480C9-A72D-458B-A760-3B11FD7E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3312547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BED4AB9-6A77-42F1-9405-C912EBE1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399606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4CE1F27-3AC3-4849-ABD8-34F7BDC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371031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2E52581-7079-4E8D-9996-D459507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3399606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1ED9776-214F-481C-B324-E93E23E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3363888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Terrenos, tarefas e dinheiro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56F72A93-82C9-435C-92C1-E236E47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4311863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044BF9C-A66C-4792-B088-B8ED19A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398921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CEF082A-EDB3-4992-9F51-B139CD9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370346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182D203-F083-49AE-AA24-AA1B80C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4398921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3F768A4F-04E1-4DE5-8CAF-E30E97E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4363203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Uso offline + sincronização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069F3CA1-E183-4ADE-BB50-B2288BD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5311169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9439928-6653-4F83-94A5-CF017FB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398227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54FD2705-0312-4D34-AF0F-C0B0375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369652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878CF54-B789-439F-867B-B59C042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5398227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47F553EA-4A3E-4D21-BB6D-FF570FCB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5362509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Relatórios, CSV e backup</a:t>
            </a: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0938F0A6-DA90-454D-BC28-360885C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6310474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E5DBE55-7C16-4C76-983F-98E1A70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397533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7774F2B-FC78-4CDC-B3EB-64AEA08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368958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8237DCB-0850-46D9-BB9C-E245EA9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6397533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4F4675E8-C997-4E01-ADFF-A19CDCB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6361815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95 testes automatizados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F03DD0F4-CF58-48F7-995C-B7B5B3C9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7309780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3EEE570-B064-48F8-A02F-990EA7A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96839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DCBD4ED8-6424-4B22-AC37-D2A6FDD4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68264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78808F1-8771-4A7E-81A7-5638D6D0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7396839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8BEE393E-2A84-4EB2-ABF2-122D4AC1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7361121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APK e AAB gerados</a:t>
            </a:r>
          </a:p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A0041717-E5F4-402C-ACFE-CD102CCA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8309096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DC6D59F9-8123-4A3B-BB81-C20DA178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8396154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117D5220-643E-41CB-ADD8-7D11857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8367579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3D18D2F-FD45-4B7A-A4D3-6B9E069A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8396154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CAD4B500-BDDE-427D-9FFC-0A1EB42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8360436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Pronta para piloto controlado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13DF3EC4-0BDC-476C-82D3-08F277A3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1371600"/>
            <a:ext cx="4857521" cy="754380"/>
          </a:xfrm>
          <a:custGeom xmlns:a="http://schemas.openxmlformats.org/drawingml/2006/main">
            <a:rect l="l" t="t" r="r" b="b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75465" r="0" b="-75465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8C7FEE0E-D1B0-4400-8B04-69A0B0E4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1357313"/>
            <a:ext cx="4857521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Próxima etapa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F9A8298-AA55-4436-9261-C96B02C4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125980"/>
            <a:ext cx="4857521" cy="411480"/>
          </a:xfrm>
          <a:custGeom xmlns:a="http://schemas.openxmlformats.org/drawingml/2006/main">
            <a:rect l="l" t="t" r="r" b="b"/>
            <a:pathLst>
              <a:path w="6476696" h="548640">
                <a:moveTo>
                  <a:pt x="0" y="0"/>
                </a:moveTo>
                <a:lnTo>
                  <a:pt x="6476696" y="0"/>
                </a:lnTo>
                <a:lnTo>
                  <a:pt x="6476696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180020" r="0" b="-18002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396078F-2063-45A4-9F4D-B061215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111693"/>
            <a:ext cx="4857521" cy="425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VALIDAÇÃO EM CAMPO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82246993-1272-400A-B823-027C991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811780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79874B78-42BD-4B8B-9C61-89C5E04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783205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4D03CC70-7467-4ACA-8A22-2500297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2811780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F136B800-AEBF-47AC-998B-5A0D7CC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2776062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Selecionar produtores parceiros</a:t>
            </a:r>
          </a:p>
        </p:txBody>
      </p:sp>
      <p:sp>
        <p:nvSpPr>
          <p:cNvPr id="85" name="AutoShape 85">
            <a:extLst xmlns:a="http://schemas.openxmlformats.org/drawingml/2006/main">
              <a:ext uri="{FF2B5EF4-FFF2-40B4-BE49-F238E27FC236}">
                <a16:creationId xmlns:a16="http://schemas.microsoft.com/office/drawing/2014/main" id="{389155F9-A0B0-48B3-962A-7AF75D6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3665249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952CE14C-62C7-4398-9567-58DCB45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3752307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7CE951A7-D627-453E-998A-79324AF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3723732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1667F2EF-C0FF-4BA5-ADFA-08E6290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3752307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528730D4-3476-45F8-8326-4C1C20F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3716589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Acompanhar uso em aparelhos reais</a:t>
            </a:r>
          </a:p>
        </p:txBody>
      </p:sp>
      <p:sp>
        <p:nvSpPr>
          <p:cNvPr id="92" name="AutoShape 92">
            <a:extLst xmlns:a="http://schemas.openxmlformats.org/drawingml/2006/main">
              <a:ext uri="{FF2B5EF4-FFF2-40B4-BE49-F238E27FC236}">
                <a16:creationId xmlns:a16="http://schemas.microsoft.com/office/drawing/2014/main" id="{0B1E14AE-BA0B-4BD6-AE9C-E7D799D2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4605776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CF1FA5A-F6A8-4C66-97C3-9F278B0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4692834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1221C06C-A074-4BF8-A6C7-3A2C23C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4664259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BA901D7F-C31C-44E9-9804-8933D4A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4692834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52EF519-7537-4BB6-9972-298E135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4657116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Medir ativação e recorrência</a:t>
            </a:r>
          </a:p>
        </p:txBody>
      </p:sp>
      <p:sp>
        <p:nvSpPr>
          <p:cNvPr id="99" name="AutoShape 99">
            <a:extLst xmlns:a="http://schemas.openxmlformats.org/drawingml/2006/main">
              <a:ext uri="{FF2B5EF4-FFF2-40B4-BE49-F238E27FC236}">
                <a16:creationId xmlns:a16="http://schemas.microsoft.com/office/drawing/2014/main" id="{E4BE2F5A-65BA-4171-A355-B50922C0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5546303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C7566D22-BBDA-4A81-B7D8-DBE9C1A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5633361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C7A16830-7CEB-4D2D-852F-F79F4F9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5604786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04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B5284C4C-1BCD-43B2-ADBE-D206086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5633361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79DBCA30-CFF0-431D-89BA-19761C7B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5597643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Refinar linguagem e fluxo</a:t>
            </a:r>
          </a:p>
        </p:txBody>
      </p:sp>
      <p:sp>
        <p:nvSpPr>
          <p:cNvPr id="106" name="AutoShape 106">
            <a:extLst xmlns:a="http://schemas.openxmlformats.org/drawingml/2006/main">
              <a:ext uri="{FF2B5EF4-FFF2-40B4-BE49-F238E27FC236}">
                <a16:creationId xmlns:a16="http://schemas.microsoft.com/office/drawing/2014/main" id="{09B51124-C82E-43A5-9A29-603A571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6486820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DF618674-E754-4381-8C4C-4840A4C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6573879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280A2428-0965-42C8-BDF1-9D925C0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6545304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11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75E73101-909E-41F3-BE7A-5826BE0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6573879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024DF028-EC3E-4607-8680-41C7699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6538161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Validar valor e disposição a pagar</a:t>
            </a:r>
          </a:p>
        </p:txBody>
      </p:sp>
      <p:sp>
        <p:nvSpPr>
          <p:cNvPr id="113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7402F31D-CDD5-4088-9180-6F9E9107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7427347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5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FF1EFD05-C783-42CC-808D-582DD04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7514406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5F0A39DF-F477-4577-8A9C-585422F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7485831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18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0070366E-9BD2-45E8-A6D1-FF00B58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7514406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27FC93A1-DF9B-4E45-9907-DE5EC55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7478688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Revisão jurídica e agronômica</a:t>
            </a:r>
          </a:p>
        </p:txBody>
      </p:sp>
      <p:sp>
        <p:nvSpPr>
          <p:cNvPr id="120" name="AutoShape 120">
            <a:extLst xmlns:a="http://schemas.openxmlformats.org/drawingml/2006/main">
              <a:ext uri="{FF2B5EF4-FFF2-40B4-BE49-F238E27FC236}">
                <a16:creationId xmlns:a16="http://schemas.microsoft.com/office/drawing/2014/main" id="{CE2B8F81-7D96-4B31-B868-90C893D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8367874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521B7804-885D-492F-B948-DD95AC7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8454933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BA9FBBB4-E27D-46CF-A124-5FAAC51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8426358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25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E3084248-6DA2-4FF3-BEA5-472A38D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8454933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a939cd938c45f3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0A91EA80-F432-4BFE-9ED1-168B3E4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8419215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Preparar lançamento regional</a:t>
            </a:r>
          </a:p>
        </p:txBody>
      </p:sp>
    </p:spTree>
    <p:extLst>
      <p:ext uri="{BB962C8B-B14F-4D97-AF65-F5344CB8AC3E}">
        <p14:creationId xmlns:p14="http://schemas.microsoft.com/office/powerpoint/2010/main" val="14458801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ABC260-99DA-44D6-B505-CC87F1E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7523" cy="10287000"/>
          </a:xfrm>
          <a:custGeom xmlns:a="http://schemas.openxmlformats.org/drawingml/2006/main">
            <a:rect l="l" t="t" r="r" b="b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6FE5AC-7E09-48BC-93B2-169D3A1F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194560" y="2743200"/>
            <a:ext cx="8503920" cy="7818120"/>
          </a:xfrm>
          <a:custGeom xmlns:a="http://schemas.openxmlformats.org/drawingml/2006/main">
            <a:rect l="l" t="t" r="r" b="b"/>
            <a:pathLst>
              <a:path w="11338560" h="10424160">
                <a:moveTo>
                  <a:pt x="0" y="0"/>
                </a:moveTo>
                <a:lnTo>
                  <a:pt x="11338560" y="0"/>
                </a:lnTo>
                <a:lnTo>
                  <a:pt x="11338560" y="10424160"/>
                </a:lnTo>
                <a:lnTo>
                  <a:pt x="0" y="104241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4fd09206714325">
              <a:alphaModFix amt="0"/>
            </a:blip>
            <a:stretch>
              <a:fillRect l="-67956" t="0" r="-67956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B3A1B0A-19D2-4BFC-83BD-A09E55B7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194560" y="2728913"/>
            <a:ext cx="8503920" cy="7832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54000"/>
              </a:lnSpc>
              <a:buNone/>
            </a:pPr>
            <a:r>
              <a:rPr sz="450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10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3E80B50-2235-47AB-BB22-BDB02D1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703320"/>
            <a:ext cx="12344400" cy="2606040"/>
          </a:xfrm>
          <a:custGeom xmlns:a="http://schemas.openxmlformats.org/drawingml/2006/main">
            <a:rect l="l" t="t" r="r" b="b"/>
            <a:pathLst>
              <a:path w="16459200" h="3474720">
                <a:moveTo>
                  <a:pt x="0" y="0"/>
                </a:moveTo>
                <a:lnTo>
                  <a:pt x="16459200" y="0"/>
                </a:lnTo>
                <a:lnTo>
                  <a:pt x="16459200" y="3474720"/>
                </a:lnTo>
                <a:lnTo>
                  <a:pt x="0" y="3474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4fd09206714325">
              <a:alphaModFix amt="0"/>
            </a:blip>
            <a:stretch>
              <a:fillRect l="0" t="-42297" r="0" b="-42297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70598EA-7DEC-4A33-939A-CE45617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646170"/>
            <a:ext cx="12344400" cy="2663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524"/>
              </a:lnSpc>
              <a:buNone/>
            </a:pPr>
            <a:r>
              <a:rPr sz="57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Vamos validar no campo.</a:t>
            </a:r>
          </a:p>
          <a:p xmlns:a="http://schemas.openxmlformats.org/drawingml/2006/main">
            <a:pPr algn="l">
              <a:lnSpc>
                <a:spcPts val="7524"/>
              </a:lnSpc>
              <a:buNone/>
            </a:pPr>
            <a:r>
              <a:rPr sz="57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 produtores, não suposições.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3C5BC96-572B-4379-A475-098C894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6340" y="6240780"/>
            <a:ext cx="11384279" cy="822960"/>
          </a:xfrm>
          <a:custGeom xmlns:a="http://schemas.openxmlformats.org/drawingml/2006/main">
            <a:rect l="l" t="t" r="r" b="b"/>
            <a:pathLst>
              <a:path w="15179039" h="1097280">
                <a:moveTo>
                  <a:pt x="0" y="0"/>
                </a:moveTo>
                <a:lnTo>
                  <a:pt x="15179039" y="0"/>
                </a:lnTo>
                <a:lnTo>
                  <a:pt x="15179039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4fd09206714325">
              <a:alphaModFix amt="0"/>
            </a:blip>
            <a:stretch>
              <a:fillRect l="0" t="-219543" r="0" b="-219543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7C6991-BB6E-42AC-8F1B-EAB000B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6340" y="6205062"/>
            <a:ext cx="1138428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buNone/>
            </a:pPr>
            <a:r>
              <a:rPr sz="2325">
                <a:solidFill>
                  <a:srgbClr val="C9D6CB"/>
                </a:solidFill>
                <a:latin typeface="Calibri (MS)"/>
                <a:ea typeface="Calibri (MS)"/>
                <a:cs typeface="Calibri (MS)"/>
              </a:rPr>
              <a:t>Buscamos produtores e parceiros para um piloto acompanhado do AgroGestão Pro.</a:t>
            </a:r>
          </a:p>
        </p:txBody>
      </p:sp>
    </p:spTree>
    <p:extLst>
      <p:ext uri="{BB962C8B-B14F-4D97-AF65-F5344CB8AC3E}">
        <p14:creationId xmlns:p14="http://schemas.microsoft.com/office/powerpoint/2010/main" val="15199784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2026-08-10T21:06:03.2390000Z</dcterms:created>
  <dcterms:modified xsi:type="dcterms:W3CDTF">2026-08-10T21:06:03.2390000Z</dcterms:modified>
</coreProperties>
</file>