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c0acd3289a46c2" /><Relationship Type="http://schemas.openxmlformats.org/officeDocument/2006/relationships/extended-properties" Target="/docProps/app.xml" Id="Rd927be29f36a4ceb" /><Relationship Type="http://schemas.openxmlformats.org/officeDocument/2006/relationships/officeDocument" Target="/ppt/presentation.xml" Id="Rc011a79f1391433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eabab8034d34ee1"/>
  </p:sldMasterIdLst>
  <p:notesMasterIdLst>
    <p:notesMasterId xmlns:r="http://schemas.openxmlformats.org/officeDocument/2006/relationships" r:id="Red7e2fedf160448f"/>
  </p:notesMasterIdLst>
  <p:sldIdLst>
    <p:sldId xmlns:r="http://schemas.openxmlformats.org/officeDocument/2006/relationships" id="256" r:id="R0b438d28ca6d4f5a"/>
    <p:sldId xmlns:r="http://schemas.openxmlformats.org/officeDocument/2006/relationships" id="257" r:id="Rf8e48b37bad54167"/>
    <p:sldId xmlns:r="http://schemas.openxmlformats.org/officeDocument/2006/relationships" id="258" r:id="R0f5c4dc37109412b"/>
    <p:sldId xmlns:r="http://schemas.openxmlformats.org/officeDocument/2006/relationships" id="259" r:id="Rb4360b2d46dc4272"/>
    <p:sldId xmlns:r="http://schemas.openxmlformats.org/officeDocument/2006/relationships" id="260" r:id="Ra604ef377c364c38"/>
    <p:sldId xmlns:r="http://schemas.openxmlformats.org/officeDocument/2006/relationships" id="261" r:id="Rdab687ff03ab45a3"/>
    <p:sldId xmlns:r="http://schemas.openxmlformats.org/officeDocument/2006/relationships" id="262" r:id="R6b091420d34647df"/>
    <p:sldId xmlns:r="http://schemas.openxmlformats.org/officeDocument/2006/relationships" id="263" r:id="R85e8fc6faf344414"/>
    <p:sldId xmlns:r="http://schemas.openxmlformats.org/officeDocument/2006/relationships" id="264" r:id="R5a5e09f3fc994404"/>
    <p:sldId xmlns:r="http://schemas.openxmlformats.org/officeDocument/2006/relationships" id="265" r:id="R39cebfe6062c4df8"/>
  </p:sldIdLst>
  <p:sldSz cx="18288000" cy="10287000"/>
  <p:notesSz cx="6858000" cy="9144000"/>
  <p:embeddedFontLst>
    <p:embeddedFont>
      <p:font typeface="Cambria Bold"/>
      <p:regular xmlns:r="http://schemas.openxmlformats.org/officeDocument/2006/relationships" r:id="Rfc3265f09f344b22"/>
    </p:embeddedFont>
    <p:embeddedFont>
      <p:font typeface="Calibri (MS) Bold"/>
      <p:regular xmlns:r="http://schemas.openxmlformats.org/officeDocument/2006/relationships" r:id="R7b1f744280674153"/>
    </p:embeddedFont>
    <p:embeddedFont>
      <p:font typeface="Cambria Italics"/>
      <p:regular xmlns:r="http://schemas.openxmlformats.org/officeDocument/2006/relationships" r:id="Re266d9c4714f4eff"/>
    </p:embeddedFont>
    <p:embeddedFont>
      <p:font typeface="Calibri (MS)"/>
      <p:regular xmlns:r="http://schemas.openxmlformats.org/officeDocument/2006/relationships" r:id="R92346b5357664eb4"/>
    </p:embeddedFont>
    <p:embeddedFont>
      <p:font typeface="Cambria"/>
      <p:regular xmlns:r="http://schemas.openxmlformats.org/officeDocument/2006/relationships" r:id="Rfea2ff86ba4f4017"/>
    </p:embeddedFont>
    <p:embeddedFont>
      <p:font typeface="Cambria Bold Italics"/>
      <p:regular xmlns:r="http://schemas.openxmlformats.org/officeDocument/2006/relationships" r:id="R0fd5c4e729e7407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42d497bcc546ef" /><Relationship Type="http://schemas.openxmlformats.org/officeDocument/2006/relationships/slideMaster" Target="/ppt/slideMasters/slideMaster1.xml" Id="R7eabab8034d34ee1" /><Relationship Type="http://schemas.openxmlformats.org/officeDocument/2006/relationships/notesMaster" Target="/ppt/notesMasters/notesMaster1.xml" Id="Red7e2fedf160448f" /><Relationship Type="http://schemas.openxmlformats.org/officeDocument/2006/relationships/presProps" Target="/ppt/presProps.xml" Id="R665de65123774693" /><Relationship Type="http://schemas.openxmlformats.org/officeDocument/2006/relationships/viewProps" Target="/ppt/viewProps.xml" Id="R5c54d32fc1ab4bbf" /><Relationship Type="http://schemas.openxmlformats.org/officeDocument/2006/relationships/tableStyles" Target="/ppt/tableStyles.xml" Id="Rbef95633f0204d3b" /><Relationship Type="http://schemas.openxmlformats.org/officeDocument/2006/relationships/font" Target="/ppt/fonts/font.dat" Id="Rfc3265f09f344b22" /><Relationship Type="http://schemas.openxmlformats.org/officeDocument/2006/relationships/font" Target="/ppt/fonts/font2.dat" Id="R7b1f744280674153" /><Relationship Type="http://schemas.openxmlformats.org/officeDocument/2006/relationships/font" Target="/ppt/fonts/font3.dat" Id="Re266d9c4714f4eff" /><Relationship Type="http://schemas.openxmlformats.org/officeDocument/2006/relationships/font" Target="/ppt/fonts/font4.dat" Id="R92346b5357664eb4" /><Relationship Type="http://schemas.openxmlformats.org/officeDocument/2006/relationships/font" Target="/ppt/fonts/font5.dat" Id="Rfea2ff86ba4f4017" /><Relationship Type="http://schemas.openxmlformats.org/officeDocument/2006/relationships/font" Target="/ppt/fonts/font6.dat" Id="R0fd5c4e729e74072" /><Relationship Type="http://schemas.openxmlformats.org/officeDocument/2006/relationships/slide" Target="/ppt/slides/slide1.xml" Id="R0b438d28ca6d4f5a" /><Relationship Type="http://schemas.openxmlformats.org/officeDocument/2006/relationships/slide" Target="/ppt/slides/slide2.xml" Id="Rf8e48b37bad54167" /><Relationship Type="http://schemas.openxmlformats.org/officeDocument/2006/relationships/slide" Target="/ppt/slides/slide3.xml" Id="R0f5c4dc37109412b" /><Relationship Type="http://schemas.openxmlformats.org/officeDocument/2006/relationships/slide" Target="/ppt/slides/slide4.xml" Id="Rb4360b2d46dc4272" /><Relationship Type="http://schemas.openxmlformats.org/officeDocument/2006/relationships/slide" Target="/ppt/slides/slide5.xml" Id="Ra604ef377c364c38" /><Relationship Type="http://schemas.openxmlformats.org/officeDocument/2006/relationships/slide" Target="/ppt/slides/slide6.xml" Id="Rdab687ff03ab45a3" /><Relationship Type="http://schemas.openxmlformats.org/officeDocument/2006/relationships/slide" Target="/ppt/slides/slide7.xml" Id="R6b091420d34647df" /><Relationship Type="http://schemas.openxmlformats.org/officeDocument/2006/relationships/slide" Target="/ppt/slides/slide8.xml" Id="R85e8fc6faf344414" /><Relationship Type="http://schemas.openxmlformats.org/officeDocument/2006/relationships/slide" Target="/ppt/slides/slide9.xml" Id="R5a5e09f3fc994404" /><Relationship Type="http://schemas.openxmlformats.org/officeDocument/2006/relationships/slide" Target="/ppt/slides/slide10.xml" Id="R39cebfe6062c4d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aab95911fe46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0d26db948e40fe" /><Relationship Type="http://schemas.openxmlformats.org/officeDocument/2006/relationships/notesMaster" Target="/ppt/notesMasters/notesMaster1.xml" Id="Rbb0a996ba63848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d367fc1a024b6f" /><Relationship Type="http://schemas.openxmlformats.org/officeDocument/2006/relationships/notesMaster" Target="/ppt/notesMasters/notesMaster1.xml" Id="R5eda241eedef46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3ba5cbd102470f" /><Relationship Type="http://schemas.openxmlformats.org/officeDocument/2006/relationships/notesMaster" Target="/ppt/notesMasters/notesMaster1.xml" Id="Re87a38f4d05b41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e72924aca942ec" /><Relationship Type="http://schemas.openxmlformats.org/officeDocument/2006/relationships/notesMaster" Target="/ppt/notesMasters/notesMaster1.xml" Id="R5cf5744d568040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a738c968b04c79" /><Relationship Type="http://schemas.openxmlformats.org/officeDocument/2006/relationships/notesMaster" Target="/ppt/notesMasters/notesMaster1.xml" Id="Rf413b1b8501a47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ed8d4797b74322" /><Relationship Type="http://schemas.openxmlformats.org/officeDocument/2006/relationships/notesMaster" Target="/ppt/notesMasters/notesMaster1.xml" Id="R4d061740db2f4e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e52fc967a64492" /><Relationship Type="http://schemas.openxmlformats.org/officeDocument/2006/relationships/notesMaster" Target="/ppt/notesMasters/notesMaster1.xml" Id="Raa5a69b6750b48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fee8ddd3bc4bab" /><Relationship Type="http://schemas.openxmlformats.org/officeDocument/2006/relationships/notesMaster" Target="/ppt/notesMasters/notesMaster1.xml" Id="Rbf5268ba1ee54e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8f6b92d2154024" /><Relationship Type="http://schemas.openxmlformats.org/officeDocument/2006/relationships/notesMaster" Target="/ppt/notesMasters/notesMaster1.xml" Id="R9ae750f97cb348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41fe5c60a04246" /><Relationship Type="http://schemas.openxmlformats.org/officeDocument/2006/relationships/notesMaster" Target="/ppt/notesMasters/notesMaster1.xml" Id="Rd02fac6f76ba4d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https://www.infoteca.cnptia.embrapa.br/infoteca/handle/doc/1184214 (Radar Agtech Brasil 2024: 1.972 agtechs mapeadas)</a:t>
            </a:r>
          </a:p>
          <a:p xmlns:a="http://schemas.openxmlformats.org/drawingml/2006/main">
            <a:r>
              <a:t>- https://cdlcampina.org.br/2025/02/03/oportunidades-e-desafios-tecnologicos-no-agronegocio-em-2025/ (80% Centro-Oeste; 41% Nordeste)</a:t>
            </a:r>
          </a:p>
          <a:p xmlns:a="http://schemas.openxmlformats.org/drawingml/2006/main">
            <a:r>
              <a:t>- 59% é inferência aritmética: 100% - 41%.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f05e7f45349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61b7386e3547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72f1b7e5f04f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c32fd9c2f4d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939dae1c44e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27e8b77200454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4c4635ec94ba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8b51b455243d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97a8b642c410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6e31ec9cd344d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6f592876a49e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D3342-7866-4E70-A32D-BC4EE70B0A9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817D47B-BC74-40F3-81CA-224BCB2967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753729-ECF4-4FE5-A1EF-67005E035E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E55B20-4DE5-4CE6-B7E5-27D42D5D09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6D7B03-4D2D-47AC-B7E3-9F27D6D2BA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E05C5A-E052-4590-B974-715E06AEC7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FFF4DF-F842-45C1-AC2B-51FD4CFDD3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145912-E5C7-47AC-AAF6-6CFD772A3B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CCC1F0-AB13-49A2-8B8B-03F59AEC5B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A7A565-F9A7-4EC1-AE1A-47451C50CA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16E4EC-C1E9-4418-A2AA-BA91A9391E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F20A776-36E3-40CF-AF10-EC9D15323C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3B41BA-ECF1-443A-B623-C0CD5EA461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07D9E2-321D-41D3-8800-9D42518A79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F46D4A-365C-4428-B32C-A28FE07EB8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CAA967-B66A-49ED-9453-ADF8584C66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1593C1-44BB-47D0-BF25-11551A2805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B16BBFF-2AD1-4236-B146-114473973C8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27BF411-CECF-42E4-A6B6-294715788F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281E277-E6BA-4A4F-B996-63E0263628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E210284-B40B-465B-B16C-E5CFA9D332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4D33ED-1B59-4126-AE1A-FEF61FCC4C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7C796-9AC7-423A-832A-1D58296080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656A8DA-DD31-4409-B75B-8F23B96F15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7969DEE-3CE0-4316-81DE-ACEC21D91FE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E676C0D-EBDD-49E9-BCED-8212B651954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C502D4B-B61B-4D61-B7F6-DE5B81F8A1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784BD0C-57A1-4A5A-9C40-D4AC0DFBDA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30B3328-2273-44BD-AF2F-75F8B1B025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50E43C-AE17-480E-A376-247A95E19B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236A038-1A53-474C-8EEA-0104533CF7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8A23728-FB35-4020-BD26-AFD763B9A4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9217922-7E4F-4189-9C47-638FF7F4E1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1428EEF-244D-44C4-9E13-F1826F0568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3F2FD52-ED70-44B4-90F1-44A2F5B8B2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A2D86CF-A2BF-48DD-BB60-D29ECF0069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37237C-BEEC-4966-B6D1-63FB6E927A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D12BBAC-8228-4615-AFAB-B68164C9A8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2DF254-248E-45AC-B2EB-200DB88DD9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932221-20D8-486D-9B5D-9E35ABF0AD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A9EA70-1423-4B5A-98A1-63D47A433A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A56B7A4-5EBC-43D0-A2A1-8D0101EEF6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54CE18-1288-4C0E-ADD9-35B791C169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1ED0EFE-F376-4B86-936A-127002B9E28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808890A-D818-4A35-871A-2D46A60993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2F97787-25C3-4432-9E3E-E7245709E2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1A0BCD7-1A89-4556-8041-0FF82A0F68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4FEE293-5798-43DB-BD1C-D818ADC852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95789-5BCF-4EC3-817E-97705C2AC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9CCEE2-AFDF-455E-BA4C-DE3593C277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5211FD-C51E-4946-B84B-D839A1C6AA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E034BB-0D35-42A3-ACB5-65AF69E462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8604F0-0EDD-4978-A27E-EF4D741AC1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2F46246-91D3-4551-AB3F-75D3FF0A16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C7864F-CFB5-45E8-A5D8-F50E109A32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D7DF4D-025C-4682-8C4E-9F3BB69B33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440F2D-FF7A-4AB1-BBCA-7F8BB24E98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46BA14-0762-468B-B3E1-0CBAEE8C49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44cfe51941437a" /><Relationship Type="http://schemas.openxmlformats.org/officeDocument/2006/relationships/slideLayout" Target="/ppt/slideLayouts/slideLayout1.xml" Id="R3a7b20745ddf42e1" /><Relationship Type="http://schemas.openxmlformats.org/officeDocument/2006/relationships/slideLayout" Target="/ppt/slideLayouts/slideLayout2.xml" Id="Re351402d63ba460e" /><Relationship Type="http://schemas.openxmlformats.org/officeDocument/2006/relationships/slideLayout" Target="/ppt/slideLayouts/slideLayout3.xml" Id="Rff329df68e184789" /><Relationship Type="http://schemas.openxmlformats.org/officeDocument/2006/relationships/slideLayout" Target="/ppt/slideLayouts/slideLayout4.xml" Id="R21ba5254e61b40ce" /><Relationship Type="http://schemas.openxmlformats.org/officeDocument/2006/relationships/slideLayout" Target="/ppt/slideLayouts/slideLayout5.xml" Id="R3f28920cfc754f54" /><Relationship Type="http://schemas.openxmlformats.org/officeDocument/2006/relationships/slideLayout" Target="/ppt/slideLayouts/slideLayout6.xml" Id="R17ed9f3c1f804108" /><Relationship Type="http://schemas.openxmlformats.org/officeDocument/2006/relationships/slideLayout" Target="/ppt/slideLayouts/slideLayout7.xml" Id="R83258a8489874460" /><Relationship Type="http://schemas.openxmlformats.org/officeDocument/2006/relationships/slideLayout" Target="/ppt/slideLayouts/slideLayout8.xml" Id="R98b8e2b0721341ef" /><Relationship Type="http://schemas.openxmlformats.org/officeDocument/2006/relationships/slideLayout" Target="/ppt/slideLayouts/slideLayout9.xml" Id="R629f3186a800445a" /><Relationship Type="http://schemas.openxmlformats.org/officeDocument/2006/relationships/slideLayout" Target="/ppt/slideLayouts/slideLayout10.xml" Id="R39d2c24acbc84a27" /><Relationship Type="http://schemas.openxmlformats.org/officeDocument/2006/relationships/slideLayout" Target="/ppt/slideLayouts/slideLayout11.xml" Id="R4e5944c4c497475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13D2D2E-7BC1-4906-B025-DEECB7CD7B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24F822E-EBC8-485C-9821-24254437B8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1DB59CF-7D3D-4C64-84B4-EDD979EAE67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A2F63D-C3AD-4188-A979-703952D523D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2FC3B0-6E6C-49C8-BA2B-E2F32695ED5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7b20745ddf42e1"/>
    <p:sldLayoutId xmlns:r="http://schemas.openxmlformats.org/officeDocument/2006/relationships" id="2147483650" r:id="Re351402d63ba460e"/>
    <p:sldLayoutId xmlns:r="http://schemas.openxmlformats.org/officeDocument/2006/relationships" id="2147483651" r:id="Rff329df68e184789"/>
    <p:sldLayoutId xmlns:r="http://schemas.openxmlformats.org/officeDocument/2006/relationships" id="2147483652" r:id="R21ba5254e61b40ce"/>
    <p:sldLayoutId xmlns:r="http://schemas.openxmlformats.org/officeDocument/2006/relationships" id="2147483653" r:id="R3f28920cfc754f54"/>
    <p:sldLayoutId xmlns:r="http://schemas.openxmlformats.org/officeDocument/2006/relationships" id="2147483654" r:id="R17ed9f3c1f804108"/>
    <p:sldLayoutId xmlns:r="http://schemas.openxmlformats.org/officeDocument/2006/relationships" id="2147483655" r:id="R83258a8489874460"/>
    <p:sldLayoutId xmlns:r="http://schemas.openxmlformats.org/officeDocument/2006/relationships" id="2147483656" r:id="R98b8e2b0721341ef"/>
    <p:sldLayoutId xmlns:r="http://schemas.openxmlformats.org/officeDocument/2006/relationships" id="2147483657" r:id="R629f3186a800445a"/>
    <p:sldLayoutId xmlns:r="http://schemas.openxmlformats.org/officeDocument/2006/relationships" id="2147483658" r:id="R39d2c24acbc84a27"/>
    <p:sldLayoutId xmlns:r="http://schemas.openxmlformats.org/officeDocument/2006/relationships" id="2147483659" r:id="R4e5944c4c497475f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1f888b94e94e90" /><Relationship Type="http://schemas.openxmlformats.org/officeDocument/2006/relationships/image" Target="/ppt/media/image.jpeg" Id="R48e78651288e48fe" /><Relationship Type="http://schemas.openxmlformats.org/officeDocument/2006/relationships/notesSlide" Target="/ppt/notesSlides/notesSlide1.xml" Id="Rab733f23f8f14e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3030f34abb42ae" /><Relationship Type="http://schemas.openxmlformats.org/officeDocument/2006/relationships/image" Target="/ppt/media/image.jpeg" Id="R7827bee4361d415e" /><Relationship Type="http://schemas.openxmlformats.org/officeDocument/2006/relationships/notesSlide" Target="/ppt/notesSlides/notesSlide2.xml" Id="Rb4870febe8844c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ab407446d5407b" /><Relationship Type="http://schemas.openxmlformats.org/officeDocument/2006/relationships/image" Target="/ppt/media/image.jpeg" Id="R856deff4c757456e" /><Relationship Type="http://schemas.openxmlformats.org/officeDocument/2006/relationships/notesSlide" Target="/ppt/notesSlides/notesSlide3.xml" Id="Re0a82b2cfdd244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06be655fa54cd9" /><Relationship Type="http://schemas.openxmlformats.org/officeDocument/2006/relationships/image" Target="/ppt/media/image.jpeg" Id="R72a69d0ab58342ee" /><Relationship Type="http://schemas.openxmlformats.org/officeDocument/2006/relationships/notesSlide" Target="/ppt/notesSlides/notesSlide4.xml" Id="R81b57f61e0d543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53a41146f44c1a" /><Relationship Type="http://schemas.openxmlformats.org/officeDocument/2006/relationships/image" Target="/ppt/media/image.jpeg" Id="Rb2f93c2999304d9b" /><Relationship Type="http://schemas.openxmlformats.org/officeDocument/2006/relationships/notesSlide" Target="/ppt/notesSlides/notesSlide5.xml" Id="Rdbb873942bd543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96ee18333a4996" /><Relationship Type="http://schemas.openxmlformats.org/officeDocument/2006/relationships/image" Target="/ppt/media/image.jpeg" Id="R1c9610f9e7244fa9" /><Relationship Type="http://schemas.openxmlformats.org/officeDocument/2006/relationships/notesSlide" Target="/ppt/notesSlides/notesSlide6.xml" Id="R7135ed917a0043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d5675912a947c2" /><Relationship Type="http://schemas.openxmlformats.org/officeDocument/2006/relationships/image" Target="/ppt/media/image.jpeg" Id="Rfda428d319a14772" /><Relationship Type="http://schemas.openxmlformats.org/officeDocument/2006/relationships/notesSlide" Target="/ppt/notesSlides/notesSlide7.xml" Id="Rc54b8ce0800f43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c672675cd84259" /><Relationship Type="http://schemas.openxmlformats.org/officeDocument/2006/relationships/image" Target="/ppt/media/image.jpeg" Id="R0495f2fae6ef42d8" /><Relationship Type="http://schemas.openxmlformats.org/officeDocument/2006/relationships/notesSlide" Target="/ppt/notesSlides/notesSlide8.xml" Id="R51b331e9fb954c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c692ba9c3f44f0" /><Relationship Type="http://schemas.openxmlformats.org/officeDocument/2006/relationships/image" Target="/ppt/media/image.jpeg" Id="Rc09b959ff4f543ff" /><Relationship Type="http://schemas.openxmlformats.org/officeDocument/2006/relationships/notesSlide" Target="/ppt/notesSlides/notesSlide9.xml" Id="R89fceda01e1b4c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7119f0bde945bd" /><Relationship Type="http://schemas.openxmlformats.org/officeDocument/2006/relationships/image" Target="/ppt/media/image.jpeg" Id="R51adf73c3fc443d2" /><Relationship Type="http://schemas.openxmlformats.org/officeDocument/2006/relationships/notesSlide" Target="/ppt/notesSlides/notesSlide10.xml" Id="Rec6f192b82b34f0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E036B7F-4CC8-4AAE-B87C-894D62FE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7523" cy="10287000"/>
          </a:xfrm>
          <a:custGeom xmlns:a="http://schemas.openxmlformats.org/drawingml/2006/main">
            <a:rect l="l" t="t" r="r" b="b"/>
            <a:pathLst>
              <a:path w="24383364" h="13716000">
                <a:moveTo>
                  <a:pt x="0" y="0"/>
                </a:moveTo>
                <a:lnTo>
                  <a:pt x="24383364" y="0"/>
                </a:lnTo>
                <a:lnTo>
                  <a:pt x="24383364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8B3699A9-3E7B-46C2-AADB-712DDA18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35640" y="-1802130"/>
            <a:ext cx="8503920" cy="7151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54000"/>
              </a:lnSpc>
              <a:buNone/>
            </a:pPr>
            <a:r>
              <a:rPr sz="450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01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0FF18F1E-A852-479B-95AA-8F66261D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6240780"/>
            <a:ext cx="12344400" cy="480060"/>
          </a:xfrm>
          <a:custGeom xmlns:a="http://schemas.openxmlformats.org/drawingml/2006/main">
            <a:rect l="l" t="t" r="r" b="b"/>
            <a:pathLst>
              <a:path w="16459200" h="640080">
                <a:moveTo>
                  <a:pt x="0" y="0"/>
                </a:moveTo>
                <a:lnTo>
                  <a:pt x="16459200" y="0"/>
                </a:lnTo>
                <a:lnTo>
                  <a:pt x="1645920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e78651288e48fe">
              <a:alphaModFix amt="0"/>
            </a:blip>
            <a:stretch>
              <a:fillRect l="0" t="-451043" r="0" b="-451043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CA8CD75-C597-4FFD-B16E-ECF57BD8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6219349"/>
            <a:ext cx="1234440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0"/>
              </a:lnSpc>
              <a:buNone/>
            </a:pPr>
            <a:r>
              <a:rPr sz="165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PITCH DECK · CURSO TÉCNICO EM DESENVOLVIMENTO DE SISTEMAS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02A72981-3B14-4127-AF2E-EAF43103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5860" y="6720840"/>
            <a:ext cx="15087600" cy="1440180"/>
          </a:xfrm>
          <a:custGeom xmlns:a="http://schemas.openxmlformats.org/drawingml/2006/main">
            <a:rect l="l" t="t" r="r" b="b"/>
            <a:pathLst>
              <a:path w="20116800" h="1920240">
                <a:moveTo>
                  <a:pt x="0" y="0"/>
                </a:moveTo>
                <a:lnTo>
                  <a:pt x="20116800" y="0"/>
                </a:lnTo>
                <a:lnTo>
                  <a:pt x="20116800" y="1920240"/>
                </a:lnTo>
                <a:lnTo>
                  <a:pt x="0" y="19202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e78651288e48fe">
              <a:alphaModFix amt="0"/>
            </a:blip>
            <a:stretch>
              <a:fillRect l="0" t="-154128" r="0" b="-154128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ACE3D72-176B-4A99-85AA-F380E299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5860" y="6706553"/>
            <a:ext cx="15087600" cy="14544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0800"/>
              </a:lnSpc>
              <a:buNone/>
            </a:pPr>
            <a:r>
              <a:rPr sz="90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AgroGestão Pro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C7B8ED0-A26D-449A-95C0-40265EB5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8229600"/>
            <a:ext cx="10424160" cy="960120"/>
          </a:xfrm>
          <a:custGeom xmlns:a="http://schemas.openxmlformats.org/drawingml/2006/main">
            <a:rect l="l" t="t" r="r" b="b"/>
            <a:pathLst>
              <a:path w="13898880" h="1280160">
                <a:moveTo>
                  <a:pt x="0" y="0"/>
                </a:moveTo>
                <a:lnTo>
                  <a:pt x="13898880" y="0"/>
                </a:lnTo>
                <a:lnTo>
                  <a:pt x="13898880" y="1280160"/>
                </a:lnTo>
                <a:lnTo>
                  <a:pt x="0" y="12801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e78651288e48fe">
              <a:alphaModFix amt="0"/>
            </a:blip>
            <a:stretch>
              <a:fillRect l="0" t="-161551" r="0" b="-161551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7F88A22-EEBC-4223-BDAC-FC09A149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" y="8179594"/>
            <a:ext cx="10424160" cy="10101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250" i="1">
                <a:solidFill>
                  <a:srgbClr val="C9D6CB"/>
                </a:solidFill>
                <a:latin typeface="Cambria Italics"/>
                <a:ea typeface="Cambria Italics"/>
                <a:cs typeface="Cambria Italics"/>
              </a:rPr>
              <a:t>“Gestão rural sem complicação.” Simples para começar e preparado para crescer junto com o produtor.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B109134-6F96-4CBC-97B9-5A248F61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8780" y="5966460"/>
            <a:ext cx="4114800" cy="411480"/>
          </a:xfrm>
          <a:custGeom xmlns:a="http://schemas.openxmlformats.org/drawingml/2006/main">
            <a:rect l="l" t="t" r="r" b="b"/>
            <a:pathLst>
              <a:path w="5486400" h="548640">
                <a:moveTo>
                  <a:pt x="0" y="0"/>
                </a:moveTo>
                <a:lnTo>
                  <a:pt x="5486400" y="0"/>
                </a:lnTo>
                <a:lnTo>
                  <a:pt x="548640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e78651288e48fe">
              <a:alphaModFix amt="0"/>
            </a:blip>
            <a:stretch>
              <a:fillRect l="0" t="-144850" r="0" b="-144850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FFE6169-AC28-47BE-AF86-C64F74FF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8780" y="5937885"/>
            <a:ext cx="4114800" cy="440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</a:pPr>
            <a:r>
              <a:rPr sz="150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ODS RELACIONADOS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2E40E63F-F596-41EA-A32E-7B56B8EB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8780" y="6473952"/>
            <a:ext cx="1577340" cy="1577340"/>
          </a:xfrm>
          <a:custGeom xmlns:a="http://schemas.openxmlformats.org/drawingml/2006/main">
            <a:rect l="l" t="t" r="r" b="b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E5243B"/>
          </a:solidFill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4F35D35-989D-40D7-98D2-4E011E40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6583680"/>
            <a:ext cx="1303020" cy="576072"/>
          </a:xfrm>
          <a:custGeom xmlns:a="http://schemas.openxmlformats.org/drawingml/2006/main">
            <a:rect l="l" t="t" r="r" b="b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e78651288e48fe">
              <a:alphaModFix amt="0"/>
            </a:blip>
            <a:stretch>
              <a:fillRect l="-6723" t="0" r="-6723" b="0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119E8409-C904-42B8-B361-118FA38B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6576537"/>
            <a:ext cx="1303020" cy="583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1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DD308CF-AC1A-4DFD-BCC5-F0D3BD1E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7159752"/>
            <a:ext cx="1303020" cy="822960"/>
          </a:xfrm>
          <a:custGeom xmlns:a="http://schemas.openxmlformats.org/drawingml/2006/main">
            <a:rect l="l" t="t" r="r" b="b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e78651288e48fe">
              <a:alphaModFix amt="0"/>
            </a:blip>
            <a:stretch>
              <a:fillRect l="-31033" t="0" r="-31033" b="0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4F35DFB-9B7B-4680-80A8-3DDB889A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7138321"/>
            <a:ext cx="1303020" cy="844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79"/>
              </a:lnSpc>
              <a:buNone/>
            </a:pPr>
            <a:r>
              <a:rPr sz="1095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Erradicação da Pobreza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078DFC5-C654-4864-A59D-5FBD928A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77872" y="6473952"/>
            <a:ext cx="1577340" cy="1577340"/>
          </a:xfrm>
          <a:custGeom xmlns:a="http://schemas.openxmlformats.org/drawingml/2006/main">
            <a:rect l="l" t="t" r="r" b="b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DDA63A"/>
          </a:solidFill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1126BF18-0ACD-491D-8DE8-96FD72D6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6583680"/>
            <a:ext cx="1303020" cy="576072"/>
          </a:xfrm>
          <a:custGeom xmlns:a="http://schemas.openxmlformats.org/drawingml/2006/main">
            <a:rect l="l" t="t" r="r" b="b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e78651288e48fe">
              <a:alphaModFix amt="0"/>
            </a:blip>
            <a:stretch>
              <a:fillRect l="-6723" t="0" r="-6723" b="0"/>
            </a:stretch>
          </a:blip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5DB0C687-85CD-4F59-AFA0-8D3EBE20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6576537"/>
            <a:ext cx="1303020" cy="583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2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C3EB74A-830C-4282-8633-D9F37EC7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7159752"/>
            <a:ext cx="1303020" cy="822960"/>
          </a:xfrm>
          <a:custGeom xmlns:a="http://schemas.openxmlformats.org/drawingml/2006/main">
            <a:rect l="l" t="t" r="r" b="b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e78651288e48fe">
              <a:alphaModFix amt="0"/>
            </a:blip>
            <a:stretch>
              <a:fillRect l="-31033" t="0" r="-31033" b="0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518849B7-4ADB-4699-8190-E0E4B102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7138321"/>
            <a:ext cx="1303020" cy="844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79"/>
              </a:lnSpc>
              <a:buNone/>
            </a:pPr>
            <a:r>
              <a:rPr sz="1095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Fome Zero e Agricultura Sustentável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AA49208-F0FC-48E6-B041-9F3AB998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8780" y="8353044"/>
            <a:ext cx="1577340" cy="1577340"/>
          </a:xfrm>
          <a:custGeom xmlns:a="http://schemas.openxmlformats.org/drawingml/2006/main">
            <a:rect l="l" t="t" r="r" b="b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A21942"/>
          </a:solidFill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3DF4B704-2A9A-4965-9B4C-FBE237D6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8462772"/>
            <a:ext cx="1303020" cy="576072"/>
          </a:xfrm>
          <a:custGeom xmlns:a="http://schemas.openxmlformats.org/drawingml/2006/main">
            <a:rect l="l" t="t" r="r" b="b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e78651288e48fe">
              <a:alphaModFix amt="0"/>
            </a:blip>
            <a:stretch>
              <a:fillRect l="-6723" t="0" r="-6723" b="0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E6ADA02-0765-4FB2-8B1C-0A7654B1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8455629"/>
            <a:ext cx="1303020" cy="583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8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DFE3F1DD-D294-406A-A86A-4864FDF1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9038844"/>
            <a:ext cx="1303020" cy="822960"/>
          </a:xfrm>
          <a:custGeom xmlns:a="http://schemas.openxmlformats.org/drawingml/2006/main">
            <a:rect l="l" t="t" r="r" b="b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e78651288e48fe">
              <a:alphaModFix amt="0"/>
            </a:blip>
            <a:stretch>
              <a:fillRect l="-31033" t="0" r="-31033" b="0"/>
            </a:stretch>
          </a:blipFill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BE4C422B-A909-4E55-89DA-525E2A20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35940" y="9017413"/>
            <a:ext cx="1303020" cy="844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79"/>
              </a:lnSpc>
              <a:buNone/>
            </a:pPr>
            <a:r>
              <a:rPr sz="1095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Trabalho Decente e Crescimento Econômico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78CE5CE-8837-4476-A117-89034F0F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977872" y="8353044"/>
            <a:ext cx="1577340" cy="1577340"/>
          </a:xfrm>
          <a:custGeom xmlns:a="http://schemas.openxmlformats.org/drawingml/2006/main">
            <a:rect l="l" t="t" r="r" b="b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DD1367"/>
          </a:solidFill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E3C22A1E-AF20-4573-857D-E88B2C82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8462772"/>
            <a:ext cx="1303020" cy="576072"/>
          </a:xfrm>
          <a:custGeom xmlns:a="http://schemas.openxmlformats.org/drawingml/2006/main">
            <a:rect l="l" t="t" r="r" b="b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e78651288e48fe">
              <a:alphaModFix amt="0"/>
            </a:blip>
            <a:stretch>
              <a:fillRect l="-6723" t="0" r="-6723" b="0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D8DC53F7-C15F-4C13-AA5E-9EA2DA9D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8455629"/>
            <a:ext cx="1303020" cy="583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10</a:t>
            </a:r>
          </a:p>
        </p:txBody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6B35EA5F-7A75-4C82-94C5-EF97104A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9038844"/>
            <a:ext cx="1303020" cy="822960"/>
          </a:xfrm>
          <a:custGeom xmlns:a="http://schemas.openxmlformats.org/drawingml/2006/main">
            <a:rect l="l" t="t" r="r" b="b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8e78651288e48fe">
              <a:alphaModFix amt="0"/>
            </a:blip>
            <a:stretch>
              <a:fillRect l="-31033" t="0" r="-31033" b="0"/>
            </a:stretch>
          </a:blip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75D2EAAD-545D-4F72-B974-8463FBB4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5032" y="9017413"/>
            <a:ext cx="1303020" cy="844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79"/>
              </a:lnSpc>
              <a:buNone/>
            </a:pPr>
            <a:r>
              <a:rPr sz="1095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Redução das Desigualdades</a:t>
            </a:r>
          </a:p>
        </p:txBody>
      </p:sp>
    </p:spTree>
    <p:extLst>
      <p:ext uri="{BB962C8B-B14F-4D97-AF65-F5344CB8AC3E}">
        <p14:creationId xmlns:p14="http://schemas.microsoft.com/office/powerpoint/2010/main" val="17738290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D393465-6DB9-46D1-AA2B-22A5EBD7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5364CA4-C1EA-43F9-9C80-6A0221A7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DB7D2B5-FF2C-4F61-877C-448FCF31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27bee4361d415e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54208CD-5BAB-4C60-8323-971641CE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O PROBLEMA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BFDFB163-DF79-4F19-AC3B-73C911EF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10665"/>
            <a:ext cx="4389120" cy="45929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636"/>
              </a:lnSpc>
              <a:buNone/>
            </a:pPr>
            <a:r>
              <a:rPr sz="345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Seu José cuida de tudo sozinho, no caderno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9D79693-B0F2-4F84-8D46-75848190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27bee4361d415e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DCBBA3-9F06-4741-8C76-F301938F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649F45A-E809-411E-95EF-24DC0968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27bee4361d415e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70FFC7E-D7D7-4FD3-A113-C021113E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02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0AB7890-A079-4808-8A95-044659DE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508760"/>
            <a:ext cx="1371600" cy="1412748"/>
          </a:xfrm>
          <a:custGeom xmlns:a="http://schemas.openxmlformats.org/drawingml/2006/main">
            <a:rect l="l" t="t" r="r" b="b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27bee4361d415e">
              <a:alphaModFix amt="0"/>
            </a:blip>
            <a:stretch>
              <a:fillRect l="-82152" t="0" r="-82152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F8430DA-4388-40D6-9215-BE115787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494473"/>
            <a:ext cx="1371600" cy="1427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01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6547300-49A4-43F0-ABE2-9BC62A12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1508760"/>
            <a:ext cx="9715043" cy="1412748"/>
          </a:xfrm>
          <a:custGeom xmlns:a="http://schemas.openxmlformats.org/drawingml/2006/main">
            <a:rect l="l" t="t" r="r" b="b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27bee4361d415e">
              <a:alphaModFix amt="0"/>
            </a:blip>
            <a:stretch>
              <a:fillRect l="0" t="-83992" r="0" b="-83992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C6FFFDEA-4FFB-46DD-A9F7-BCF9146C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1444467"/>
            <a:ext cx="9715043" cy="14770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40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Cuida da produção e do dinheiro ao mesmo tempo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967F8177-3417-46F9-BCAC-0C50F09A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3012758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25A170E6-22B0-4FFD-9739-4A76C7E4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64408"/>
            <a:ext cx="1371600" cy="1412748"/>
          </a:xfrm>
          <a:custGeom xmlns:a="http://schemas.openxmlformats.org/drawingml/2006/main">
            <a:rect l="l" t="t" r="r" b="b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27bee4361d415e">
              <a:alphaModFix amt="0"/>
            </a:blip>
            <a:stretch>
              <a:fillRect l="-82152" t="0" r="-82152" b="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C8AB4005-16E5-4B15-8FBF-6C57DBE1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50121"/>
            <a:ext cx="1371600" cy="1427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02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FE5AFCB-8008-4B8F-B23D-4AA060BD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3264408"/>
            <a:ext cx="9715043" cy="1412748"/>
          </a:xfrm>
          <a:custGeom xmlns:a="http://schemas.openxmlformats.org/drawingml/2006/main">
            <a:rect l="l" t="t" r="r" b="b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27bee4361d415e">
              <a:alphaModFix amt="0"/>
            </a:blip>
            <a:stretch>
              <a:fillRect l="0" t="-83992" r="0" b="-83992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0C5D4A8A-28CC-4114-ABA4-B2054A47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3200115"/>
            <a:ext cx="9715043" cy="14770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40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Anota tudo em caderno, WhatsApp ou de memória</a:t>
            </a: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651D1446-3292-4175-8015-3F967B3E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4768406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23549179-3BF3-441C-A24B-396E6347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020056"/>
            <a:ext cx="1371600" cy="1412748"/>
          </a:xfrm>
          <a:custGeom xmlns:a="http://schemas.openxmlformats.org/drawingml/2006/main">
            <a:rect l="l" t="t" r="r" b="b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27bee4361d415e">
              <a:alphaModFix amt="0"/>
            </a:blip>
            <a:stretch>
              <a:fillRect l="-82152" t="0" r="-82152" b="0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7CB96439-52D8-4CD3-8C7B-7A1A95F8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005769"/>
            <a:ext cx="1371600" cy="1427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03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08D9F9F5-2B08-495F-A228-081111A4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5020056"/>
            <a:ext cx="9715043" cy="1412748"/>
          </a:xfrm>
          <a:custGeom xmlns:a="http://schemas.openxmlformats.org/drawingml/2006/main">
            <a:rect l="l" t="t" r="r" b="b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27bee4361d415e">
              <a:alphaModFix amt="0"/>
            </a:blip>
            <a:stretch>
              <a:fillRect l="0" t="-83992" r="0" b="-83992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F3250C7D-3728-4104-BE76-4CAC731D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4955763"/>
            <a:ext cx="9715043" cy="14770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40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Sistemas prontos costumam ser caros e complicados</a:t>
            </a:r>
          </a:p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39F42B47-5B2F-4D78-B721-E79CFAF1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6524054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7063791-7155-4995-9C6C-3F104C85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775704"/>
            <a:ext cx="1371600" cy="1412748"/>
          </a:xfrm>
          <a:custGeom xmlns:a="http://schemas.openxmlformats.org/drawingml/2006/main">
            <a:rect l="l" t="t" r="r" b="b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27bee4361d415e">
              <a:alphaModFix amt="0"/>
            </a:blip>
            <a:stretch>
              <a:fillRect l="-82152" t="0" r="-82152" b="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5EBE12E6-CDB5-41D7-9A8B-3E9E94B8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761417"/>
            <a:ext cx="1371600" cy="1427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04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687D3D6E-5A93-4D79-812D-E7459123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27bee4361d415e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B6E8CA9-C644-4F33-9F4B-2B04EF0A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02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2C4E00C4-AA98-4237-8D9F-07965C56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6775704"/>
            <a:ext cx="9715043" cy="1412748"/>
          </a:xfrm>
          <a:custGeom xmlns:a="http://schemas.openxmlformats.org/drawingml/2006/main">
            <a:rect l="l" t="t" r="r" b="b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827bee4361d415e">
              <a:alphaModFix amt="0"/>
            </a:blip>
            <a:stretch>
              <a:fillRect l="0" t="-83992" r="0" b="-83992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D0CC15FB-12D2-42C6-886D-535DA81D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8120" y="6711411"/>
            <a:ext cx="9715043" cy="14770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311"/>
              </a:lnSpc>
              <a:buNone/>
            </a:pPr>
            <a:r>
              <a:rPr sz="240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Não quer pagar por funções que nunca vai usar</a:t>
            </a:r>
          </a:p>
        </p:txBody>
      </p:sp>
    </p:spTree>
    <p:extLst>
      <p:ext uri="{BB962C8B-B14F-4D97-AF65-F5344CB8AC3E}">
        <p14:creationId xmlns:p14="http://schemas.microsoft.com/office/powerpoint/2010/main" val="19150874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4DC8214-F491-4122-BE55-48239DE4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7E666FA-6C80-4D8C-9F9B-2F888F14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A1D6148-9EE8-4671-9BDF-487CB721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6deff4c757456e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11799D9-EEB1-44FA-A059-A91DC605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03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2EB2E0F-3D18-49F9-A59F-440A5ACE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6deff4c757456e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8056753-6F9E-4BD0-98E3-4D4DF19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A OPORTUNIDADE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5A37175-C685-4218-BD4D-D097EF9A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10665"/>
            <a:ext cx="4389120" cy="45929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636"/>
              </a:lnSpc>
              <a:buNone/>
            </a:pPr>
            <a:r>
              <a:rPr sz="345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Um mercado gigante ainda sem solução simples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4DEEF53-88F7-438B-BD51-F9F2B9FC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6deff4c757456e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31055CB-3E04-4DB1-9496-8BF7FB33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697ACB7-1ECF-4B77-8AA2-A54DBC4A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6deff4c757456e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913472A-29A4-49AF-929F-8C6BF6DE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03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EF04A9B-4DDC-43C2-8626-14B408D3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165860"/>
            <a:ext cx="11223802" cy="1851660"/>
          </a:xfrm>
          <a:custGeom xmlns:a="http://schemas.openxmlformats.org/drawingml/2006/main">
            <a:rect l="l" t="t" r="r" b="b"/>
            <a:pathLst>
              <a:path w="14965069" h="2468880">
                <a:moveTo>
                  <a:pt x="0" y="0"/>
                </a:moveTo>
                <a:lnTo>
                  <a:pt x="14965069" y="0"/>
                </a:lnTo>
                <a:lnTo>
                  <a:pt x="14965069" y="2468880"/>
                </a:lnTo>
                <a:lnTo>
                  <a:pt x="0" y="2468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6deff4c757456e">
              <a:alphaModFix amt="0"/>
            </a:blip>
            <a:stretch>
              <a:fillRect l="0" t="-68108" r="0" b="-68108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6225CD32-A91D-469D-8917-C177A213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158717"/>
            <a:ext cx="11223803" cy="18588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1880"/>
              </a:lnSpc>
              <a:buNone/>
            </a:pPr>
            <a:r>
              <a:rPr sz="9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Milhões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ADD7879E-574B-45B4-AF11-9FF2EFAD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2948940"/>
            <a:ext cx="9852202" cy="891540"/>
          </a:xfrm>
          <a:custGeom xmlns:a="http://schemas.openxmlformats.org/drawingml/2006/main">
            <a:rect l="l" t="t" r="r" b="b"/>
            <a:pathLst>
              <a:path w="13136269" h="1188720">
                <a:moveTo>
                  <a:pt x="0" y="0"/>
                </a:moveTo>
                <a:lnTo>
                  <a:pt x="13136269" y="0"/>
                </a:lnTo>
                <a:lnTo>
                  <a:pt x="13136269" y="1188720"/>
                </a:lnTo>
                <a:lnTo>
                  <a:pt x="0" y="11887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6deff4c757456e">
              <a:alphaModFix amt="0"/>
            </a:blip>
            <a:stretch>
              <a:fillRect l="0" t="-165324" r="0" b="-165324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1075756B-3A6B-4F97-975F-395EC29C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2877503"/>
            <a:ext cx="9852203" cy="9629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208"/>
              </a:lnSpc>
              <a:buNone/>
            </a:pPr>
            <a:r>
              <a:rPr sz="23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de agricultores familiares sustentam a produção de alimentos no Brasil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F86F76D1-4C61-484C-996E-A89D9279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4178617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6DEEBE89-FBD4-41EC-A365-E4B0E290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457700"/>
            <a:ext cx="685800" cy="1261872"/>
          </a:xfrm>
          <a:custGeom xmlns:a="http://schemas.openxmlformats.org/drawingml/2006/main">
            <a:rect l="l" t="t" r="r" b="b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6deff4c757456e">
              <a:alphaModFix amt="0"/>
            </a:blip>
            <a:stretch>
              <a:fillRect l="-186078" t="0" r="-186078" b="0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97138F9B-7CC3-4D55-9825-15A1EDF8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429125"/>
            <a:ext cx="685800" cy="12904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79"/>
              </a:lnSpc>
              <a:buNone/>
            </a:pPr>
            <a:r>
              <a:rPr sz="240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—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447245B5-541F-4158-A76A-76181A04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4457700"/>
            <a:ext cx="10469423" cy="1261872"/>
          </a:xfrm>
          <a:custGeom xmlns:a="http://schemas.openxmlformats.org/drawingml/2006/main">
            <a:rect l="l" t="t" r="r" b="b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6deff4c757456e">
              <a:alphaModFix amt="0"/>
            </a:blip>
            <a:stretch>
              <a:fillRect l="0" t="-111662" r="0" b="-111662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2E0A3EDF-8793-4854-AD12-24E362A6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4393407"/>
            <a:ext cx="10469423" cy="1326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001"/>
              </a:lnSpc>
              <a:buNone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Poucos têm controle formal de custos, produção e vendas</a:t>
            </a:r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DB30391B-7CBC-45C2-8997-EC040DA6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5797106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4EAA566A-0FC4-45EE-8718-3335BFE7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993892"/>
            <a:ext cx="685800" cy="1261872"/>
          </a:xfrm>
          <a:custGeom xmlns:a="http://schemas.openxmlformats.org/drawingml/2006/main">
            <a:rect l="l" t="t" r="r" b="b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6deff4c757456e">
              <a:alphaModFix amt="0"/>
            </a:blip>
            <a:stretch>
              <a:fillRect l="-186078" t="0" r="-186078" b="0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01BAE3-B84C-4C7D-BF10-D066307F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965317"/>
            <a:ext cx="685800" cy="12904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79"/>
              </a:lnSpc>
              <a:buNone/>
            </a:pPr>
            <a:r>
              <a:rPr sz="240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—</a:t>
            </a: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16FBA18D-42DA-44BE-A8DC-E3F22E46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5993892"/>
            <a:ext cx="10469423" cy="1261872"/>
          </a:xfrm>
          <a:custGeom xmlns:a="http://schemas.openxmlformats.org/drawingml/2006/main">
            <a:rect l="l" t="t" r="r" b="b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6deff4c757456e">
              <a:alphaModFix amt="0"/>
            </a:blip>
            <a:stretch>
              <a:fillRect l="0" t="-111662" r="0" b="-111662"/>
            </a:stretch>
          </a:blipFill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5CDE6823-797C-4DB4-912D-1B019053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5929599"/>
            <a:ext cx="10469423" cy="1326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001"/>
              </a:lnSpc>
              <a:buNone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Esse controle é justamente o que abre portas para crédito e financiamento</a:t>
            </a:r>
          </a:p>
        </p:txBody>
      </p:sp>
      <p:sp>
        <p:nvSpPr>
          <p:cNvPr id="39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4D249BA9-B0EF-4FA1-9D9C-3DE6616F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7333297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F75294D7-FA24-4F5D-AC92-746FF94F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530084"/>
            <a:ext cx="685800" cy="1261872"/>
          </a:xfrm>
          <a:custGeom xmlns:a="http://schemas.openxmlformats.org/drawingml/2006/main">
            <a:rect l="l" t="t" r="r" b="b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6deff4c757456e">
              <a:alphaModFix amt="0"/>
            </a:blip>
            <a:stretch>
              <a:fillRect l="-186078" t="0" r="-186078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AE0F02B7-FBA9-46B7-8F38-68ADA27D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501509"/>
            <a:ext cx="685800" cy="12904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79"/>
              </a:lnSpc>
              <a:buNone/>
            </a:pPr>
            <a:r>
              <a:rPr sz="240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—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B1EE8654-A02B-4B3D-A7B5-76333A1A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7530084"/>
            <a:ext cx="10469423" cy="1261872"/>
          </a:xfrm>
          <a:custGeom xmlns:a="http://schemas.openxmlformats.org/drawingml/2006/main">
            <a:rect l="l" t="t" r="r" b="b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6deff4c757456e">
              <a:alphaModFix amt="0"/>
            </a:blip>
            <a:stretch>
              <a:fillRect l="0" t="-111662" r="0" b="-111662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83035AE2-66EB-4F80-8636-9C1189AA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7465791"/>
            <a:ext cx="10469423" cy="1326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001"/>
              </a:lnSpc>
              <a:buNone/>
            </a:pPr>
            <a:r>
              <a:rPr sz="217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Quase nenhuma solução no mercado foi pensada para esse público</a:t>
            </a:r>
          </a:p>
        </p:txBody>
      </p:sp>
    </p:spTree>
    <p:extLst>
      <p:ext uri="{BB962C8B-B14F-4D97-AF65-F5344CB8AC3E}">
        <p14:creationId xmlns:p14="http://schemas.microsoft.com/office/powerpoint/2010/main" val="4873925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3B0456D-3B39-44FB-AF90-BC9BB6AE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5A4CFA0-E601-4AA3-9CB6-BE61FE9A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E25D480B-00B2-4FD3-9356-6B9BA247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a69d0ab58342ee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B233BD5-B460-4392-AD2C-371AC9C0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04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6C98175-9881-447C-BB1D-DBBC3A0F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a69d0ab58342ee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71C72FD-1CD6-4354-925A-88906F7F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A SOLUÇÃO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B711F2D-2D3F-4178-9827-484210DB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20190"/>
            <a:ext cx="4389120" cy="4583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41"/>
              </a:lnSpc>
              <a:buNone/>
            </a:pPr>
            <a:r>
              <a:rPr sz="39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Um aplicativo para o pequeno produtor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721B6C2-606A-4D72-9A42-D5707970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a69d0ab58342ee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8A4F1505-4C78-45F8-BF8D-91D43AF8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0901821E-B9CB-4893-9992-30828356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a69d0ab58342ee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CD64F10-D867-4589-B60C-035B4F53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04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EDBE39FB-49F1-4CE1-B1AD-71F04D03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508760"/>
            <a:ext cx="960120" cy="1412748"/>
          </a:xfrm>
          <a:custGeom xmlns:a="http://schemas.openxmlformats.org/drawingml/2006/main">
            <a:rect l="l" t="t" r="r" b="b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a69d0ab58342ee">
              <a:alphaModFix amt="0"/>
            </a:blip>
            <a:stretch>
              <a:fillRect l="-138789" t="0" r="-138789" b="0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5C1AF84-F471-4370-919F-41DD0A93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501617"/>
            <a:ext cx="960120" cy="14198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FDE06EB-C098-4FA5-A15C-C99E8A7B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1508760"/>
            <a:ext cx="10057943" cy="1412748"/>
          </a:xfrm>
          <a:custGeom xmlns:a="http://schemas.openxmlformats.org/drawingml/2006/main">
            <a:rect l="l" t="t" r="r" b="b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a69d0ab58342ee">
              <a:alphaModFix amt="0"/>
            </a:blip>
            <a:stretch>
              <a:fillRect l="0" t="-88722" r="0" b="-88722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B991B1B-5C0C-42A3-90C8-1B2214C9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1437323"/>
            <a:ext cx="10057943" cy="1484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519"/>
              </a:lnSpc>
              <a:buNone/>
            </a:pPr>
            <a:r>
              <a:rPr sz="25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Feito para pequenos produtores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75A91D46-0E37-4056-AC22-FD41E287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3012758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C6E3368A-77EC-4BE2-B420-36D0696B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64408"/>
            <a:ext cx="960120" cy="1412748"/>
          </a:xfrm>
          <a:custGeom xmlns:a="http://schemas.openxmlformats.org/drawingml/2006/main">
            <a:rect l="l" t="t" r="r" b="b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a69d0ab58342ee">
              <a:alphaModFix amt="0"/>
            </a:blip>
            <a:stretch>
              <a:fillRect l="-138789" t="0" r="-138789" b="0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9B427C9-C9D0-41C5-8DA0-5D847E8D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57265"/>
            <a:ext cx="960120" cy="14198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B90C99C8-D444-4F48-8DC7-1C53A2C8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3264408"/>
            <a:ext cx="10057943" cy="1412748"/>
          </a:xfrm>
          <a:custGeom xmlns:a="http://schemas.openxmlformats.org/drawingml/2006/main">
            <a:rect l="l" t="t" r="r" b="b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a69d0ab58342ee">
              <a:alphaModFix amt="0"/>
            </a:blip>
            <a:stretch>
              <a:fillRect l="0" t="-88722" r="0" b="-88722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BA72C162-F0C2-4B2D-B807-D829A4BD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3192971"/>
            <a:ext cx="10057943" cy="1484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519"/>
              </a:lnSpc>
              <a:buNone/>
            </a:pPr>
            <a:r>
              <a:rPr sz="25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Fácil para pessoas mais velhas</a:t>
            </a:r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28E06AD9-15ED-47CB-9F9F-3B93A6F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4768406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E27C590-6804-441C-9AA3-2A50C929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020056"/>
            <a:ext cx="960120" cy="1412748"/>
          </a:xfrm>
          <a:custGeom xmlns:a="http://schemas.openxmlformats.org/drawingml/2006/main">
            <a:rect l="l" t="t" r="r" b="b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a69d0ab58342ee">
              <a:alphaModFix amt="0"/>
            </a:blip>
            <a:stretch>
              <a:fillRect l="-138789" t="0" r="-138789" b="0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3A4B5531-AF83-452D-B6F7-DBA6A0CE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012913"/>
            <a:ext cx="960120" cy="14198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2B8BE7DE-F7A9-4352-BBF5-B1433412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5020056"/>
            <a:ext cx="10057943" cy="1412748"/>
          </a:xfrm>
          <a:custGeom xmlns:a="http://schemas.openxmlformats.org/drawingml/2006/main">
            <a:rect l="l" t="t" r="r" b="b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a69d0ab58342ee">
              <a:alphaModFix amt="0"/>
            </a:blip>
            <a:stretch>
              <a:fillRect l="0" t="-88722" r="0" b="-88722"/>
            </a:stretch>
          </a:blipFill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3BFFA917-9C38-44E4-BC83-39F78671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4948619"/>
            <a:ext cx="10057943" cy="1484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519"/>
              </a:lnSpc>
              <a:buNone/>
            </a:pPr>
            <a:r>
              <a:rPr sz="25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Botões grandes, linguagem simples</a:t>
            </a:r>
          </a:p>
        </p:txBody>
      </p:sp>
      <p:sp>
        <p:nvSpPr>
          <p:cNvPr id="39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3F80AEE8-9049-4FEA-880F-A9614582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6524054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42567EF3-EE8F-4F53-ABAA-0E96F56A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775704"/>
            <a:ext cx="960120" cy="1412748"/>
          </a:xfrm>
          <a:custGeom xmlns:a="http://schemas.openxmlformats.org/drawingml/2006/main">
            <a:rect l="l" t="t" r="r" b="b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a69d0ab58342ee">
              <a:alphaModFix amt="0"/>
            </a:blip>
            <a:stretch>
              <a:fillRect l="-138789" t="0" r="-138789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DDEA5646-6C3F-4D3C-8D45-8CB391B5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768561"/>
            <a:ext cx="960120" cy="14198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960"/>
              </a:lnSpc>
              <a:buNone/>
            </a:pPr>
            <a:r>
              <a:rPr sz="33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223E929F-338E-4712-8292-E54771E5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6775704"/>
            <a:ext cx="10057943" cy="1412748"/>
          </a:xfrm>
          <a:custGeom xmlns:a="http://schemas.openxmlformats.org/drawingml/2006/main">
            <a:rect l="l" t="t" r="r" b="b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a69d0ab58342ee">
              <a:alphaModFix amt="0"/>
            </a:blip>
            <a:stretch>
              <a:fillRect l="0" t="-88722" r="0" b="-88722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64513F77-3BD1-4A1C-B147-161DD254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5220" y="6704267"/>
            <a:ext cx="10057943" cy="1484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519"/>
              </a:lnSpc>
              <a:buNone/>
            </a:pPr>
            <a:r>
              <a:rPr sz="25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Funciona mesmo sem internet</a:t>
            </a:r>
          </a:p>
        </p:txBody>
      </p:sp>
    </p:spTree>
    <p:extLst>
      <p:ext uri="{BB962C8B-B14F-4D97-AF65-F5344CB8AC3E}">
        <p14:creationId xmlns:p14="http://schemas.microsoft.com/office/powerpoint/2010/main" val="9508312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875FB-8228-41CE-98A8-8AF4389F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BBAED58-CE44-46A8-A437-7B6EDF8B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6F5BF2D-12B1-4CF7-A0C2-7EFAFA1A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f93c2999304d9b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9ABED77-72B9-4D2C-855C-674751FD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05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167D4B1-68BD-433E-8745-9FA8FB11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f93c2999304d9b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631CD6-8224-43E3-89CF-E6E6C21A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PROPOSTA DE VALOR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390D2FB-51BA-4189-9288-1942C0EF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20190"/>
            <a:ext cx="4389120" cy="4583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32"/>
              </a:lnSpc>
              <a:buNone/>
            </a:pPr>
            <a:r>
              <a:rPr sz="30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O que o AgroGestão Pro entrega e ninguém mais entrega assim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B9E5EB4-0C48-4F27-9E9B-CC23DD07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f93c2999304d9b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5108365-43BA-4913-92D0-6AF5F859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7DD4276-49A6-4A02-BAD4-ECB2CE4C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f93c2999304d9b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D4448E6-39F0-4217-8459-D5EB87DF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05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4835014-D51D-4406-95BA-0005FCB3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f93c2999304d9b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372A1A0-F0DF-48AA-9D2F-C7F1273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1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E0A9DB0-0F68-4395-847B-EA4730EB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f93c2999304d9b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5467211-9FC5-4C0B-AD75-19D88869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Registro do dia em menos de um minuto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C26990C-CE3A-403C-8B63-CED0A727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f93c2999304d9b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71BEFA07-2E04-4A8F-899D-0B5F0F91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2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B587016-E3B7-435F-A6F3-E52516A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f93c2999304d9b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1193DED6-619C-4246-97B4-0CA41A32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Preço acessível, sem funções que o produtor não usa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729B683E-2ABD-4DE3-86D6-592048FB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5442223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CB1BDDD-16C1-49AB-B9BA-B3173452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f93c2999304d9b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B028A14A-196C-4896-8C52-623B36F5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3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BD814F9-72EA-4F0B-80D0-922E678B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f93c2999304d9b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3278BF2B-C8C2-4A5C-B586-9E5BD2CA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Funciona sem internet e sincroniza depois</a:t>
            </a: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021CB594-9637-4C1D-A00A-DAAB545D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8248174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CE9B55B0-0961-4A85-B5E4-14FC916D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f93c2999304d9b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EA318B2C-0DB1-467E-AB82-E6438627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4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DCB14957-2B3A-43D3-9696-59E30ED4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f93c2999304d9b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9AC194FA-C34C-416E-8DD1-78F64DE1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Cresce com o produtor, do Essencial ao Pro</a:t>
            </a:r>
          </a:p>
        </p:txBody>
      </p:sp>
      <p:sp>
        <p:nvSpPr>
          <p:cNvPr id="45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3B0662DC-D7A9-41A1-99DD-0AC51CF1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11054124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40203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B158858-9774-4BCE-A1D0-7566FE7B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6ECBA68-696B-4B6A-94C2-D1EC588A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423D332-0D30-4C79-8BC7-D4782419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9610f9e7244fa9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691C95F-E3AA-4EEC-AD87-CB945912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06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A5B66C4-A559-4033-831E-9F108B77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9610f9e7244fa9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E7FB0C2-06EA-4C96-AB4E-B602D7B9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FUNCIONALIDADE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A9EFBD2-50EA-435F-A558-4A5C626A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10665"/>
            <a:ext cx="4389120" cy="45929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846"/>
              </a:lnSpc>
              <a:buNone/>
            </a:pPr>
            <a:r>
              <a:rPr sz="435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Tudo em cerca de um minuto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70BC98F-AF75-498E-91E9-E8184A5C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9610f9e7244fa9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CEBEA80-1C26-40ED-B220-E182159C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1148363C-C28E-418D-8806-4A42FF28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9610f9e7244fa9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19B6085-8FD8-4CB4-BCE2-330C04A3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06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B60CBC8-68AD-44D0-8A08-C3D6A24F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303020"/>
            <a:ext cx="11223802" cy="548640"/>
          </a:xfrm>
          <a:custGeom xmlns:a="http://schemas.openxmlformats.org/drawingml/2006/main">
            <a:rect l="l" t="t" r="r" b="b"/>
            <a:pathLst>
              <a:path w="14965069" h="731520">
                <a:moveTo>
                  <a:pt x="0" y="0"/>
                </a:moveTo>
                <a:lnTo>
                  <a:pt x="14965069" y="0"/>
                </a:lnTo>
                <a:lnTo>
                  <a:pt x="14965069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9610f9e7244fa9">
              <a:alphaModFix amt="0"/>
            </a:blip>
            <a:stretch>
              <a:fillRect l="0" t="-348615" r="0" b="-348615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EAA78F5-9E78-4E3F-878B-792ABF81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288733"/>
            <a:ext cx="11223803" cy="5629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2100" i="1">
                <a:solidFill>
                  <a:srgbClr val="6B7268"/>
                </a:solidFill>
                <a:latin typeface="Cambria Italics"/>
                <a:ea typeface="Cambria Italics"/>
                <a:cs typeface="Cambria Italics"/>
              </a:rPr>
              <a:t>Uma informação atualiza tudo sozinha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BE1B7B0-FE3A-4EA2-A28F-B788E1DC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60">
            <a:off x="7422204" y="3657410"/>
            <a:ext cx="899811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CA6EE423-5CC7-4A53-B84E-6A1B0B84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5938" y="3223260"/>
            <a:ext cx="1371600" cy="891540"/>
          </a:xfrm>
          <a:custGeom xmlns:a="http://schemas.openxmlformats.org/drawingml/2006/main">
            <a:rect l="l" t="t" r="r" b="b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C6E5C44-B793-44E5-98AD-71623F94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5938" y="3223260"/>
            <a:ext cx="137160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1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14476BF-2D0C-479D-B191-7372F3C6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46520" y="4389120"/>
            <a:ext cx="1970440" cy="1508760"/>
          </a:xfrm>
          <a:custGeom xmlns:a="http://schemas.openxmlformats.org/drawingml/2006/main">
            <a:rect l="l" t="t" r="r" b="b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9610f9e7244fa9">
              <a:alphaModFix amt="0"/>
            </a:blip>
            <a:stretch>
              <a:fillRect l="-48241" t="0" r="-48241" b="0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A79F74ED-F546-42EB-9C07-C17B4ED3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46520" y="4339114"/>
            <a:ext cx="1970437" cy="1558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18"/>
              </a:lnSpc>
              <a:buNone/>
            </a:pPr>
            <a:r>
              <a:rPr sz="17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Toca em 'Registrar meu dia'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90E7AFD-5958-42CA-990B-5CCE08D3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90705" y="3223260"/>
            <a:ext cx="1371600" cy="891540"/>
          </a:xfrm>
          <a:custGeom xmlns:a="http://schemas.openxmlformats.org/drawingml/2006/main">
            <a:rect l="l" t="t" r="r" b="b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6359054B-D5A8-4AE4-B05C-5BA2EFCA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90705" y="3223260"/>
            <a:ext cx="137160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2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F8B3DE92-E1A4-4348-8C83-DD90FD0F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91277" y="4389120"/>
            <a:ext cx="1970440" cy="1508760"/>
          </a:xfrm>
          <a:custGeom xmlns:a="http://schemas.openxmlformats.org/drawingml/2006/main">
            <a:rect l="l" t="t" r="r" b="b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9610f9e7244fa9">
              <a:alphaModFix amt="0"/>
            </a:blip>
            <a:stretch>
              <a:fillRect l="-48241" t="0" r="-48241" b="0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78026B4-4688-462F-A2A8-4700BD0C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91277" y="4339114"/>
            <a:ext cx="1970437" cy="1558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18"/>
              </a:lnSpc>
              <a:buNone/>
            </a:pPr>
            <a:r>
              <a:rPr sz="17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Diz o que plantou, colheu, comprou ou vendeu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46956E9-C8AF-45FF-A95D-0A1B06D7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5461" y="3223260"/>
            <a:ext cx="1371600" cy="891540"/>
          </a:xfrm>
          <a:custGeom xmlns:a="http://schemas.openxmlformats.org/drawingml/2006/main">
            <a:rect l="l" t="t" r="r" b="b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4BCD6E99-F452-46F0-A0AF-459A23C8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5461" y="3223260"/>
            <a:ext cx="137160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3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4CF250B3-34D2-48B7-B7C4-B83C4D1A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6043" y="4389120"/>
            <a:ext cx="1970440" cy="1508760"/>
          </a:xfrm>
          <a:custGeom xmlns:a="http://schemas.openxmlformats.org/drawingml/2006/main">
            <a:rect l="l" t="t" r="r" b="b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9610f9e7244fa9">
              <a:alphaModFix amt="0"/>
            </a:blip>
            <a:stretch>
              <a:fillRect l="-48241" t="0" r="-48241" b="0"/>
            </a:stretch>
          </a:blipFill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AEBF416E-A718-4A84-9870-3BFC9135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6043" y="4339114"/>
            <a:ext cx="1970437" cy="1558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18"/>
              </a:lnSpc>
              <a:buNone/>
            </a:pPr>
            <a:r>
              <a:rPr sz="17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Confirma os valores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9EEC8833-99F1-4954-9C70-1995AFA9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80218" y="3223260"/>
            <a:ext cx="1371600" cy="891540"/>
          </a:xfrm>
          <a:custGeom xmlns:a="http://schemas.openxmlformats.org/drawingml/2006/main">
            <a:rect l="l" t="t" r="r" b="b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CDF4E24-7C9A-4B4B-AAEF-3A5C64E0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80218" y="3223260"/>
            <a:ext cx="137160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4</a:t>
            </a:r>
          </a:p>
        </p:txBody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C9A6C51C-D083-4427-9D6D-1F9E575A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0800" y="4389120"/>
            <a:ext cx="1970440" cy="1508760"/>
          </a:xfrm>
          <a:custGeom xmlns:a="http://schemas.openxmlformats.org/drawingml/2006/main">
            <a:rect l="l" t="t" r="r" b="b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9610f9e7244fa9">
              <a:alphaModFix amt="0"/>
            </a:blip>
            <a:stretch>
              <a:fillRect l="-48241" t="0" r="-48241" b="0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ABE9A1B1-B28E-41F2-A446-791ED24A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0800" y="4339114"/>
            <a:ext cx="1970437" cy="1558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18"/>
              </a:lnSpc>
              <a:buNone/>
            </a:pPr>
            <a:r>
              <a:rPr sz="17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App organiza tudo sozinho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B8B2EA2D-E338-4870-AFEF-9E7EAA26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24984" y="3223260"/>
            <a:ext cx="1371600" cy="891540"/>
          </a:xfrm>
          <a:custGeom xmlns:a="http://schemas.openxmlformats.org/drawingml/2006/main">
            <a:rect l="l" t="t" r="r" b="b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27C7B865-08DC-4759-894A-C1F2E6B6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24984" y="3223260"/>
            <a:ext cx="137160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5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EBCC9A9-4AE8-46C8-9AA4-2B2769EF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25566" y="4389120"/>
            <a:ext cx="1970440" cy="1508760"/>
          </a:xfrm>
          <a:custGeom xmlns:a="http://schemas.openxmlformats.org/drawingml/2006/main">
            <a:rect l="l" t="t" r="r" b="b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9610f9e7244fa9">
              <a:alphaModFix amt="0"/>
            </a:blip>
            <a:stretch>
              <a:fillRect l="-48241" t="0" r="-48241" b="0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59B1808D-81D0-43E4-A1FF-EBE7D210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25566" y="4339114"/>
            <a:ext cx="1970437" cy="1558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18"/>
              </a:lnSpc>
              <a:buNone/>
            </a:pPr>
            <a:r>
              <a:rPr sz="17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Resumo fácil aparece</a:t>
            </a:r>
          </a:p>
        </p:txBody>
      </p:sp>
      <p:sp>
        <p:nvSpPr>
          <p:cNvPr id="53" name="AutoShape 53">
            <a:extLst xmlns:a="http://schemas.openxmlformats.org/drawingml/2006/main">
              <a:ext uri="{FF2B5EF4-FFF2-40B4-BE49-F238E27FC236}">
                <a16:creationId xmlns:a16="http://schemas.microsoft.com/office/drawing/2014/main" id="{21C6DE0F-3A53-47E8-ACAE-CE85D8F9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7058978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BAF25063-A60E-4F4C-99D8-263CF652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406640"/>
            <a:ext cx="11223802" cy="754380"/>
          </a:xfrm>
          <a:custGeom xmlns:a="http://schemas.openxmlformats.org/drawingml/2006/main">
            <a:rect l="l" t="t" r="r" b="b"/>
            <a:pathLst>
              <a:path w="14965069" h="1005840">
                <a:moveTo>
                  <a:pt x="0" y="0"/>
                </a:moveTo>
                <a:lnTo>
                  <a:pt x="14965069" y="0"/>
                </a:lnTo>
                <a:lnTo>
                  <a:pt x="14965069" y="1005840"/>
                </a:lnTo>
                <a:lnTo>
                  <a:pt x="0" y="10058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9610f9e7244fa9">
              <a:alphaModFix amt="0"/>
            </a:blip>
            <a:stretch>
              <a:fillRect l="0" t="-239901" r="0" b="-239901"/>
            </a:stretch>
          </a:blipFill>
        </p:spPr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C4651713-6BAD-45BF-9A5B-7CCF01D3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392353"/>
            <a:ext cx="11223803" cy="7686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610"/>
              </a:lnSpc>
              <a:buNone/>
            </a:pPr>
            <a:r>
              <a:rPr sz="2175" i="1">
                <a:solidFill>
                  <a:srgbClr val="16302A"/>
                </a:solidFill>
                <a:latin typeface="Cambria Italics"/>
                <a:ea typeface="Cambria Italics"/>
                <a:cs typeface="Cambria Italics"/>
              </a:rPr>
              <a:t>Uma única resposta atualiza tarefas, produção, receitas, despesas e histórico.</a:t>
            </a:r>
          </a:p>
        </p:txBody>
      </p:sp>
      <p:sp>
        <p:nvSpPr>
          <p:cNvPr id="57" name="AutoShape 57">
            <a:extLst xmlns:a="http://schemas.openxmlformats.org/drawingml/2006/main">
              <a:ext uri="{FF2B5EF4-FFF2-40B4-BE49-F238E27FC236}">
                <a16:creationId xmlns:a16="http://schemas.microsoft.com/office/drawing/2014/main" id="{173FCB44-85DA-4FEF-9B70-269C869D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8224838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92504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B3653B9-7282-4C9C-B4DA-41196192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47DC3B1-2056-41C1-AE8C-7175FEB0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558CCFE-CB97-46EB-B23F-40113E17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3CF5AD1-C866-4734-9CCC-DEDB6A7F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07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7922C9F-DA0C-49A1-8C0B-A9A71163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D4B1FB8-A0A3-4816-B103-A8F1255D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COMPARATIVO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E8D1377-D832-46C4-BF36-0EDAD5B2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10665"/>
            <a:ext cx="4389120" cy="45929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636"/>
              </a:lnSpc>
              <a:buNone/>
            </a:pPr>
            <a:r>
              <a:rPr sz="345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AgroGestão Pro e outras opções do mercado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745890A5-FBFA-45AB-AA78-98620F9E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FCAF7A7-28F7-48E0-B5C2-E6ED7A35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380A2A7-8FD5-4D9B-AB04-E0DD5D22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910123-5552-42D8-B364-25A73672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07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0B7C882-B834-4F47-AB2C-2036AAD0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371600"/>
            <a:ext cx="3367141" cy="548640"/>
          </a:xfrm>
          <a:custGeom xmlns:a="http://schemas.openxmlformats.org/drawingml/2006/main">
            <a:rect l="l" t="t" r="r" b="b"/>
            <a:pathLst>
              <a:path w="4489522" h="731520">
                <a:moveTo>
                  <a:pt x="0" y="0"/>
                </a:moveTo>
                <a:lnTo>
                  <a:pt x="4489522" y="0"/>
                </a:lnTo>
                <a:lnTo>
                  <a:pt x="448952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69584" r="0" b="-69584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266B6C0-4A1D-4CE3-B2BD-14A66F3A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343025"/>
            <a:ext cx="3367145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buNone/>
            </a:pPr>
            <a:r>
              <a:rPr sz="1725" b="1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Solução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3880828-924B-43C7-A465-49E05C5F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1371600"/>
            <a:ext cx="3591616" cy="548640"/>
          </a:xfrm>
          <a:custGeom xmlns:a="http://schemas.openxmlformats.org/drawingml/2006/main">
            <a:rect l="l" t="t" r="r" b="b"/>
            <a:pathLst>
              <a:path w="4788822" h="731520">
                <a:moveTo>
                  <a:pt x="0" y="0"/>
                </a:moveTo>
                <a:lnTo>
                  <a:pt x="4788822" y="0"/>
                </a:lnTo>
                <a:lnTo>
                  <a:pt x="478882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77556" r="0" b="-77556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2AB22B6-025D-440F-BA0C-2C898F57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1343025"/>
            <a:ext cx="35916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buNone/>
            </a:pPr>
            <a:r>
              <a:rPr sz="1725" b="1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Público-alvo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30A898D-BDE4-4C5D-9F7F-0EDF4112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1371600"/>
            <a:ext cx="2020284" cy="548640"/>
          </a:xfrm>
          <a:custGeom xmlns:a="http://schemas.openxmlformats.org/drawingml/2006/main">
            <a:rect l="l" t="t" r="r" b="b"/>
            <a:pathLst>
              <a:path w="2693712" h="731520">
                <a:moveTo>
                  <a:pt x="0" y="0"/>
                </a:moveTo>
                <a:lnTo>
                  <a:pt x="2693712" y="0"/>
                </a:lnTo>
                <a:lnTo>
                  <a:pt x="269371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21750" r="0" b="-2175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2B7BC15-3113-41A6-98E5-B576823E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1343025"/>
            <a:ext cx="2020281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buNone/>
            </a:pPr>
            <a:r>
              <a:rPr sz="1725" b="1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Adequação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F778D79-C90C-425D-9D04-DF49DDD0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1371600"/>
            <a:ext cx="2244760" cy="548640"/>
          </a:xfrm>
          <a:custGeom xmlns:a="http://schemas.openxmlformats.org/drawingml/2006/main">
            <a:rect l="l" t="t" r="r" b="b"/>
            <a:pathLst>
              <a:path w="2993014" h="731520">
                <a:moveTo>
                  <a:pt x="0" y="0"/>
                </a:moveTo>
                <a:lnTo>
                  <a:pt x="2993014" y="0"/>
                </a:lnTo>
                <a:lnTo>
                  <a:pt x="2993014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29722" r="0" b="-29722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61F157B3-23AD-4428-8424-EDF9A871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1343025"/>
            <a:ext cx="2244757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0"/>
              </a:lnSpc>
              <a:buNone/>
            </a:pPr>
            <a:r>
              <a:rPr sz="1725" b="1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Foco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E4ECD19E-1A70-45CE-AF02-DA103A4A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60">
            <a:off x="6295053" y="1979295"/>
            <a:ext cx="11252416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302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22EE56FA-A43C-487D-85F7-B3A92598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6248" y="2263140"/>
            <a:ext cx="3120253" cy="822960"/>
          </a:xfrm>
          <a:custGeom xmlns:a="http://schemas.openxmlformats.org/drawingml/2006/main">
            <a:rect l="l" t="t" r="r" b="b"/>
            <a:pathLst>
              <a:path w="4160338" h="1097280">
                <a:moveTo>
                  <a:pt x="0" y="0"/>
                </a:moveTo>
                <a:lnTo>
                  <a:pt x="4160338" y="0"/>
                </a:lnTo>
                <a:lnTo>
                  <a:pt x="4160338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23877" r="0" b="-23877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49CF6BBA-0B28-47E9-98AF-65037FB0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6248" y="2248853"/>
            <a:ext cx="3120257" cy="837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2175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AgroGestão Pro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18CF781D-F4C7-44B9-B984-35102C56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2263140"/>
            <a:ext cx="3591616" cy="822960"/>
          </a:xfrm>
          <a:custGeom xmlns:a="http://schemas.openxmlformats.org/drawingml/2006/main">
            <a:rect l="l" t="t" r="r" b="b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35037" r="0" b="-35037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AC6C9CB9-BD16-4166-8B5E-F70F6814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2227422"/>
            <a:ext cx="3591620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Agricultores familiares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1D0DA0E7-28CE-49B2-ACCE-4C3A9C91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2263140"/>
            <a:ext cx="2020284" cy="822960"/>
          </a:xfrm>
          <a:custGeom xmlns:a="http://schemas.openxmlformats.org/drawingml/2006/main">
            <a:rect l="l" t="t" r="r" b="b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-2264" t="0" r="-2264" b="0"/>
            </a:stretch>
          </a:blipFill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381D198E-D4C2-4991-A20A-9BE4B59E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2227422"/>
            <a:ext cx="2020281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Alta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D577C65-8CE0-4116-BEC3-E78D77A6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2263140"/>
            <a:ext cx="2244760" cy="822960"/>
          </a:xfrm>
          <a:custGeom xmlns:a="http://schemas.openxmlformats.org/drawingml/2006/main">
            <a:rect l="l" t="t" r="r" b="b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3148" r="0" b="-3148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F9F57FEA-9E6F-49B0-B281-25EB2010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2227422"/>
            <a:ext cx="2244757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Registro simples + offline</a:t>
            </a:r>
          </a:p>
        </p:txBody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D4F92DB3-83E5-40DE-9474-C82B5C6F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1928" y="2688336"/>
            <a:ext cx="137160" cy="137160"/>
          </a:xfrm>
          <a:custGeom xmlns:a="http://schemas.openxmlformats.org/drawingml/2006/main">
            <a:rect l="l" t="t" r="r" b="b"/>
            <a:pathLst>
              <a:path w="182880" h="182880">
                <a:moveTo>
                  <a:pt x="0" y="91440"/>
                </a:moveTo>
                <a:cubicBezTo>
                  <a:pt x="0" y="40894"/>
                  <a:pt x="40894" y="0"/>
                  <a:pt x="91440" y="0"/>
                </a:cubicBezTo>
                <a:cubicBezTo>
                  <a:pt x="141986" y="0"/>
                  <a:pt x="182880" y="40894"/>
                  <a:pt x="182880" y="91440"/>
                </a:cubicBezTo>
                <a:cubicBezTo>
                  <a:pt x="182880" y="141986"/>
                  <a:pt x="141986" y="182880"/>
                  <a:pt x="91440" y="182880"/>
                </a:cubicBezTo>
                <a:cubicBezTo>
                  <a:pt x="40894" y="182880"/>
                  <a:pt x="0" y="141986"/>
                  <a:pt x="0" y="91440"/>
                </a:cubicBezTo>
                <a:close/>
              </a:path>
            </a:pathLst>
          </a:custGeom>
          <a:solidFill xmlns:a="http://schemas.openxmlformats.org/drawingml/2006/main">
            <a:srgbClr val="A8532E"/>
          </a:solidFill>
        </p:spPr>
      </p:sp>
      <p:sp>
        <p:nvSpPr>
          <p:cNvPr id="46" name="AutoShape 46">
            <a:extLst xmlns:a="http://schemas.openxmlformats.org/drawingml/2006/main">
              <a:ext uri="{FF2B5EF4-FFF2-40B4-BE49-F238E27FC236}">
                <a16:creationId xmlns:a16="http://schemas.microsoft.com/office/drawing/2014/main" id="{672D94B0-2E9D-4BDA-AA91-00721897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3108770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94DDB1C-9866-4949-88AA-3B51CBA2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50692"/>
            <a:ext cx="3367141" cy="822960"/>
          </a:xfrm>
          <a:custGeom xmlns:a="http://schemas.openxmlformats.org/drawingml/2006/main">
            <a:rect l="l" t="t" r="r" b="b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29723" r="0" b="-29723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C8945A1E-6D3B-4A41-83BA-F6DAE8CC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236405"/>
            <a:ext cx="3367145" cy="837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2175">
                <a:solidFill>
                  <a:srgbClr val="20261F"/>
                </a:solidFill>
                <a:latin typeface="Cambria"/>
                <a:ea typeface="Cambria"/>
                <a:cs typeface="Cambria"/>
              </a:rPr>
              <a:t>Aegro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73B61A80-3009-4333-9435-7C3A9A49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3250692"/>
            <a:ext cx="3591616" cy="822960"/>
          </a:xfrm>
          <a:custGeom xmlns:a="http://schemas.openxmlformats.org/drawingml/2006/main">
            <a:rect l="l" t="t" r="r" b="b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35037" r="0" b="-35037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76512E0A-E135-4335-A6AA-82236366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3214974"/>
            <a:ext cx="3591620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Grandes produtores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E92C6BFF-0F6E-43FA-AF88-F4B3FE68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3250692"/>
            <a:ext cx="2020284" cy="822960"/>
          </a:xfrm>
          <a:custGeom xmlns:a="http://schemas.openxmlformats.org/drawingml/2006/main">
            <a:rect l="l" t="t" r="r" b="b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-2264" t="0" r="-2264" b="0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8969924D-1DBD-496E-BDFD-2B6E1EE8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3214974"/>
            <a:ext cx="2020281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Média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6708FDE4-D172-4E7A-B228-7B7AB1A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3250692"/>
            <a:ext cx="2244760" cy="822960"/>
          </a:xfrm>
          <a:custGeom xmlns:a="http://schemas.openxmlformats.org/drawingml/2006/main">
            <a:rect l="l" t="t" r="r" b="b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3148" r="0" b="-3148"/>
            </a:stretch>
          </a:blipFill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B31239BD-7250-411B-8B77-AA864D7B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3214974"/>
            <a:ext cx="2244757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Gestão completa</a:t>
            </a:r>
          </a:p>
        </p:txBody>
      </p:sp>
      <p:sp>
        <p:nvSpPr>
          <p:cNvPr id="59" name="AutoShape 59">
            <a:extLst xmlns:a="http://schemas.openxmlformats.org/drawingml/2006/main">
              <a:ext uri="{FF2B5EF4-FFF2-40B4-BE49-F238E27FC236}">
                <a16:creationId xmlns:a16="http://schemas.microsoft.com/office/drawing/2014/main" id="{24487FBC-D648-4A36-8DC9-AA060590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4096322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14E93EB4-D537-4FEA-AE7F-AC129671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238244"/>
            <a:ext cx="3367141" cy="822960"/>
          </a:xfrm>
          <a:custGeom xmlns:a="http://schemas.openxmlformats.org/drawingml/2006/main">
            <a:rect l="l" t="t" r="r" b="b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29723" r="0" b="-29723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3609F5D7-14E7-4B7F-A58D-3E5A1CB9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223957"/>
            <a:ext cx="3367145" cy="837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2175">
                <a:solidFill>
                  <a:srgbClr val="20261F"/>
                </a:solidFill>
                <a:latin typeface="Cambria"/>
                <a:ea typeface="Cambria"/>
                <a:cs typeface="Cambria"/>
              </a:rPr>
              <a:t>MyFarm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D9BC44AE-27CC-4493-A168-1CBFFA86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4238244"/>
            <a:ext cx="3591616" cy="822960"/>
          </a:xfrm>
          <a:custGeom xmlns:a="http://schemas.openxmlformats.org/drawingml/2006/main">
            <a:rect l="l" t="t" r="r" b="b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35037" r="0" b="-35037"/>
            </a:stretch>
          </a:blip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A8ABC611-7BB5-4EB1-8616-7FA5B9FE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4202526"/>
            <a:ext cx="3591620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Operações complexas</a:t>
            </a:r>
          </a:p>
        </p:txBody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7AECF74F-A5F5-4FAB-AAAA-79AB0328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4238244"/>
            <a:ext cx="2020284" cy="822960"/>
          </a:xfrm>
          <a:custGeom xmlns:a="http://schemas.openxmlformats.org/drawingml/2006/main">
            <a:rect l="l" t="t" r="r" b="b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-2264" t="0" r="-2264" b="0"/>
            </a:stretch>
          </a:blipFill>
        </p:spPr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82F19A93-B95D-4674-9927-A2431D65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4202526"/>
            <a:ext cx="2020281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Média</a:t>
            </a:r>
          </a:p>
        </p:txBody>
      </p:sp>
      <p:sp>
        <p:nvSpPr>
          <p:cNvPr id="7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9CE44FC4-4A22-4E46-A33A-45E0D755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4238244"/>
            <a:ext cx="2244760" cy="822960"/>
          </a:xfrm>
          <a:custGeom xmlns:a="http://schemas.openxmlformats.org/drawingml/2006/main">
            <a:rect l="l" t="t" r="r" b="b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3148" r="0" b="-3148"/>
            </a:stretch>
          </a:blipFill>
        </p:spPr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F600E89F-55F1-4E3E-9224-97725237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4202526"/>
            <a:ext cx="2244757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Múltiplos módulos</a:t>
            </a:r>
          </a:p>
        </p:txBody>
      </p:sp>
      <p:sp>
        <p:nvSpPr>
          <p:cNvPr id="72" name="AutoShape 72">
            <a:extLst xmlns:a="http://schemas.openxmlformats.org/drawingml/2006/main">
              <a:ext uri="{FF2B5EF4-FFF2-40B4-BE49-F238E27FC236}">
                <a16:creationId xmlns:a16="http://schemas.microsoft.com/office/drawing/2014/main" id="{1C427CE7-A226-4D51-8F75-50024E74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80">
            <a:off x="6302216" y="5083874"/>
            <a:ext cx="112381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EEE0F064-4C1A-4B07-B0C7-AB6BEA50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225796"/>
            <a:ext cx="3367141" cy="822960"/>
          </a:xfrm>
          <a:custGeom xmlns:a="http://schemas.openxmlformats.org/drawingml/2006/main">
            <a:rect l="l" t="t" r="r" b="b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29723" r="0" b="-29723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C46D1F88-1A3E-447E-BF0E-B402FD6B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211509"/>
            <a:ext cx="3367145" cy="8372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2175">
                <a:solidFill>
                  <a:srgbClr val="20261F"/>
                </a:solidFill>
                <a:latin typeface="Cambria"/>
                <a:ea typeface="Cambria"/>
                <a:cs typeface="Cambria"/>
              </a:rPr>
              <a:t>FieldView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C4BD892B-4EEF-4667-BBEC-1FD1FAE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5225796"/>
            <a:ext cx="3591616" cy="822960"/>
          </a:xfrm>
          <a:custGeom xmlns:a="http://schemas.openxmlformats.org/drawingml/2006/main">
            <a:rect l="l" t="t" r="r" b="b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35037" r="0" b="-35037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7ABC1271-919D-42E9-94EA-56CC84BF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6505" y="5190078"/>
            <a:ext cx="3591620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Agricultura de precisão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9968B8D7-EFB9-4940-8ED0-C620D37F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5225796"/>
            <a:ext cx="2020284" cy="822960"/>
          </a:xfrm>
          <a:custGeom xmlns:a="http://schemas.openxmlformats.org/drawingml/2006/main">
            <a:rect l="l" t="t" r="r" b="b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-2264" t="0" r="-2264" b="0"/>
            </a:stretch>
          </a:blipFill>
        </p:spPr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393D2746-A1D4-41F3-A070-CECC17FB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68115" y="5190078"/>
            <a:ext cx="2020281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Especializada</a:t>
            </a:r>
          </a:p>
        </p:txBody>
      </p:sp>
      <p:sp>
        <p:nvSpPr>
          <p:cNvPr id="83" name="Freeform 83">
            <a:extLst xmlns:a="http://schemas.openxmlformats.org/drawingml/2006/main">
              <a:ext uri="{FF2B5EF4-FFF2-40B4-BE49-F238E27FC236}">
                <a16:creationId xmlns:a16="http://schemas.microsoft.com/office/drawing/2014/main" id="{F2A9F7BD-ECB3-4C45-918B-E7DF9195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5225796"/>
            <a:ext cx="2244760" cy="822960"/>
          </a:xfrm>
          <a:custGeom xmlns:a="http://schemas.openxmlformats.org/drawingml/2006/main">
            <a:rect l="l" t="t" r="r" b="b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3148" r="0" b="-3148"/>
            </a:stretch>
          </a:blipFill>
        </p:spPr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91B6406E-2627-48C7-9B79-D5001A69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88406" y="5190078"/>
            <a:ext cx="2244757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Mapas e máquinas</a:t>
            </a:r>
          </a:p>
        </p:txBody>
      </p:sp>
      <p:sp>
        <p:nvSpPr>
          <p:cNvPr id="86" name="Freeform 86">
            <a:extLst xmlns:a="http://schemas.openxmlformats.org/drawingml/2006/main">
              <a:ext uri="{FF2B5EF4-FFF2-40B4-BE49-F238E27FC236}">
                <a16:creationId xmlns:a16="http://schemas.microsoft.com/office/drawing/2014/main" id="{F87BB32F-85B2-4D68-AB92-0EF27744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2200" y="6240780"/>
            <a:ext cx="1371600" cy="1234440"/>
          </a:xfrm>
          <a:custGeom xmlns:a="http://schemas.openxmlformats.org/drawingml/2006/main">
            <a:rect l="l" t="t" r="r" b="b"/>
            <a:pathLst>
              <a:path w="1828800" h="1645920">
                <a:moveTo>
                  <a:pt x="0" y="0"/>
                </a:moveTo>
                <a:lnTo>
                  <a:pt x="1828800" y="0"/>
                </a:lnTo>
                <a:lnTo>
                  <a:pt x="1828800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-65473" t="0" r="-65473" b="0"/>
            </a:stretch>
          </a:blipFill>
        </p:spPr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4DC5F51D-16FF-4417-B4C6-013C124F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2200" y="6226493"/>
            <a:ext cx="1371600" cy="12487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0800"/>
              </a:lnSpc>
              <a:buNone/>
            </a:pPr>
            <a:r>
              <a:rPr sz="9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“</a:t>
            </a:r>
          </a:p>
        </p:txBody>
      </p:sp>
      <p:sp>
        <p:nvSpPr>
          <p:cNvPr id="89" name="Freeform 89">
            <a:extLst xmlns:a="http://schemas.openxmlformats.org/drawingml/2006/main">
              <a:ext uri="{FF2B5EF4-FFF2-40B4-BE49-F238E27FC236}">
                <a16:creationId xmlns:a16="http://schemas.microsoft.com/office/drawing/2014/main" id="{2059FBE8-C043-47D3-A763-997FB905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6652260"/>
            <a:ext cx="10400843" cy="1508760"/>
          </a:xfrm>
          <a:custGeom xmlns:a="http://schemas.openxmlformats.org/drawingml/2006/main">
            <a:rect l="l" t="t" r="r" b="b"/>
            <a:pathLst>
              <a:path w="13867791" h="2011680">
                <a:moveTo>
                  <a:pt x="0" y="0"/>
                </a:moveTo>
                <a:lnTo>
                  <a:pt x="13867791" y="0"/>
                </a:lnTo>
                <a:lnTo>
                  <a:pt x="13867791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a428d319a14772">
              <a:alphaModFix amt="0"/>
            </a:blip>
            <a:stretch>
              <a:fillRect l="0" t="-84322" r="0" b="-84322"/>
            </a:stretch>
          </a:blipFill>
        </p:spPr>
      </p:sp>
      <p:sp>
        <p:nvSpPr>
          <p:cNvPr id="90" name="TextBox 90">
            <a:extLst xmlns:a="http://schemas.openxmlformats.org/drawingml/2006/main">
              <a:ext uri="{FF2B5EF4-FFF2-40B4-BE49-F238E27FC236}">
                <a16:creationId xmlns:a16="http://schemas.microsoft.com/office/drawing/2014/main" id="{181EB4F8-257E-42C7-A10E-5E8CFC04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3740" y="6587967"/>
            <a:ext cx="10400843" cy="15730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600"/>
              </a:lnSpc>
              <a:buNone/>
            </a:pPr>
            <a:r>
              <a:rPr sz="2400" i="1">
                <a:solidFill>
                  <a:srgbClr val="16302A"/>
                </a:solidFill>
                <a:latin typeface="Cambria Italics"/>
                <a:ea typeface="Cambria Italics"/>
                <a:cs typeface="Cambria Italics"/>
              </a:rPr>
              <a:t>O AgroGestão Pro não busca ter mais funções. Ele busca ser mais fácil para quem realmente precisa de simplicidade.</a:t>
            </a:r>
          </a:p>
        </p:txBody>
      </p:sp>
    </p:spTree>
    <p:extLst>
      <p:ext uri="{BB962C8B-B14F-4D97-AF65-F5344CB8AC3E}">
        <p14:creationId xmlns:p14="http://schemas.microsoft.com/office/powerpoint/2010/main" val="3954221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875FB-8228-41CE-98A8-8AF4389F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BBAED58-CE44-46A8-A437-7B6EDF8B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6F5BF2D-12B1-4CF7-A0C2-7EFAFA1A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95f2fae6ef42d8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9ABED77-72B9-4D2C-855C-674751FD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08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167D4B1-68BD-433E-8745-9FA8FB11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95f2fae6ef42d8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A631CD6-8224-43E3-89CF-E6E6C21A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MERCADO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390D2FB-51BA-4189-9288-1942C0EF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20190"/>
            <a:ext cx="4389120" cy="4583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032"/>
              </a:lnSpc>
              <a:buNone/>
            </a:pPr>
            <a:r>
              <a:rPr sz="30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Um mercado grande com espaço para uma solução simples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B9E5EB4-0C48-4F27-9E9B-CC23DD07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95f2fae6ef42d8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5108365-43BA-4913-92D0-6AF5F859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7DD4276-49A6-4A02-BAD4-ECB2CE4C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95f2fae6ef42d8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D4448E6-39F0-4217-8459-D5EB87DF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08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4835014-D51D-4406-95BA-0005FCB3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95f2fae6ef42d8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372A1A0-F0DF-48AA-9D2F-C7F1273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1.972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E0A9DB0-0F68-4395-847B-EA4730EB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95f2fae6ef42d8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5467211-9FC5-4C0B-AD75-19D88869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agtechs mapeadas no Brasil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C26990C-CE3A-403C-8B63-CED0A727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95f2fae6ef42d8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71BEFA07-2E04-4A8F-899D-0B5F0F91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80%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B587016-E3B7-435F-A6F3-E52516A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95f2fae6ef42d8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1193DED6-619C-4246-97B4-0CA41A32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5311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adoção no Centro-Oeste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729B683E-2ABD-4DE3-86D6-592048FB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5442223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CB1BDDD-16C1-49AB-B9BA-B3173452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95f2fae6ef42d8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B028A14A-196C-4896-8C52-623B36F5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41%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BD814F9-72EA-4F0B-80D0-922E678B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95f2fae6ef42d8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3278BF2B-C8C2-4A5C-B586-9E5BD2CA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1261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adoção no Nordeste</a:t>
            </a: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021CB594-9637-4C1D-A00A-DAAB545D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8248174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CE9B55B0-0961-4A85-B5E4-14FC916D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1645920"/>
            <a:ext cx="2394471" cy="1234440"/>
          </a:xfrm>
          <a:custGeom xmlns:a="http://schemas.openxmlformats.org/drawingml/2006/main">
            <a:rect l="l" t="t" r="r" b="b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95f2fae6ef42d8">
              <a:alphaModFix amt="0"/>
            </a:blip>
            <a:stretch>
              <a:fillRect l="-16145" t="0" r="-16145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EA318B2C-0DB1-467E-AB82-E6438627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1638777"/>
            <a:ext cx="2394471" cy="12415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200"/>
              </a:lnSpc>
              <a:buNone/>
            </a:pPr>
            <a:r>
              <a:rPr sz="6000" b="1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59%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DCB14957-2B3A-43D3-9696-59E30ED4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3086100"/>
            <a:ext cx="2325891" cy="3566160"/>
          </a:xfrm>
          <a:custGeom xmlns:a="http://schemas.openxmlformats.org/drawingml/2006/main">
            <a:rect l="l" t="t" r="r" b="b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495f2fae6ef42d8">
              <a:alphaModFix amt="0"/>
            </a:blip>
            <a:stretch>
              <a:fillRect l="-146720" t="0" r="-146720" b="0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9AC194FA-C34C-416E-8DD1-78F64DE1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727212" y="3021807"/>
            <a:ext cx="2325891" cy="3630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16"/>
              </a:lnSpc>
              <a:buNone/>
            </a:pPr>
            <a:r>
              <a:rPr sz="2025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espaço ainda não digitalizado no Nordeste</a:t>
            </a:r>
          </a:p>
        </p:txBody>
      </p:sp>
      <p:sp>
        <p:nvSpPr>
          <p:cNvPr id="45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3B0662DC-D7A9-41A1-99DD-0AC51CF1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2980">
            <a:off x="11054124" y="5138738"/>
            <a:ext cx="700946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40203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2EE28A3-734F-4355-A0F6-BE4D6BFD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54980" y="0"/>
            <a:ext cx="12732544" cy="10287000"/>
          </a:xfrm>
          <a:custGeom xmlns:a="http://schemas.openxmlformats.org/drawingml/2006/main">
            <a:rect l="l" t="t" r="r" b="b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06BD55C-A665-4616-ABB2-DADDD1C8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5554980" cy="10287000"/>
          </a:xfrm>
          <a:custGeom xmlns:a="http://schemas.openxmlformats.org/drawingml/2006/main">
            <a:rect l="l" t="t" r="r" b="b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E3E6D8C-0721-4F38-8368-523B41DE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74920"/>
            <a:ext cx="7269480" cy="5623560"/>
          </a:xfrm>
          <a:custGeom xmlns:a="http://schemas.openxmlformats.org/drawingml/2006/main">
            <a:rect l="l" t="t" r="r" b="b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-49253" t="0" r="-49253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BF1AE7F-EB43-408E-8345-D5369F28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54380" y="5067777"/>
            <a:ext cx="7269480" cy="56307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45000"/>
              </a:lnSpc>
              <a:buNone/>
            </a:pPr>
            <a:r>
              <a:rPr sz="375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09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B01F235-4A16-4FD3-8AEC-E8F0B1A5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91540"/>
            <a:ext cx="4389120" cy="548640"/>
          </a:xfrm>
          <a:custGeom xmlns:a="http://schemas.openxmlformats.org/drawingml/2006/main">
            <a:rect l="l" t="t" r="r" b="b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105880" r="0" b="-10588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38F4CFE-E1F1-4A93-9E0A-480C3C98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862965"/>
            <a:ext cx="4389120" cy="5772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PLANOS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7B1D251-73D4-4B58-AEE6-42B7ABE6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" y="1510665"/>
            <a:ext cx="4389120" cy="45929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636"/>
              </a:lnSpc>
              <a:buNone/>
            </a:pPr>
            <a:r>
              <a:rPr sz="345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Começa simples, cresce junto com o produtor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7A1463A-57F8-4D6C-B80B-8ADA0BAA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42348"/>
            <a:ext cx="3566160" cy="411480"/>
          </a:xfrm>
          <a:custGeom xmlns:a="http://schemas.openxmlformats.org/drawingml/2006/main">
            <a:rect l="l" t="t" r="r" b="b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118870" r="0" b="-11887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1DA51CF-3613-4D81-A03E-B7E2302C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" y="9620917"/>
            <a:ext cx="3566160" cy="43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91EB776-174C-484A-99D4-5CA032E8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601200"/>
            <a:ext cx="822960" cy="480060"/>
          </a:xfrm>
          <a:custGeom xmlns:a="http://schemas.openxmlformats.org/drawingml/2006/main">
            <a:rect l="l" t="t" r="r" b="b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-24843" t="0" r="-24843" b="0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7F64D22-BB2E-466B-A189-FE8D7593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89120" y="9579769"/>
            <a:ext cx="822960" cy="501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980"/>
              </a:lnSpc>
              <a:buNone/>
            </a:pPr>
            <a:r>
              <a:rPr sz="1650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09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9A42A32-9D47-4652-A21C-FE69F619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2681" y="1165860"/>
            <a:ext cx="5954839" cy="8435340"/>
          </a:xfrm>
          <a:custGeom xmlns:a="http://schemas.openxmlformats.org/drawingml/2006/main">
            <a:rect l="l" t="t" r="r" b="b"/>
            <a:pathLst>
              <a:path w="7939786" h="11247120">
                <a:moveTo>
                  <a:pt x="0" y="0"/>
                </a:moveTo>
                <a:lnTo>
                  <a:pt x="7939786" y="0"/>
                </a:lnTo>
                <a:lnTo>
                  <a:pt x="7939786" y="11247120"/>
                </a:lnTo>
                <a:lnTo>
                  <a:pt x="0" y="11247120"/>
                </a:lnTo>
                <a:close/>
              </a:path>
            </a:pathLst>
          </a:custGeom>
          <a:solidFill xmlns:a="http://schemas.openxmlformats.org/drawingml/2006/main">
            <a:srgbClr val="F4E6DA"/>
          </a:solidFill>
        </p:spPr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BEBC46A2-46B6-4009-983F-0A458AFB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93880">
            <a:off x="7696438" y="5378768"/>
            <a:ext cx="8038157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896186E-8CA5-4266-A53C-CD28C5AB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371600"/>
            <a:ext cx="4857521" cy="754380"/>
          </a:xfrm>
          <a:custGeom xmlns:a="http://schemas.openxmlformats.org/drawingml/2006/main">
            <a:rect l="l" t="t" r="r" b="b"/>
            <a:pathLst>
              <a:path w="6476696" h="1005840">
                <a:moveTo>
                  <a:pt x="0" y="0"/>
                </a:moveTo>
                <a:lnTo>
                  <a:pt x="6476696" y="0"/>
                </a:lnTo>
                <a:lnTo>
                  <a:pt x="6476696" y="1005840"/>
                </a:lnTo>
                <a:lnTo>
                  <a:pt x="0" y="10058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75465" r="0" b="-75465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3F6AB5D-66F7-4580-8CE3-F406DA1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1357313"/>
            <a:ext cx="4857521" cy="7686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16302A"/>
                </a:solidFill>
                <a:latin typeface="Cambria Bold"/>
                <a:ea typeface="Cambria Bold"/>
                <a:cs typeface="Cambria Bold"/>
              </a:rPr>
              <a:t>Essencial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C6C1DCA2-0E7D-442D-83C7-ED5F1E21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2400300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F734D136-DAA5-4544-9104-1C75BD54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2371725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45C7AF0E-AB99-4C44-9C30-129D8F8A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2400300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4DB361CC-9442-4600-A395-6B8F5870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2364582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Registro do dia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A42480C9-A72D-458B-A760-3B11FD7E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3312547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BED4AB9-6A77-42F1-9405-C912EBE1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399606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14CE1F27-3AC3-4849-ABD8-34F7BDCC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3371031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72E52581-7079-4E8D-9996-D459507E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3399606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F1ED9776-214F-481C-B324-E93E23EF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3363888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Plantações e safras</a:t>
            </a: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56F72A93-82C9-435C-92C1-E236E475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4311863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C044BF9C-A66C-4792-B088-B8ED19A4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398921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CEF082A-EDB3-4992-9F51-B139CD9C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4370346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E182D203-F083-49AE-AA24-AA1B80C7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4398921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3F768A4F-04E1-4DE5-8CAF-E30E97E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4363203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Tarefas</a:t>
            </a:r>
          </a:p>
        </p:txBody>
      </p:sp>
      <p:sp>
        <p:nvSpPr>
          <p:cNvPr id="45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069F3CA1-E183-4ADE-BB50-B2288BD8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5311169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A9439928-6653-4F83-94A5-CF017FB4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398227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54FD2705-0312-4D34-AF0F-C0B03754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5369652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C878CF54-B789-439F-867B-B59C0420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5398227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47F553EA-4A3E-4D21-BB6D-FF570FCB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5362509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Receitas e despesas</a:t>
            </a:r>
          </a:p>
        </p:txBody>
      </p:sp>
      <p:sp>
        <p:nvSpPr>
          <p:cNvPr id="52" name="AutoShape 52">
            <a:extLst xmlns:a="http://schemas.openxmlformats.org/drawingml/2006/main">
              <a:ext uri="{FF2B5EF4-FFF2-40B4-BE49-F238E27FC236}">
                <a16:creationId xmlns:a16="http://schemas.microsoft.com/office/drawing/2014/main" id="{0938F0A6-DA90-454D-BC28-360885CD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6310474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EE5DBE55-7C16-4C76-983F-98E1A700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397533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C7774F2B-FC78-4CDC-B3EB-64AEA088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6368958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A8237DCB-0850-46D9-BB9C-E245EA92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6397533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4F4675E8-C997-4E01-ADFF-A19CDCB0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6361815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Resumos</a:t>
            </a:r>
          </a:p>
        </p:txBody>
      </p:sp>
      <p:sp>
        <p:nvSpPr>
          <p:cNvPr id="59" name="AutoShape 59">
            <a:extLst xmlns:a="http://schemas.openxmlformats.org/drawingml/2006/main">
              <a:ext uri="{FF2B5EF4-FFF2-40B4-BE49-F238E27FC236}">
                <a16:creationId xmlns:a16="http://schemas.microsoft.com/office/drawing/2014/main" id="{F03DD0F4-CF58-48F7-995C-B7B5B3C9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7309780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D3EEE570-B064-48F8-A02F-990EA7A3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396839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DCBD4ED8-6424-4B22-AC37-D2A6FDD4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7368264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D78808F1-8771-4A7E-81A7-5638D6D0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7396839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8BEE393E-2A84-4EB2-ABF2-122D4AC1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7361121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Funciona sem internet</a:t>
            </a:r>
          </a:p>
        </p:txBody>
      </p:sp>
      <p:sp>
        <p:nvSpPr>
          <p:cNvPr id="66" name="AutoShape 66">
            <a:extLst xmlns:a="http://schemas.openxmlformats.org/drawingml/2006/main">
              <a:ext uri="{FF2B5EF4-FFF2-40B4-BE49-F238E27FC236}">
                <a16:creationId xmlns:a16="http://schemas.microsoft.com/office/drawing/2014/main" id="{A0041717-E5F4-402C-ACFE-CD102CCA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6302207" y="8309096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DC6D59F9-8123-4A3B-BB81-C20DA178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8396154"/>
            <a:ext cx="480060" cy="862149"/>
          </a:xfrm>
          <a:custGeom xmlns:a="http://schemas.openxmlformats.org/drawingml/2006/main">
            <a:rect l="l" t="t" r="r" b="b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-180422" t="0" r="-180422" b="0"/>
            </a:stretch>
          </a:blipFill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117D5220-643E-41CB-ADD8-7D118573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9360" y="8367579"/>
            <a:ext cx="480060" cy="890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E3D18D2F-FD45-4B7A-A4D3-6B9E069A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8396154"/>
            <a:ext cx="4583201" cy="862149"/>
          </a:xfrm>
          <a:custGeom xmlns:a="http://schemas.openxmlformats.org/drawingml/2006/main">
            <a:rect l="l" t="t" r="r" b="b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53583" r="0" b="-53582"/>
            </a:stretch>
          </a:blipFill>
        </p:spPr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CAD4B500-BDDE-427D-9FFC-0A1EB420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8360436"/>
            <a:ext cx="4583201" cy="8978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Preço mais acessível</a:t>
            </a:r>
          </a:p>
        </p:txBody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13DF3EC4-0BDC-476C-82D3-08F277A3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1371600"/>
            <a:ext cx="4857521" cy="754380"/>
          </a:xfrm>
          <a:custGeom xmlns:a="http://schemas.openxmlformats.org/drawingml/2006/main">
            <a:rect l="l" t="t" r="r" b="b"/>
            <a:pathLst>
              <a:path w="6476696" h="1005840">
                <a:moveTo>
                  <a:pt x="0" y="0"/>
                </a:moveTo>
                <a:lnTo>
                  <a:pt x="6476696" y="0"/>
                </a:lnTo>
                <a:lnTo>
                  <a:pt x="6476696" y="1005840"/>
                </a:lnTo>
                <a:lnTo>
                  <a:pt x="0" y="10058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75465" r="0" b="-75465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8C7FEE0E-D1B0-4400-8B04-69A0B0E4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1357313"/>
            <a:ext cx="4857521" cy="7686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0"/>
              </a:lnSpc>
              <a:buNone/>
            </a:pPr>
            <a:r>
              <a:rPr sz="3600" b="1">
                <a:solidFill>
                  <a:srgbClr val="16302A"/>
                </a:solidFill>
                <a:latin typeface="Cambria Bold"/>
                <a:ea typeface="Cambria Bold"/>
                <a:cs typeface="Cambria Bold"/>
              </a:rPr>
              <a:t>Pro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9F9A8298-AA55-4436-9261-C96B02C4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2125980"/>
            <a:ext cx="4857521" cy="411480"/>
          </a:xfrm>
          <a:custGeom xmlns:a="http://schemas.openxmlformats.org/drawingml/2006/main">
            <a:rect l="l" t="t" r="r" b="b"/>
            <a:pathLst>
              <a:path w="6476696" h="548640">
                <a:moveTo>
                  <a:pt x="0" y="0"/>
                </a:moveTo>
                <a:lnTo>
                  <a:pt x="6476696" y="0"/>
                </a:lnTo>
                <a:lnTo>
                  <a:pt x="6476696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180020" r="0" b="-180020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E396078F-2063-45A4-9F4D-B061215A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2111693"/>
            <a:ext cx="4857521" cy="425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MAIS COMPLETO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82246993-1272-400A-B823-027C9914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2811780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79874B78-42BD-4B8B-9C61-89C5E046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2783205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83" name="Freeform 83">
            <a:extLst xmlns:a="http://schemas.openxmlformats.org/drawingml/2006/main">
              <a:ext uri="{FF2B5EF4-FFF2-40B4-BE49-F238E27FC236}">
                <a16:creationId xmlns:a16="http://schemas.microsoft.com/office/drawing/2014/main" id="{4D03CC70-7467-4ACA-8A22-25002974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2811780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F136B800-AEBF-47AC-998B-5A0D7CCF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2776062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Várias propriedades</a:t>
            </a:r>
          </a:p>
        </p:txBody>
      </p:sp>
      <p:sp>
        <p:nvSpPr>
          <p:cNvPr id="85" name="AutoShape 85">
            <a:extLst xmlns:a="http://schemas.openxmlformats.org/drawingml/2006/main">
              <a:ext uri="{FF2B5EF4-FFF2-40B4-BE49-F238E27FC236}">
                <a16:creationId xmlns:a16="http://schemas.microsoft.com/office/drawing/2014/main" id="{389155F9-A0B0-48B3-962A-7AF75D65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3665249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7" name="Freeform 87">
            <a:extLst xmlns:a="http://schemas.openxmlformats.org/drawingml/2006/main">
              <a:ext uri="{FF2B5EF4-FFF2-40B4-BE49-F238E27FC236}">
                <a16:creationId xmlns:a16="http://schemas.microsoft.com/office/drawing/2014/main" id="{952CE14C-62C7-4398-9567-58DCB458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3752307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7CE951A7-D627-453E-998A-79324AFA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3723732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90" name="Freeform 90">
            <a:extLst xmlns:a="http://schemas.openxmlformats.org/drawingml/2006/main">
              <a:ext uri="{FF2B5EF4-FFF2-40B4-BE49-F238E27FC236}">
                <a16:creationId xmlns:a16="http://schemas.microsoft.com/office/drawing/2014/main" id="{1667F2EF-C0FF-4BA5-ADFA-08E62908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3752307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528730D4-3476-45F8-8326-4C1C20F5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3716589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Funcionários</a:t>
            </a:r>
          </a:p>
        </p:txBody>
      </p:sp>
      <p:sp>
        <p:nvSpPr>
          <p:cNvPr id="92" name="AutoShape 92">
            <a:extLst xmlns:a="http://schemas.openxmlformats.org/drawingml/2006/main">
              <a:ext uri="{FF2B5EF4-FFF2-40B4-BE49-F238E27FC236}">
                <a16:creationId xmlns:a16="http://schemas.microsoft.com/office/drawing/2014/main" id="{0B1E14AE-BA0B-4BD6-AE9C-E7D799D2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4605776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4" name="Freeform 94">
            <a:extLst xmlns:a="http://schemas.openxmlformats.org/drawingml/2006/main">
              <a:ext uri="{FF2B5EF4-FFF2-40B4-BE49-F238E27FC236}">
                <a16:creationId xmlns:a16="http://schemas.microsoft.com/office/drawing/2014/main" id="{7CF1FA5A-F6A8-4C66-97C3-9F278B0B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4692834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95" name="TextBox 95">
            <a:extLst xmlns:a="http://schemas.openxmlformats.org/drawingml/2006/main">
              <a:ext uri="{FF2B5EF4-FFF2-40B4-BE49-F238E27FC236}">
                <a16:creationId xmlns:a16="http://schemas.microsoft.com/office/drawing/2014/main" id="{1221C06C-A074-4BF8-A6C7-3A2C23C9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4664259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97" name="Freeform 97">
            <a:extLst xmlns:a="http://schemas.openxmlformats.org/drawingml/2006/main">
              <a:ext uri="{FF2B5EF4-FFF2-40B4-BE49-F238E27FC236}">
                <a16:creationId xmlns:a16="http://schemas.microsoft.com/office/drawing/2014/main" id="{BA901D7F-C31C-44E9-9804-8933D4A9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4692834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B52EF519-7537-4BB6-9972-298E135E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4657116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Estoque</a:t>
            </a:r>
          </a:p>
        </p:txBody>
      </p:sp>
      <p:sp>
        <p:nvSpPr>
          <p:cNvPr id="99" name="AutoShape 99">
            <a:extLst xmlns:a="http://schemas.openxmlformats.org/drawingml/2006/main">
              <a:ext uri="{FF2B5EF4-FFF2-40B4-BE49-F238E27FC236}">
                <a16:creationId xmlns:a16="http://schemas.microsoft.com/office/drawing/2014/main" id="{E4BE2F5A-65BA-4171-A355-B50922C0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5546303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1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C7566D22-BBDA-4A81-B7D8-DBE9C1AA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5633361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C7A16830-7CEB-4D2D-852F-F79F4F9A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5604786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104" name="Freeform 104">
            <a:extLst xmlns:a="http://schemas.openxmlformats.org/drawingml/2006/main">
              <a:ext uri="{FF2B5EF4-FFF2-40B4-BE49-F238E27FC236}">
                <a16:creationId xmlns:a16="http://schemas.microsoft.com/office/drawing/2014/main" id="{B5284C4C-1BCD-43B2-ADBE-D206086F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5633361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105" name="TextBox 105">
            <a:extLst xmlns:a="http://schemas.openxmlformats.org/drawingml/2006/main">
              <a:ext uri="{FF2B5EF4-FFF2-40B4-BE49-F238E27FC236}">
                <a16:creationId xmlns:a16="http://schemas.microsoft.com/office/drawing/2014/main" id="{79DBCA30-CFF0-431D-89BA-19761C7B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5597643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Custos detalhados</a:t>
            </a:r>
          </a:p>
        </p:txBody>
      </p:sp>
      <p:sp>
        <p:nvSpPr>
          <p:cNvPr id="106" name="AutoShape 106">
            <a:extLst xmlns:a="http://schemas.openxmlformats.org/drawingml/2006/main">
              <a:ext uri="{FF2B5EF4-FFF2-40B4-BE49-F238E27FC236}">
                <a16:creationId xmlns:a16="http://schemas.microsoft.com/office/drawing/2014/main" id="{09B51124-C82E-43A5-9A29-603A571D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6486820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8" name="Freeform 108">
            <a:extLst xmlns:a="http://schemas.openxmlformats.org/drawingml/2006/main">
              <a:ext uri="{FF2B5EF4-FFF2-40B4-BE49-F238E27FC236}">
                <a16:creationId xmlns:a16="http://schemas.microsoft.com/office/drawing/2014/main" id="{DF618674-E754-4381-8C4C-4840A4C0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6573879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10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280A2428-0965-42C8-BDF1-9D925C0D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6545304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111" name="Freeform 111">
            <a:extLst xmlns:a="http://schemas.openxmlformats.org/drawingml/2006/main">
              <a:ext uri="{FF2B5EF4-FFF2-40B4-BE49-F238E27FC236}">
                <a16:creationId xmlns:a16="http://schemas.microsoft.com/office/drawing/2014/main" id="{75E73101-909E-41F3-BE7A-5826BE01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6573879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112" name="TextBox 112">
            <a:extLst xmlns:a="http://schemas.openxmlformats.org/drawingml/2006/main">
              <a:ext uri="{FF2B5EF4-FFF2-40B4-BE49-F238E27FC236}">
                <a16:creationId xmlns:a16="http://schemas.microsoft.com/office/drawing/2014/main" id="{024DF028-EC3E-4607-8680-41C76990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6538161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Relatórios avançados</a:t>
            </a:r>
          </a:p>
        </p:txBody>
      </p:sp>
      <p:sp>
        <p:nvSpPr>
          <p:cNvPr id="113" name="AutoShape 113">
            <a:extLst xmlns:a="http://schemas.openxmlformats.org/drawingml/2006/main">
              <a:ext uri="{FF2B5EF4-FFF2-40B4-BE49-F238E27FC236}">
                <a16:creationId xmlns:a16="http://schemas.microsoft.com/office/drawing/2014/main" id="{7402F31D-CDD5-4088-9180-6F9E9107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7427347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5" name="Freeform 115">
            <a:extLst xmlns:a="http://schemas.openxmlformats.org/drawingml/2006/main">
              <a:ext uri="{FF2B5EF4-FFF2-40B4-BE49-F238E27FC236}">
                <a16:creationId xmlns:a16="http://schemas.microsoft.com/office/drawing/2014/main" id="{FF1EFD05-C783-42CC-808D-582DD044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7514406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116" name="TextBox 116">
            <a:extLst xmlns:a="http://schemas.openxmlformats.org/drawingml/2006/main">
              <a:ext uri="{FF2B5EF4-FFF2-40B4-BE49-F238E27FC236}">
                <a16:creationId xmlns:a16="http://schemas.microsoft.com/office/drawing/2014/main" id="{5F0A39DF-F477-4577-8A9C-585422F1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7485831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118" name="Freeform 118">
            <a:extLst xmlns:a="http://schemas.openxmlformats.org/drawingml/2006/main">
              <a:ext uri="{FF2B5EF4-FFF2-40B4-BE49-F238E27FC236}">
                <a16:creationId xmlns:a16="http://schemas.microsoft.com/office/drawing/2014/main" id="{0070366E-9BD2-45E8-A6D1-FF00B58C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7514406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119" name="TextBox 119">
            <a:extLst xmlns:a="http://schemas.openxmlformats.org/drawingml/2006/main">
              <a:ext uri="{FF2B5EF4-FFF2-40B4-BE49-F238E27FC236}">
                <a16:creationId xmlns:a16="http://schemas.microsoft.com/office/drawing/2014/main" id="{27FC93A1-DF9B-4E45-9907-DE5EC552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7478688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Compartilhar com técnico/contador</a:t>
            </a:r>
          </a:p>
        </p:txBody>
      </p:sp>
      <p:sp>
        <p:nvSpPr>
          <p:cNvPr id="120" name="AutoShape 120">
            <a:extLst xmlns:a="http://schemas.openxmlformats.org/drawingml/2006/main">
              <a:ext uri="{FF2B5EF4-FFF2-40B4-BE49-F238E27FC236}">
                <a16:creationId xmlns:a16="http://schemas.microsoft.com/office/drawing/2014/main" id="{CE2B8F81-7D96-4B31-B868-90C893DC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080">
            <a:off x="12257008" y="8367874"/>
            <a:ext cx="4871828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2" name="Freeform 122">
            <a:extLst xmlns:a="http://schemas.openxmlformats.org/drawingml/2006/main">
              <a:ext uri="{FF2B5EF4-FFF2-40B4-BE49-F238E27FC236}">
                <a16:creationId xmlns:a16="http://schemas.microsoft.com/office/drawing/2014/main" id="{521B7804-885D-492F-B948-DD95AC70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8454933"/>
            <a:ext cx="480060" cy="803365"/>
          </a:xfrm>
          <a:custGeom xmlns:a="http://schemas.openxmlformats.org/drawingml/2006/main">
            <a:rect l="l" t="t" r="r" b="b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-164712" t="0" r="-164712" b="0"/>
            </a:stretch>
          </a:blipFill>
        </p:spPr>
      </p:sp>
      <p:sp>
        <p:nvSpPr>
          <p:cNvPr id="123" name="TextBox 123">
            <a:extLst xmlns:a="http://schemas.openxmlformats.org/drawingml/2006/main">
              <a:ext uri="{FF2B5EF4-FFF2-40B4-BE49-F238E27FC236}">
                <a16:creationId xmlns:a16="http://schemas.microsoft.com/office/drawing/2014/main" id="{BA9FBBB4-E27D-46CF-A124-5FAAC513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4161" y="8426358"/>
            <a:ext cx="480060" cy="831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875" b="1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</a:p>
        </p:txBody>
      </p:sp>
      <p:sp>
        <p:nvSpPr>
          <p:cNvPr id="125" name="Freeform 125">
            <a:extLst xmlns:a="http://schemas.openxmlformats.org/drawingml/2006/main">
              <a:ext uri="{FF2B5EF4-FFF2-40B4-BE49-F238E27FC236}">
                <a16:creationId xmlns:a16="http://schemas.microsoft.com/office/drawing/2014/main" id="{E3084248-6DA2-4FF3-BEA5-472A38D8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8454933"/>
            <a:ext cx="4583201" cy="803365"/>
          </a:xfrm>
          <a:custGeom xmlns:a="http://schemas.openxmlformats.org/drawingml/2006/main">
            <a:rect l="l" t="t" r="r" b="b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9b959ff4f543ff">
              <a:alphaModFix amt="0"/>
            </a:blip>
            <a:stretch>
              <a:fillRect l="0" t="-61162" r="0" b="-61162"/>
            </a:stretch>
          </a:blipFill>
        </p:spPr>
      </p:sp>
      <p:sp>
        <p:nvSpPr>
          <p:cNvPr id="126" name="TextBox 126">
            <a:extLst xmlns:a="http://schemas.openxmlformats.org/drawingml/2006/main">
              <a:ext uri="{FF2B5EF4-FFF2-40B4-BE49-F238E27FC236}">
                <a16:creationId xmlns:a16="http://schemas.microsoft.com/office/drawing/2014/main" id="{0A91EA80-F432-4BFE-9ED1-168B3E42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2801" y="8419215"/>
            <a:ext cx="4583201" cy="839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0"/>
              </a:lnSpc>
              <a:buNone/>
            </a:pPr>
            <a:r>
              <a:rPr sz="1950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Futuras integrações</a:t>
            </a:r>
          </a:p>
        </p:txBody>
      </p:sp>
    </p:spTree>
    <p:extLst>
      <p:ext uri="{BB962C8B-B14F-4D97-AF65-F5344CB8AC3E}">
        <p14:creationId xmlns:p14="http://schemas.microsoft.com/office/powerpoint/2010/main" val="14458801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7ABC260-99DA-44D6-B505-CC87F1EB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7523" cy="10287000"/>
          </a:xfrm>
          <a:custGeom xmlns:a="http://schemas.openxmlformats.org/drawingml/2006/main">
            <a:rect l="l" t="t" r="r" b="b"/>
            <a:pathLst>
              <a:path w="24383364" h="13716000">
                <a:moveTo>
                  <a:pt x="0" y="0"/>
                </a:moveTo>
                <a:lnTo>
                  <a:pt x="24383364" y="0"/>
                </a:lnTo>
                <a:lnTo>
                  <a:pt x="24383364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A6FE5AC-7E09-48BC-93B2-169D3A1F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194560" y="2743200"/>
            <a:ext cx="8503920" cy="7818120"/>
          </a:xfrm>
          <a:custGeom xmlns:a="http://schemas.openxmlformats.org/drawingml/2006/main">
            <a:rect l="l" t="t" r="r" b="b"/>
            <a:pathLst>
              <a:path w="11338560" h="10424160">
                <a:moveTo>
                  <a:pt x="0" y="0"/>
                </a:moveTo>
                <a:lnTo>
                  <a:pt x="11338560" y="0"/>
                </a:lnTo>
                <a:lnTo>
                  <a:pt x="11338560" y="10424160"/>
                </a:lnTo>
                <a:lnTo>
                  <a:pt x="0" y="104241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1adf73c3fc443d2">
              <a:alphaModFix amt="0"/>
            </a:blip>
            <a:stretch>
              <a:fillRect l="-67956" t="0" r="-67956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B3A1B0A-19D2-4BFC-83BD-A09E55B7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194560" y="2728913"/>
            <a:ext cx="8503920" cy="7832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lnSpc>
                <a:spcPts val="54000"/>
              </a:lnSpc>
              <a:buNone/>
            </a:pPr>
            <a:r>
              <a:rPr sz="45000" b="1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10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93E80B50-2235-47AB-BB22-BDB02D19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7760" y="3703320"/>
            <a:ext cx="12344400" cy="2606040"/>
          </a:xfrm>
          <a:custGeom xmlns:a="http://schemas.openxmlformats.org/drawingml/2006/main">
            <a:rect l="l" t="t" r="r" b="b"/>
            <a:pathLst>
              <a:path w="16459200" h="3474720">
                <a:moveTo>
                  <a:pt x="0" y="0"/>
                </a:moveTo>
                <a:lnTo>
                  <a:pt x="16459200" y="0"/>
                </a:lnTo>
                <a:lnTo>
                  <a:pt x="16459200" y="3474720"/>
                </a:lnTo>
                <a:lnTo>
                  <a:pt x="0" y="34747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1adf73c3fc443d2">
              <a:alphaModFix amt="0"/>
            </a:blip>
            <a:stretch>
              <a:fillRect l="0" t="-42297" r="0" b="-42297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70598EA-7DEC-4A33-939A-CE45617C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7760" y="3646170"/>
            <a:ext cx="12344400" cy="2663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524"/>
              </a:lnSpc>
              <a:buNone/>
            </a:pPr>
            <a:r>
              <a:rPr sz="57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Menos complexidade.</a:t>
            </a:r>
          </a:p>
          <a:p xmlns:a="http://schemas.openxmlformats.org/drawingml/2006/main">
            <a:pPr algn="l">
              <a:lnSpc>
                <a:spcPts val="7524"/>
              </a:lnSpc>
              <a:buNone/>
            </a:pPr>
            <a:r>
              <a:rPr sz="5700" b="1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Mais controle da propriedade.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3C5BC96-572B-4379-A475-098C894E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6340" y="6240780"/>
            <a:ext cx="11384279" cy="822960"/>
          </a:xfrm>
          <a:custGeom xmlns:a="http://schemas.openxmlformats.org/drawingml/2006/main">
            <a:rect l="l" t="t" r="r" b="b"/>
            <a:pathLst>
              <a:path w="15179039" h="1097280">
                <a:moveTo>
                  <a:pt x="0" y="0"/>
                </a:moveTo>
                <a:lnTo>
                  <a:pt x="15179039" y="0"/>
                </a:lnTo>
                <a:lnTo>
                  <a:pt x="15179039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1adf73c3fc443d2">
              <a:alphaModFix amt="0"/>
            </a:blip>
            <a:stretch>
              <a:fillRect l="0" t="-219543" r="0" b="-219543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97C6991-BB6E-42AC-8F1B-EAB000BF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6340" y="6205062"/>
            <a:ext cx="11384280" cy="8586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90"/>
              </a:lnSpc>
              <a:buNone/>
            </a:pPr>
            <a:r>
              <a:rPr sz="2325">
                <a:solidFill>
                  <a:srgbClr val="C9D6CB"/>
                </a:solidFill>
                <a:latin typeface="Calibri (MS)"/>
                <a:ea typeface="Calibri (MS)"/>
                <a:cs typeface="Calibri (MS)"/>
              </a:rPr>
              <a:t>O AgroGestão Pro começa simples e cresce junto com o produtor.</a:t>
            </a:r>
          </a:p>
        </p:txBody>
      </p:sp>
    </p:spTree>
    <p:extLst>
      <p:ext uri="{BB962C8B-B14F-4D97-AF65-F5344CB8AC3E}">
        <p14:creationId xmlns:p14="http://schemas.microsoft.com/office/powerpoint/2010/main" val="15199784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2026-08-10T20:55:47.4900000Z</dcterms:created>
  <dcterms:modified xsi:type="dcterms:W3CDTF">2026-08-10T20:55:47.4900000Z</dcterms:modified>
</coreProperties>
</file>