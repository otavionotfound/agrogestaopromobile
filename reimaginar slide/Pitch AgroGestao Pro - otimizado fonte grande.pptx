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12.xml" ContentType="application/vnd.openxmlformats-officedocument.theme+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embedTrueTypeFonts="1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8288000" cy="10287000"/>
  <p:notesSz cx="6858000" cy="9144000"/>
  <p:embeddedFontLst>
    <p:embeddedFont>
      <p:font typeface="Cambria Bold"/>
    </p:embeddedFont>
    <p:embeddedFont>
      <p:font typeface="Cambria Italics"/>
    </p:embeddedFont>
    <p:embeddedFont>
      <p:font typeface="Calibri (MS) Bold"/>
    </p:embeddedFont>
    <p:embeddedFont>
      <p:font typeface="Calibri (MS)"/>
      <p:regular r:id="rId14"/>
      <p:bold r:id="rId14"/>
    </p:embeddedFont>
  </p:embeddedFontLst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font" Target="fonts/Font_1_Calibri_(MS)_Regular.fntdata"/><Relationship Id="rId15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 defTabSz="914400"/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mover o slide</a:t>
            </a:r>
            <a:endParaRPr lang="pt-BR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notas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&lt;cabeçalho&gt;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213293DF-4050-4E22-8EB5-DD2F9A10595A}" type="slidenum"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&lt;número&gt;</a:t>
            </a:fld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4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1" name="PlaceHolder 3"/>
          <p:cNvSpPr>
            <a:spLocks noGrp="1"/>
          </p:cNvSpPr>
          <p:nvPr>
            <p:ph type="sldNum" idx="3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4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4" name="PlaceHolder 3"/>
          <p:cNvSpPr>
            <a:spLocks noGrp="1"/>
          </p:cNvSpPr>
          <p:nvPr>
            <p:ph type="sldNum" idx="3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4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7" name="PlaceHolder 3"/>
          <p:cNvSpPr>
            <a:spLocks noGrp="1"/>
          </p:cNvSpPr>
          <p:nvPr>
            <p:ph type="sldNum" idx="3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4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0" name="PlaceHolder 3"/>
          <p:cNvSpPr>
            <a:spLocks noGrp="1"/>
          </p:cNvSpPr>
          <p:nvPr>
            <p:ph type="sldNum" idx="4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5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3" name="PlaceHolder 3"/>
          <p:cNvSpPr>
            <a:spLocks noGrp="1"/>
          </p:cNvSpPr>
          <p:nvPr>
            <p:ph type="sldNum" idx="4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5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6" name="PlaceHolder 3"/>
          <p:cNvSpPr>
            <a:spLocks noGrp="1"/>
          </p:cNvSpPr>
          <p:nvPr>
            <p:ph type="sldNum" idx="4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5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9" name="PlaceHolder 3"/>
          <p:cNvSpPr>
            <a:spLocks noGrp="1"/>
          </p:cNvSpPr>
          <p:nvPr>
            <p:ph type="sldNum" idx="43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6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[Sources]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https://www.infoteca.cnptia.embrapa.br/infoteca/handle/doc/1184214 (Radar Agtech Brasil 2024: 1.972 agtechs mapeadas)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https://cdlcampina.org.br/2025/02/03/oportunidades-e-desafios-tecnologicos-no-agronegocio-em-2025/ (80% Centro-Oeste; 41% Nordeste)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- 59% é inferência aritmética: 100% - 41%.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[/Sources]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2" name="PlaceHolder 3"/>
          <p:cNvSpPr>
            <a:spLocks noGrp="1"/>
          </p:cNvSpPr>
          <p:nvPr>
            <p:ph type="sldNum" idx="4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6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5" name="PlaceHolder 3"/>
          <p:cNvSpPr>
            <a:spLocks noGrp="1"/>
          </p:cNvSpPr>
          <p:nvPr>
            <p:ph type="sldNum" idx="4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6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8" name="PlaceHolder 3"/>
          <p:cNvSpPr>
            <a:spLocks noGrp="1"/>
          </p:cNvSpPr>
          <p:nvPr>
            <p:ph type="sldNum" idx="4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Click to edit Master title style</a:t>
            </a:r>
            <a:endParaRPr lang="pt-BR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pt-BR" sz="24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pt-BR" sz="24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Click to edit Master text styles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marL="343080" indent="-34308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1pPr>
            <a:lvl2pPr marL="743040" indent="-28584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2pPr>
            <a:lvl3pPr marL="1143000" indent="-228600" algn="l" defTabSz="9144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3pPr>
            <a:lvl4pPr marL="1600200" indent="-228600" algn="l" defTabSz="914400">
              <a:lnSpc>
                <a:spcPct val="100000"/>
              </a:lnSpc>
              <a:spcBef>
                <a:spcPts val="320"/>
              </a:spcBef>
              <a:buNone/>
              <a:tabLst>
                <a:tab pos="0" algn="l"/>
              </a:tabLst>
              <a:defRPr lang="pt-BR" sz="16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4pPr>
            <a:lvl5pPr marL="2057400" indent="-228600" algn="l" defTabSz="914400">
              <a:lnSpc>
                <a:spcPct val="100000"/>
              </a:lnSpc>
              <a:spcBef>
                <a:spcPts val="320"/>
              </a:spcBef>
              <a:buNone/>
              <a:tabLst>
                <a:tab pos="0" algn="l"/>
              </a:tabLst>
              <a:defRPr lang="pt-BR" sz="16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Click to edit Master text styles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indent="-28584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Second level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indent="-228600" algn="l" defTabSz="9144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Third level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indent="-228600" algn="l" defTabSz="914400">
              <a:lnSpc>
                <a:spcPct val="100000"/>
              </a:lnSpc>
              <a:spcBef>
                <a:spcPts val="320"/>
              </a:spcBef>
              <a:buNone/>
              <a:tabLst>
                <a:tab pos="0" algn="l"/>
              </a:tabLst>
            </a:pPr>
            <a:r>
              <a:rPr lang="pt-BR" sz="16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Fourth level</a:t>
            </a:r>
            <a:endParaRPr lang="pt-BR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indent="-228600" algn="l" defTabSz="914400">
              <a:lnSpc>
                <a:spcPct val="100000"/>
              </a:lnSpc>
              <a:spcBef>
                <a:spcPts val="320"/>
              </a:spcBef>
              <a:buNone/>
              <a:tabLst>
                <a:tab pos="0" algn="l"/>
              </a:tabLst>
            </a:pPr>
            <a:r>
              <a:rPr lang="pt-BR" sz="16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Fifth level</a:t>
            </a:r>
            <a:endParaRPr lang="pt-BR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pt-BR" sz="24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pt-BR" sz="24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Click to edit Master text styles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marL="343080" indent="-34308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1pPr>
            <a:lvl2pPr marL="743040" indent="-28584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2pPr>
            <a:lvl3pPr marL="1143000" indent="-228600" algn="l" defTabSz="9144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3pPr>
            <a:lvl4pPr marL="1600200" indent="-228600" algn="l" defTabSz="914400">
              <a:lnSpc>
                <a:spcPct val="100000"/>
              </a:lnSpc>
              <a:spcBef>
                <a:spcPts val="320"/>
              </a:spcBef>
              <a:buNone/>
              <a:tabLst>
                <a:tab pos="0" algn="l"/>
              </a:tabLst>
              <a:defRPr lang="pt-BR" sz="16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4pPr>
            <a:lvl5pPr marL="2057400" indent="-228600" algn="l" defTabSz="914400">
              <a:lnSpc>
                <a:spcPct val="100000"/>
              </a:lnSpc>
              <a:spcBef>
                <a:spcPts val="320"/>
              </a:spcBef>
              <a:buNone/>
              <a:tabLst>
                <a:tab pos="0" algn="l"/>
              </a:tabLst>
              <a:defRPr lang="pt-BR" sz="16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Click to edit Master text styles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indent="-28584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Second level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indent="-228600" algn="l" defTabSz="9144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Third level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indent="-228600" algn="l" defTabSz="914400">
              <a:lnSpc>
                <a:spcPct val="100000"/>
              </a:lnSpc>
              <a:spcBef>
                <a:spcPts val="320"/>
              </a:spcBef>
              <a:buNone/>
              <a:tabLst>
                <a:tab pos="0" algn="l"/>
              </a:tabLst>
            </a:pPr>
            <a:r>
              <a:rPr lang="pt-BR" sz="16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Fourth level</a:t>
            </a:r>
            <a:endParaRPr lang="pt-BR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indent="-228600" algn="l" defTabSz="914400">
              <a:lnSpc>
                <a:spcPct val="100000"/>
              </a:lnSpc>
              <a:spcBef>
                <a:spcPts val="320"/>
              </a:spcBef>
              <a:buNone/>
              <a:tabLst>
                <a:tab pos="0" algn="l"/>
              </a:tabLst>
            </a:pPr>
            <a:r>
              <a:rPr lang="pt-BR" sz="16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Fifth level</a:t>
            </a:r>
            <a:endParaRPr lang="pt-BR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 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7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BF676D85-49C3-4BF0-8996-0E8D9F4CD78E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8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Click to edit Master title style</a:t>
            </a:r>
            <a:endParaRPr lang="pt-BR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 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4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B2A87BA-8C87-4B13-80B5-0D5A52A7EB22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8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Click to edit Master title style</a:t>
            </a:r>
            <a:endParaRPr lang="pt-BR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marL="343080" indent="-343080" algn="l" defTabSz="9144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1pPr>
            <a:lvl2pPr marL="743040" indent="-285840" algn="l" defTabSz="914400">
              <a:lnSpc>
                <a:spcPct val="100000"/>
              </a:lnSpc>
              <a:spcBef>
                <a:spcPts val="561"/>
              </a:spcBef>
              <a:buNone/>
              <a:tabLst>
                <a:tab pos="0" algn="l"/>
              </a:tabLst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2pPr>
            <a:lvl3pPr marL="1143000" indent="-22860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3pPr>
            <a:lvl4pPr marL="1600200" indent="-22860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4pPr>
            <a:lvl5pPr marL="2057400" indent="-22860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Click to edit Master text styles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indent="-285840" algn="l" defTabSz="914400">
              <a:lnSpc>
                <a:spcPct val="100000"/>
              </a:lnSpc>
              <a:spcBef>
                <a:spcPts val="561"/>
              </a:spcBef>
              <a:buNone/>
              <a:tabLst>
                <a:tab pos="0" algn="l"/>
              </a:tabLst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Second level</a:t>
            </a:r>
            <a:endParaRPr lang="pt-BR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indent="-22860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Third level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indent="-22860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Fourth level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indent="-22860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Fifth level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 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5D6E86D-D212-4E57-B311-1FF0FCEAAA4A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8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Click to edit Master title style</a:t>
            </a:r>
            <a:endParaRPr lang="pt-BR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marL="343080" indent="-343080" algn="l" defTabSz="9144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1pPr>
            <a:lvl2pPr marL="743040" indent="-285840" algn="l" defTabSz="914400">
              <a:lnSpc>
                <a:spcPct val="100000"/>
              </a:lnSpc>
              <a:spcBef>
                <a:spcPts val="561"/>
              </a:spcBef>
              <a:buNone/>
              <a:tabLst>
                <a:tab pos="0" algn="l"/>
              </a:tabLst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2pPr>
            <a:lvl3pPr marL="1143000" indent="-22860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3pPr>
            <a:lvl4pPr marL="1600200" indent="-22860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4pPr>
            <a:lvl5pPr marL="2057400" indent="-22860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Click to edit Master text styles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indent="-285840" algn="l" defTabSz="914400">
              <a:lnSpc>
                <a:spcPct val="100000"/>
              </a:lnSpc>
              <a:spcBef>
                <a:spcPts val="561"/>
              </a:spcBef>
              <a:buNone/>
              <a:tabLst>
                <a:tab pos="0" algn="l"/>
              </a:tabLst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Second level</a:t>
            </a:r>
            <a:endParaRPr lang="pt-BR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indent="-22860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Third level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indent="-22860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Fourth level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indent="-22860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Fifth level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 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F11F59A3-06CD-499C-B713-2BE65D1C34B4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8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 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28F9FF5-036C-4FE5-A780-485391661302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8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914400">
              <a:buNone/>
              <a:def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buNone/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do texto do título</a:t>
            </a:r>
            <a:endParaRPr lang="pt-BR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body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9144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de texto dos tópicos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2.º nível de tópicos</a:t>
            </a:r>
            <a:endParaRPr lang="pt-BR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3.º nível de tópicos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4.º nível de tópicos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5.º nível de tópicos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6.º nível de tópicos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7.º nível de tópicos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Click to edit Master title style</a:t>
            </a:r>
            <a:endParaRPr lang="pt-BR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marL="343080" indent="-343080" algn="l" defTabSz="9144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1pPr>
            <a:lvl2pPr marL="743040" indent="-285840" algn="l" defTabSz="914400">
              <a:lnSpc>
                <a:spcPct val="100000"/>
              </a:lnSpc>
              <a:spcBef>
                <a:spcPts val="561"/>
              </a:spcBef>
              <a:buNone/>
              <a:tabLst>
                <a:tab pos="0" algn="l"/>
              </a:tabLst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2pPr>
            <a:lvl3pPr marL="1143000" indent="-22860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3pPr>
            <a:lvl4pPr marL="1600200" indent="-22860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4pPr>
            <a:lvl5pPr marL="2057400" indent="-22860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Click to edit Master text styles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indent="-285840" algn="l" defTabSz="914400">
              <a:lnSpc>
                <a:spcPct val="100000"/>
              </a:lnSpc>
              <a:spcBef>
                <a:spcPts val="561"/>
              </a:spcBef>
              <a:buNone/>
              <a:tabLst>
                <a:tab pos="0" algn="l"/>
              </a:tabLst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Second level</a:t>
            </a:r>
            <a:endParaRPr lang="pt-BR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indent="-22860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Third level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indent="-22860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Fourth level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indent="-22860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Fifth level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BA0D6AE-5D21-43FC-BDC9-D34D573F70DA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Click to edit Master title style</a:t>
            </a:r>
            <a:endParaRPr lang="pt-BR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FEF91A66-B470-4560-BBDC-DD2C20C1FDB4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Click to edit Master title style</a:t>
            </a:r>
            <a:endParaRPr lang="pt-BR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marL="343080" indent="-343080" algn="l" defTabSz="914400">
              <a:lnSpc>
                <a:spcPct val="100000"/>
              </a:lnSpc>
              <a:spcBef>
                <a:spcPts val="561"/>
              </a:spcBef>
              <a:buNone/>
              <a:tabLst>
                <a:tab pos="0" algn="l"/>
              </a:tabLst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1pPr>
            <a:lvl2pPr marL="743040" indent="-28584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2pPr>
            <a:lvl3pPr marL="1143000" indent="-22860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3pPr>
            <a:lvl4pPr marL="1600200" indent="-228600" algn="l" defTabSz="9144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4pPr>
            <a:lvl5pPr marL="2057400" indent="-228600" algn="l" defTabSz="9144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None/>
              <a:tabLst>
                <a:tab pos="0" algn="l"/>
              </a:tabLst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Click to edit Master text styles</a:t>
            </a:r>
            <a:endParaRPr lang="pt-BR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indent="-28584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Second level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indent="-22860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Third level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indent="-228600" algn="l" defTabSz="9144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Fourth level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indent="-228600" algn="l" defTabSz="9144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Fifth level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marL="343080" indent="-343080" algn="l" defTabSz="914400">
              <a:lnSpc>
                <a:spcPct val="100000"/>
              </a:lnSpc>
              <a:spcBef>
                <a:spcPts val="561"/>
              </a:spcBef>
              <a:buNone/>
              <a:tabLst>
                <a:tab pos="0" algn="l"/>
              </a:tabLst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1pPr>
            <a:lvl2pPr marL="743040" indent="-28584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2pPr>
            <a:lvl3pPr marL="1143000" indent="-22860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3pPr>
            <a:lvl4pPr marL="1600200" indent="-228600" algn="l" defTabSz="9144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4pPr>
            <a:lvl5pPr marL="2057400" indent="-228600" algn="l" defTabSz="9144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None/>
              <a:tabLst>
                <a:tab pos="0" algn="l"/>
              </a:tabLst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Click to edit Master text styles</a:t>
            </a:r>
            <a:endParaRPr lang="pt-BR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indent="-28584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Second level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indent="-22860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Third level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indent="-228600" algn="l" defTabSz="9144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Fourth level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indent="-228600" algn="l" defTabSz="9144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Fifth level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4EDBBBF-62DA-41FA-87A2-3BE1EC0374FB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pt-BR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pt-BR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Click to edit Master title style</a:t>
            </a:r>
            <a:endParaRPr lang="pt-BR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pt-BR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pt-BR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Calibri"/>
              </a:rPr>
              <a:t>Click to edit Master text styles</a:t>
            </a:r>
            <a:endParaRPr lang="pt-BR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C0702D5E-6A63-407A-8B56-0E4930536B5C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pt-BR" sz="20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pt-BR" sz="20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Click to edit Master title style</a:t>
            </a:r>
            <a:endParaRPr lang="pt-BR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9144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de texto dos tópicos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2.º nível de tópicos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3.º nível de tópicos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4.º nível de tópicos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5.º nível de tópicos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6.º nível de tópicos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7.º nível de tópicos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pt-BR" sz="1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Click to edit Master text styles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CA47D43-F4FA-4581-BAF6-6D5A12521E4C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pt-BR" sz="20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pt-BR" sz="20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Click to edit Master title style</a:t>
            </a:r>
            <a:endParaRPr lang="pt-BR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marL="343080" indent="-343080" algn="l" defTabSz="9144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1pPr>
            <a:lvl2pPr marL="743040" indent="-285840" algn="l" defTabSz="914400">
              <a:lnSpc>
                <a:spcPct val="100000"/>
              </a:lnSpc>
              <a:spcBef>
                <a:spcPts val="561"/>
              </a:spcBef>
              <a:buNone/>
              <a:tabLst>
                <a:tab pos="0" algn="l"/>
              </a:tabLst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2pPr>
            <a:lvl3pPr marL="1143000" indent="-22860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3pPr>
            <a:lvl4pPr marL="1600200" indent="-22860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4pPr>
            <a:lvl5pPr marL="2057400" indent="-22860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Click to edit Master text styles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indent="-285840" algn="l" defTabSz="914400">
              <a:lnSpc>
                <a:spcPct val="100000"/>
              </a:lnSpc>
              <a:spcBef>
                <a:spcPts val="561"/>
              </a:spcBef>
              <a:buNone/>
              <a:tabLst>
                <a:tab pos="0" algn="l"/>
              </a:tabLst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Second level</a:t>
            </a:r>
            <a:endParaRPr lang="pt-BR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indent="-22860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Third level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indent="-22860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Fourth level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indent="-22860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Fifth level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pt-BR" sz="1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Click to edit Master text styles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E275ECA-CA0E-4142-9508-5A672327A365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5.png"/><Relationship Id="rId10" Type="http://schemas.openxmlformats.org/officeDocument/2006/relationships/image" Target="../media/image6.png"/><Relationship Id="rId11" Type="http://schemas.openxmlformats.org/officeDocument/2006/relationships/image" Target="../media/image5.png"/><Relationship Id="rId12" Type="http://schemas.openxmlformats.org/officeDocument/2006/relationships/image" Target="../media/image6.png"/><Relationship Id="rId13" Type="http://schemas.openxmlformats.org/officeDocument/2006/relationships/slideLayout" Target="../slideLayouts/slideLayout5.xml"/><Relationship Id="rId14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image" Target="../media/image10.png"/><Relationship Id="rId9" Type="http://schemas.openxmlformats.org/officeDocument/2006/relationships/image" Target="../media/image11.png"/><Relationship Id="rId10" Type="http://schemas.openxmlformats.org/officeDocument/2006/relationships/image" Target="../media/image10.png"/><Relationship Id="rId11" Type="http://schemas.openxmlformats.org/officeDocument/2006/relationships/image" Target="../media/image12.png"/><Relationship Id="rId12" Type="http://schemas.openxmlformats.org/officeDocument/2006/relationships/image" Target="../media/image11.png"/><Relationship Id="rId13" Type="http://schemas.openxmlformats.org/officeDocument/2006/relationships/slideLayout" Target="../slideLayouts/slideLayout5.xml"/><Relationship Id="rId14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Relationship Id="rId8" Type="http://schemas.openxmlformats.org/officeDocument/2006/relationships/image" Target="../media/image16.png"/><Relationship Id="rId9" Type="http://schemas.openxmlformats.org/officeDocument/2006/relationships/image" Target="../media/image15.png"/><Relationship Id="rId10" Type="http://schemas.openxmlformats.org/officeDocument/2006/relationships/image" Target="../media/image16.png"/><Relationship Id="rId11" Type="http://schemas.openxmlformats.org/officeDocument/2006/relationships/image" Target="../media/image15.png"/><Relationship Id="rId12" Type="http://schemas.openxmlformats.org/officeDocument/2006/relationships/image" Target="../media/image16.png"/><Relationship Id="rId13" Type="http://schemas.openxmlformats.org/officeDocument/2006/relationships/slideLayout" Target="../slideLayouts/slideLayout5.xml"/><Relationship Id="rId14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17.png"/><Relationship Id="rId8" Type="http://schemas.openxmlformats.org/officeDocument/2006/relationships/image" Target="../media/image18.png"/><Relationship Id="rId9" Type="http://schemas.openxmlformats.org/officeDocument/2006/relationships/image" Target="../media/image17.png"/><Relationship Id="rId10" Type="http://schemas.openxmlformats.org/officeDocument/2006/relationships/image" Target="../media/image18.png"/><Relationship Id="rId11" Type="http://schemas.openxmlformats.org/officeDocument/2006/relationships/image" Target="../media/image17.png"/><Relationship Id="rId12" Type="http://schemas.openxmlformats.org/officeDocument/2006/relationships/image" Target="../media/image18.png"/><Relationship Id="rId13" Type="http://schemas.openxmlformats.org/officeDocument/2006/relationships/slideLayout" Target="../slideLayouts/slideLayout5.xml"/><Relationship Id="rId14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19.png"/><Relationship Id="rId8" Type="http://schemas.openxmlformats.org/officeDocument/2006/relationships/image" Target="../media/image20.png"/><Relationship Id="rId9" Type="http://schemas.openxmlformats.org/officeDocument/2006/relationships/image" Target="../media/image19.png"/><Relationship Id="rId10" Type="http://schemas.openxmlformats.org/officeDocument/2006/relationships/image" Target="../media/image20.png"/><Relationship Id="rId11" Type="http://schemas.openxmlformats.org/officeDocument/2006/relationships/image" Target="../media/image19.png"/><Relationship Id="rId12" Type="http://schemas.openxmlformats.org/officeDocument/2006/relationships/image" Target="../media/image20.png"/><Relationship Id="rId13" Type="http://schemas.openxmlformats.org/officeDocument/2006/relationships/slideLayout" Target="../slideLayouts/slideLayout5.xml"/><Relationship Id="rId14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22.png"/><Relationship Id="rId8" Type="http://schemas.openxmlformats.org/officeDocument/2006/relationships/image" Target="../media/image22.png"/><Relationship Id="rId9" Type="http://schemas.openxmlformats.org/officeDocument/2006/relationships/image" Target="../media/image22.png"/><Relationship Id="rId10" Type="http://schemas.openxmlformats.org/officeDocument/2006/relationships/image" Target="../media/image22.png"/><Relationship Id="rId11" Type="http://schemas.openxmlformats.org/officeDocument/2006/relationships/image" Target="../media/image23.png"/><Relationship Id="rId12" Type="http://schemas.openxmlformats.org/officeDocument/2006/relationships/slideLayout" Target="../slideLayouts/slideLayout5.xml"/><Relationship Id="rId1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Relationship Id="rId7" Type="http://schemas.openxmlformats.org/officeDocument/2006/relationships/image" Target="../media/image26.png"/><Relationship Id="rId8" Type="http://schemas.openxmlformats.org/officeDocument/2006/relationships/image" Target="../media/image27.png"/><Relationship Id="rId9" Type="http://schemas.openxmlformats.org/officeDocument/2006/relationships/image" Target="../media/image28.png"/><Relationship Id="rId10" Type="http://schemas.openxmlformats.org/officeDocument/2006/relationships/image" Target="../media/image29.png"/><Relationship Id="rId11" Type="http://schemas.openxmlformats.org/officeDocument/2006/relationships/image" Target="../media/image30.png"/><Relationship Id="rId12" Type="http://schemas.openxmlformats.org/officeDocument/2006/relationships/image" Target="../media/image31.png"/><Relationship Id="rId13" Type="http://schemas.openxmlformats.org/officeDocument/2006/relationships/image" Target="../media/image27.png"/><Relationship Id="rId14" Type="http://schemas.openxmlformats.org/officeDocument/2006/relationships/image" Target="../media/image29.png"/><Relationship Id="rId15" Type="http://schemas.openxmlformats.org/officeDocument/2006/relationships/image" Target="../media/image30.png"/><Relationship Id="rId16" Type="http://schemas.openxmlformats.org/officeDocument/2006/relationships/image" Target="../media/image31.png"/><Relationship Id="rId17" Type="http://schemas.openxmlformats.org/officeDocument/2006/relationships/image" Target="../media/image27.png"/><Relationship Id="rId18" Type="http://schemas.openxmlformats.org/officeDocument/2006/relationships/image" Target="../media/image29.png"/><Relationship Id="rId19" Type="http://schemas.openxmlformats.org/officeDocument/2006/relationships/image" Target="../media/image30.png"/><Relationship Id="rId20" Type="http://schemas.openxmlformats.org/officeDocument/2006/relationships/image" Target="../media/image31.png"/><Relationship Id="rId21" Type="http://schemas.openxmlformats.org/officeDocument/2006/relationships/image" Target="../media/image27.png"/><Relationship Id="rId22" Type="http://schemas.openxmlformats.org/officeDocument/2006/relationships/image" Target="../media/image29.png"/><Relationship Id="rId23" Type="http://schemas.openxmlformats.org/officeDocument/2006/relationships/image" Target="../media/image30.png"/><Relationship Id="rId24" Type="http://schemas.openxmlformats.org/officeDocument/2006/relationships/image" Target="../media/image31.png"/><Relationship Id="rId25" Type="http://schemas.openxmlformats.org/officeDocument/2006/relationships/image" Target="../media/image32.png"/><Relationship Id="rId26" Type="http://schemas.openxmlformats.org/officeDocument/2006/relationships/image" Target="../media/image11.png"/><Relationship Id="rId27" Type="http://schemas.openxmlformats.org/officeDocument/2006/relationships/slideLayout" Target="../slideLayouts/slideLayout5.xml"/><Relationship Id="rId28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19.png"/><Relationship Id="rId8" Type="http://schemas.openxmlformats.org/officeDocument/2006/relationships/image" Target="../media/image20.png"/><Relationship Id="rId9" Type="http://schemas.openxmlformats.org/officeDocument/2006/relationships/image" Target="../media/image19.png"/><Relationship Id="rId10" Type="http://schemas.openxmlformats.org/officeDocument/2006/relationships/image" Target="../media/image20.png"/><Relationship Id="rId11" Type="http://schemas.openxmlformats.org/officeDocument/2006/relationships/image" Target="../media/image19.png"/><Relationship Id="rId12" Type="http://schemas.openxmlformats.org/officeDocument/2006/relationships/image" Target="../media/image20.png"/><Relationship Id="rId13" Type="http://schemas.openxmlformats.org/officeDocument/2006/relationships/slideLayout" Target="../slideLayouts/slideLayout5.xml"/><Relationship Id="rId14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33.png"/><Relationship Id="rId6" Type="http://schemas.openxmlformats.org/officeDocument/2006/relationships/image" Target="../media/image34.png"/><Relationship Id="rId7" Type="http://schemas.openxmlformats.org/officeDocument/2006/relationships/image" Target="../media/image35.png"/><Relationship Id="rId8" Type="http://schemas.openxmlformats.org/officeDocument/2006/relationships/image" Target="../media/image34.png"/><Relationship Id="rId9" Type="http://schemas.openxmlformats.org/officeDocument/2006/relationships/image" Target="../media/image35.png"/><Relationship Id="rId10" Type="http://schemas.openxmlformats.org/officeDocument/2006/relationships/image" Target="../media/image34.png"/><Relationship Id="rId11" Type="http://schemas.openxmlformats.org/officeDocument/2006/relationships/image" Target="../media/image35.png"/><Relationship Id="rId12" Type="http://schemas.openxmlformats.org/officeDocument/2006/relationships/image" Target="../media/image34.png"/><Relationship Id="rId13" Type="http://schemas.openxmlformats.org/officeDocument/2006/relationships/image" Target="../media/image35.png"/><Relationship Id="rId14" Type="http://schemas.openxmlformats.org/officeDocument/2006/relationships/image" Target="../media/image34.png"/><Relationship Id="rId15" Type="http://schemas.openxmlformats.org/officeDocument/2006/relationships/image" Target="../media/image35.png"/><Relationship Id="rId16" Type="http://schemas.openxmlformats.org/officeDocument/2006/relationships/image" Target="../media/image34.png"/><Relationship Id="rId17" Type="http://schemas.openxmlformats.org/officeDocument/2006/relationships/image" Target="../media/image35.png"/><Relationship Id="rId18" Type="http://schemas.openxmlformats.org/officeDocument/2006/relationships/image" Target="../media/image34.png"/><Relationship Id="rId19" Type="http://schemas.openxmlformats.org/officeDocument/2006/relationships/image" Target="../media/image35.png"/><Relationship Id="rId20" Type="http://schemas.openxmlformats.org/officeDocument/2006/relationships/image" Target="../media/image33.png"/><Relationship Id="rId21" Type="http://schemas.openxmlformats.org/officeDocument/2006/relationships/image" Target="../media/image36.png"/><Relationship Id="rId22" Type="http://schemas.openxmlformats.org/officeDocument/2006/relationships/image" Target="../media/image37.png"/><Relationship Id="rId23" Type="http://schemas.openxmlformats.org/officeDocument/2006/relationships/image" Target="../media/image38.png"/><Relationship Id="rId24" Type="http://schemas.openxmlformats.org/officeDocument/2006/relationships/image" Target="../media/image37.png"/><Relationship Id="rId25" Type="http://schemas.openxmlformats.org/officeDocument/2006/relationships/image" Target="../media/image38.png"/><Relationship Id="rId26" Type="http://schemas.openxmlformats.org/officeDocument/2006/relationships/image" Target="../media/image37.png"/><Relationship Id="rId27" Type="http://schemas.openxmlformats.org/officeDocument/2006/relationships/image" Target="../media/image38.png"/><Relationship Id="rId28" Type="http://schemas.openxmlformats.org/officeDocument/2006/relationships/image" Target="../media/image37.png"/><Relationship Id="rId29" Type="http://schemas.openxmlformats.org/officeDocument/2006/relationships/image" Target="../media/image38.png"/><Relationship Id="rId30" Type="http://schemas.openxmlformats.org/officeDocument/2006/relationships/image" Target="../media/image37.png"/><Relationship Id="rId31" Type="http://schemas.openxmlformats.org/officeDocument/2006/relationships/image" Target="../media/image38.png"/><Relationship Id="rId32" Type="http://schemas.openxmlformats.org/officeDocument/2006/relationships/image" Target="../media/image37.png"/><Relationship Id="rId33" Type="http://schemas.openxmlformats.org/officeDocument/2006/relationships/image" Target="../media/image38.png"/><Relationship Id="rId34" Type="http://schemas.openxmlformats.org/officeDocument/2006/relationships/image" Target="../media/image37.png"/><Relationship Id="rId35" Type="http://schemas.openxmlformats.org/officeDocument/2006/relationships/image" Target="../media/image38.png"/><Relationship Id="rId36" Type="http://schemas.openxmlformats.org/officeDocument/2006/relationships/slideLayout" Target="../slideLayouts/slideLayout5.xml"/><Relationship Id="rId37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39.png"/><Relationship Id="rId2" Type="http://schemas.openxmlformats.org/officeDocument/2006/relationships/image" Target="../media/image40.png"/><Relationship Id="rId3" Type="http://schemas.openxmlformats.org/officeDocument/2006/relationships/image" Target="../media/image41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1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Freeform 3"/>
          <p:cNvSpPr/>
          <p:nvPr/>
        </p:nvSpPr>
        <p:spPr>
          <a:xfrm>
            <a:off x="0" y="0"/>
            <a:ext cx="18287280" cy="10286640"/>
          </a:xfrm>
          <a:custGeom>
            <a:avLst/>
            <a:gdLst>
              <a:gd name="textAreaLeft" fmla="*/ 0 w 18287280"/>
              <a:gd name="textAreaRight" fmla="*/ 18287640 w 18287280"/>
              <a:gd name="textAreaTop" fmla="*/ 0 h 10286640"/>
              <a:gd name="textAreaBottom" fmla="*/ 10287000 h 10286640"/>
            </a:gdLst>
            <a:ahLst/>
            <a:cxnLst/>
            <a:rect l="textAreaLeft" t="textAreaTop" r="textAreaRight" b="textAreaBottom"/>
            <a:pathLst>
              <a:path w="24383364" h="13716000">
                <a:moveTo>
                  <a:pt x="0" y="0"/>
                </a:moveTo>
                <a:lnTo>
                  <a:pt x="24383364" y="0"/>
                </a:lnTo>
                <a:lnTo>
                  <a:pt x="24383364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1630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TextBox 4"/>
          <p:cNvSpPr/>
          <p:nvPr/>
        </p:nvSpPr>
        <p:spPr>
          <a:xfrm>
            <a:off x="10835640" y="-1802160"/>
            <a:ext cx="8503560" cy="715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>
              <a:lnSpc>
                <a:spcPts val="54000"/>
              </a:lnSpc>
            </a:pPr>
            <a:r>
              <a:rPr lang="pt-BR" sz="45000" b="1" u="none" strike="noStrike">
                <a:solidFill>
                  <a:srgbClr val="224539"/>
                </a:solidFill>
                <a:effectLst/>
                <a:uFillTx/>
                <a:latin typeface="Cambria Bold"/>
                <a:ea typeface="Cambria Bold"/>
              </a:rPr>
              <a:t>01</a:t>
            </a:r>
            <a:endParaRPr lang="pt-BR" sz="45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Freeform 6"/>
          <p:cNvSpPr/>
          <p:nvPr/>
        </p:nvSpPr>
        <p:spPr>
          <a:xfrm>
            <a:off x="1234440" y="6240960"/>
            <a:ext cx="12344040" cy="479880"/>
          </a:xfrm>
          <a:custGeom>
            <a:avLst/>
            <a:gdLst>
              <a:gd name="textAreaLeft" fmla="*/ 0 w 12344040"/>
              <a:gd name="textAreaRight" fmla="*/ 12344400 w 12344040"/>
              <a:gd name="textAreaTop" fmla="*/ 0 h 479880"/>
              <a:gd name="textAreaBottom" fmla="*/ 480240 h 479880"/>
            </a:gdLst>
            <a:ahLst/>
            <a:cxnLst/>
            <a:rect l="textAreaLeft" t="textAreaTop" r="textAreaRight" b="textAreaBottom"/>
            <a:pathLst>
              <a:path w="16459200" h="640080">
                <a:moveTo>
                  <a:pt x="0" y="0"/>
                </a:moveTo>
                <a:lnTo>
                  <a:pt x="16459200" y="0"/>
                </a:lnTo>
                <a:lnTo>
                  <a:pt x="16459200" y="640080"/>
                </a:lnTo>
                <a:lnTo>
                  <a:pt x="0" y="640080"/>
                </a:lnTo>
                <a:close/>
              </a:path>
            </a:pathLst>
          </a:custGeom>
          <a:blipFill rotWithShape="0">
            <a:blip r:embed="rId1">
              <a:alphaModFix amt="0"/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Box 7"/>
          <p:cNvSpPr/>
          <p:nvPr/>
        </p:nvSpPr>
        <p:spPr>
          <a:xfrm>
            <a:off x="1234440" y="6219360"/>
            <a:ext cx="1234404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ts val="1981"/>
              </a:lnSpc>
            </a:pPr>
            <a:r>
              <a:rPr lang="pt-BR" sz="1650" b="1" u="none" strike="noStrike">
                <a:solidFill>
                  <a:srgbClr val="A8532E"/>
                </a:solidFill>
                <a:effectLst/>
                <a:uFillTx/>
                <a:latin typeface="Calibri (MS) Bold"/>
                <a:ea typeface="Calibri (MS) Bold"/>
              </a:rPr>
              <a:t>PITCH DECK · CURSO TÉCNICO EM DESENVOLVIMENTO DE SISTEMAS</a:t>
            </a:r>
            <a:endParaRPr lang="pt-BR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Freeform 9"/>
          <p:cNvSpPr/>
          <p:nvPr/>
        </p:nvSpPr>
        <p:spPr>
          <a:xfrm>
            <a:off x="1166040" y="6720840"/>
            <a:ext cx="15087240" cy="1440000"/>
          </a:xfrm>
          <a:custGeom>
            <a:avLst/>
            <a:gdLst>
              <a:gd name="textAreaLeft" fmla="*/ 0 w 15087240"/>
              <a:gd name="textAreaRight" fmla="*/ 15087600 w 15087240"/>
              <a:gd name="textAreaTop" fmla="*/ 0 h 1440000"/>
              <a:gd name="textAreaBottom" fmla="*/ 1440360 h 1440000"/>
            </a:gdLst>
            <a:ahLst/>
            <a:cxnLst/>
            <a:rect l="textAreaLeft" t="textAreaTop" r="textAreaRight" b="textAreaBottom"/>
            <a:pathLst>
              <a:path w="20116800" h="1920240">
                <a:moveTo>
                  <a:pt x="0" y="0"/>
                </a:moveTo>
                <a:lnTo>
                  <a:pt x="20116800" y="0"/>
                </a:lnTo>
                <a:lnTo>
                  <a:pt x="20116800" y="1920240"/>
                </a:lnTo>
                <a:lnTo>
                  <a:pt x="0" y="1920240"/>
                </a:lnTo>
                <a:close/>
              </a:path>
            </a:pathLst>
          </a:custGeom>
          <a:blipFill rotWithShape="0">
            <a:blip r:embed="rId2">
              <a:alphaModFix amt="0"/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Box 10"/>
          <p:cNvSpPr/>
          <p:nvPr/>
        </p:nvSpPr>
        <p:spPr>
          <a:xfrm>
            <a:off x="1166040" y="6706440"/>
            <a:ext cx="15087240" cy="145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ts val="10800"/>
              </a:lnSpc>
            </a:pPr>
            <a:r>
              <a:rPr lang="pt-BR" sz="9000" b="1" u="none" strike="noStrike">
                <a:solidFill>
                  <a:srgbClr val="FFFFFF"/>
                </a:solidFill>
                <a:effectLst/>
                <a:uFillTx/>
                <a:latin typeface="Cambria Bold"/>
                <a:ea typeface="Cambria Bold"/>
              </a:rPr>
              <a:t>AgroGestão Pro</a:t>
            </a:r>
            <a:endParaRPr lang="pt-BR" sz="9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Freeform 12"/>
          <p:cNvSpPr/>
          <p:nvPr/>
        </p:nvSpPr>
        <p:spPr>
          <a:xfrm>
            <a:off x="1234440" y="8229600"/>
            <a:ext cx="10423800" cy="959760"/>
          </a:xfrm>
          <a:custGeom>
            <a:avLst/>
            <a:gdLst>
              <a:gd name="textAreaLeft" fmla="*/ 0 w 10423800"/>
              <a:gd name="textAreaRight" fmla="*/ 10424160 w 10423800"/>
              <a:gd name="textAreaTop" fmla="*/ 0 h 959760"/>
              <a:gd name="textAreaBottom" fmla="*/ 960120 h 959760"/>
            </a:gdLst>
            <a:ahLst/>
            <a:cxnLst/>
            <a:rect l="textAreaLeft" t="textAreaTop" r="textAreaRight" b="textAreaBottom"/>
            <a:pathLst>
              <a:path w="13898880" h="1280160">
                <a:moveTo>
                  <a:pt x="0" y="0"/>
                </a:moveTo>
                <a:lnTo>
                  <a:pt x="13898880" y="0"/>
                </a:lnTo>
                <a:lnTo>
                  <a:pt x="13898880" y="1280160"/>
                </a:lnTo>
                <a:lnTo>
                  <a:pt x="0" y="1280160"/>
                </a:lnTo>
                <a:close/>
              </a:path>
            </a:pathLst>
          </a:custGeom>
          <a:blipFill rotWithShape="0">
            <a:blip r:embed="rId3">
              <a:alphaModFix amt="0"/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Box 13"/>
          <p:cNvSpPr/>
          <p:nvPr/>
        </p:nvSpPr>
        <p:spPr>
          <a:xfrm>
            <a:off x="1234440" y="8179560"/>
            <a:ext cx="10423800" cy="100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ts val="3240"/>
              </a:lnSpc>
            </a:pPr>
            <a:r>
              <a:rPr lang="pt-BR" sz="2320" b="0" i="1" u="none" strike="noStrike">
                <a:solidFill>
                  <a:srgbClr val="C9D6CB"/>
                </a:solidFill>
                <a:effectLst/>
                <a:uFillTx/>
                <a:latin typeface="Cambria Italics"/>
                <a:ea typeface="Cambria Italics"/>
              </a:rPr>
              <a:t>“Gestão rural sem complicação.” Simples para começar e preparado para crescer junto com o produtor.</a:t>
            </a:r>
            <a:endParaRPr lang="pt-BR" sz="2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Freeform 15"/>
          <p:cNvSpPr/>
          <p:nvPr/>
        </p:nvSpPr>
        <p:spPr>
          <a:xfrm>
            <a:off x="13098960" y="5966640"/>
            <a:ext cx="4114440" cy="411120"/>
          </a:xfrm>
          <a:custGeom>
            <a:avLst/>
            <a:gdLst>
              <a:gd name="textAreaLeft" fmla="*/ 0 w 4114440"/>
              <a:gd name="textAreaRight" fmla="*/ 4114800 w 4114440"/>
              <a:gd name="textAreaTop" fmla="*/ 0 h 411120"/>
              <a:gd name="textAreaBottom" fmla="*/ 411480 h 411120"/>
            </a:gdLst>
            <a:ahLst/>
            <a:cxnLst/>
            <a:rect l="textAreaLeft" t="textAreaTop" r="textAreaRight" b="textAreaBottom"/>
            <a:pathLst>
              <a:path w="5486400" h="548640">
                <a:moveTo>
                  <a:pt x="0" y="0"/>
                </a:moveTo>
                <a:lnTo>
                  <a:pt x="5486400" y="0"/>
                </a:lnTo>
                <a:lnTo>
                  <a:pt x="5486400" y="548640"/>
                </a:lnTo>
                <a:lnTo>
                  <a:pt x="0" y="548640"/>
                </a:lnTo>
                <a:close/>
              </a:path>
            </a:pathLst>
          </a:custGeom>
          <a:blipFill rotWithShape="0">
            <a:blip r:embed="rId4">
              <a:alphaModFix amt="0"/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Box 16"/>
          <p:cNvSpPr/>
          <p:nvPr/>
        </p:nvSpPr>
        <p:spPr>
          <a:xfrm>
            <a:off x="13098960" y="5937840"/>
            <a:ext cx="4114440" cy="43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ts val="1800"/>
              </a:lnSpc>
            </a:pPr>
            <a:r>
              <a:rPr lang="pt-BR" sz="1580" b="1" u="none" strike="noStrike">
                <a:solidFill>
                  <a:srgbClr val="9BAE97"/>
                </a:solidFill>
                <a:effectLst/>
                <a:uFillTx/>
                <a:latin typeface="Calibri (MS) Bold"/>
                <a:ea typeface="Calibri (MS) Bold"/>
              </a:rPr>
              <a:t>ODS RELACIONADOS</a:t>
            </a:r>
            <a:endParaRPr lang="pt-BR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Freeform 18"/>
          <p:cNvSpPr/>
          <p:nvPr/>
        </p:nvSpPr>
        <p:spPr>
          <a:xfrm>
            <a:off x="13098960" y="6473880"/>
            <a:ext cx="1577160" cy="1577160"/>
          </a:xfrm>
          <a:custGeom>
            <a:avLst/>
            <a:gdLst>
              <a:gd name="textAreaLeft" fmla="*/ 0 w 1577160"/>
              <a:gd name="textAreaRight" fmla="*/ 1577520 w 1577160"/>
              <a:gd name="textAreaTop" fmla="*/ 0 h 1577160"/>
              <a:gd name="textAreaBottom" fmla="*/ 1577520 h 1577160"/>
            </a:gdLst>
            <a:ahLst/>
            <a:cxnLst/>
            <a:rect l="textAreaLeft" t="textAreaTop" r="textAreaRight" b="textAreaBottom"/>
            <a:pathLst>
              <a:path w="2103120" h="2103120">
                <a:moveTo>
                  <a:pt x="0" y="0"/>
                </a:moveTo>
                <a:lnTo>
                  <a:pt x="2103120" y="0"/>
                </a:lnTo>
                <a:lnTo>
                  <a:pt x="2103120" y="2103120"/>
                </a:lnTo>
                <a:lnTo>
                  <a:pt x="0" y="2103120"/>
                </a:lnTo>
                <a:close/>
              </a:path>
            </a:pathLst>
          </a:custGeom>
          <a:solidFill>
            <a:srgbClr val="E524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Freeform 20"/>
          <p:cNvSpPr/>
          <p:nvPr/>
        </p:nvSpPr>
        <p:spPr>
          <a:xfrm>
            <a:off x="13236120" y="6583680"/>
            <a:ext cx="1302840" cy="575640"/>
          </a:xfrm>
          <a:custGeom>
            <a:avLst/>
            <a:gdLst>
              <a:gd name="textAreaLeft" fmla="*/ 0 w 1302840"/>
              <a:gd name="textAreaRight" fmla="*/ 1303200 w 1302840"/>
              <a:gd name="textAreaTop" fmla="*/ 0 h 575640"/>
              <a:gd name="textAreaBottom" fmla="*/ 576000 h 575640"/>
            </a:gdLst>
            <a:ahLst/>
            <a:cxnLst/>
            <a:rect l="textAreaLeft" t="textAreaTop" r="textAreaRight" b="textAreaBottom"/>
            <a:pathLst>
              <a:path w="1737360" h="768096">
                <a:moveTo>
                  <a:pt x="0" y="0"/>
                </a:moveTo>
                <a:lnTo>
                  <a:pt x="1737360" y="0"/>
                </a:lnTo>
                <a:lnTo>
                  <a:pt x="1737360" y="768096"/>
                </a:lnTo>
                <a:lnTo>
                  <a:pt x="0" y="768096"/>
                </a:lnTo>
                <a:close/>
              </a:path>
            </a:pathLst>
          </a:custGeom>
          <a:blipFill rotWithShape="0">
            <a:blip r:embed="rId5">
              <a:alphaModFix amt="0"/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Box 21"/>
          <p:cNvSpPr/>
          <p:nvPr/>
        </p:nvSpPr>
        <p:spPr>
          <a:xfrm>
            <a:off x="13236120" y="6576480"/>
            <a:ext cx="1302840" cy="58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ts val="3960"/>
              </a:lnSpc>
            </a:pPr>
            <a:r>
              <a:rPr lang="pt-BR" sz="3300" b="1" u="none" strike="noStrike">
                <a:solidFill>
                  <a:srgbClr val="FFFFFF"/>
                </a:solidFill>
                <a:effectLst/>
                <a:uFillTx/>
                <a:latin typeface="Cambria Bold"/>
                <a:ea typeface="Cambria Bold"/>
              </a:rPr>
              <a:t>1</a:t>
            </a:r>
            <a:endParaRPr lang="pt-BR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Freeform 23"/>
          <p:cNvSpPr/>
          <p:nvPr/>
        </p:nvSpPr>
        <p:spPr>
          <a:xfrm>
            <a:off x="13236120" y="7159680"/>
            <a:ext cx="1302840" cy="822600"/>
          </a:xfrm>
          <a:custGeom>
            <a:avLst/>
            <a:gdLst>
              <a:gd name="textAreaLeft" fmla="*/ 0 w 1302840"/>
              <a:gd name="textAreaRight" fmla="*/ 1303200 w 1302840"/>
              <a:gd name="textAreaTop" fmla="*/ 0 h 822600"/>
              <a:gd name="textAreaBottom" fmla="*/ 822960 h 822600"/>
            </a:gdLst>
            <a:ahLst/>
            <a:cxnLst/>
            <a:rect l="textAreaLeft" t="textAreaTop" r="textAreaRight" b="textAreaBottom"/>
            <a:pathLst>
              <a:path w="1737360" h="1097280">
                <a:moveTo>
                  <a:pt x="0" y="0"/>
                </a:moveTo>
                <a:lnTo>
                  <a:pt x="1737360" y="0"/>
                </a:lnTo>
                <a:lnTo>
                  <a:pt x="1737360" y="1097280"/>
                </a:lnTo>
                <a:lnTo>
                  <a:pt x="0" y="1097280"/>
                </a:lnTo>
                <a:close/>
              </a:path>
            </a:pathLst>
          </a:custGeom>
          <a:blipFill rotWithShape="0">
            <a:blip r:embed="rId6">
              <a:alphaModFix amt="0"/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Box 24"/>
          <p:cNvSpPr/>
          <p:nvPr/>
        </p:nvSpPr>
        <p:spPr>
          <a:xfrm>
            <a:off x="13236120" y="7138440"/>
            <a:ext cx="1302840" cy="84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ts val="1378"/>
              </a:lnSpc>
            </a:pPr>
            <a:r>
              <a:rPr lang="pt-BR" sz="1280" b="0" u="none" strike="noStrike">
                <a:solidFill>
                  <a:srgbClr val="FFFFFF"/>
                </a:solidFill>
                <a:effectLst/>
                <a:uFillTx/>
                <a:latin typeface="Calibri (MS)"/>
                <a:ea typeface="Calibri (MS)"/>
              </a:rPr>
              <a:t>Erradicação da Pobreza</a:t>
            </a:r>
            <a:endParaRPr lang="pt-BR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Freeform 26"/>
          <p:cNvSpPr/>
          <p:nvPr/>
        </p:nvSpPr>
        <p:spPr>
          <a:xfrm>
            <a:off x="14977800" y="6473880"/>
            <a:ext cx="1577160" cy="1577160"/>
          </a:xfrm>
          <a:custGeom>
            <a:avLst/>
            <a:gdLst>
              <a:gd name="textAreaLeft" fmla="*/ 0 w 1577160"/>
              <a:gd name="textAreaRight" fmla="*/ 1577520 w 1577160"/>
              <a:gd name="textAreaTop" fmla="*/ 0 h 1577160"/>
              <a:gd name="textAreaBottom" fmla="*/ 1577520 h 1577160"/>
            </a:gdLst>
            <a:ahLst/>
            <a:cxnLst/>
            <a:rect l="textAreaLeft" t="textAreaTop" r="textAreaRight" b="textAreaBottom"/>
            <a:pathLst>
              <a:path w="2103120" h="2103120">
                <a:moveTo>
                  <a:pt x="0" y="0"/>
                </a:moveTo>
                <a:lnTo>
                  <a:pt x="2103120" y="0"/>
                </a:lnTo>
                <a:lnTo>
                  <a:pt x="2103120" y="2103120"/>
                </a:lnTo>
                <a:lnTo>
                  <a:pt x="0" y="2103120"/>
                </a:lnTo>
                <a:close/>
              </a:path>
            </a:pathLst>
          </a:custGeom>
          <a:solidFill>
            <a:srgbClr val="DDA6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Freeform 28"/>
          <p:cNvSpPr/>
          <p:nvPr/>
        </p:nvSpPr>
        <p:spPr>
          <a:xfrm>
            <a:off x="15114960" y="6583680"/>
            <a:ext cx="1302840" cy="575640"/>
          </a:xfrm>
          <a:custGeom>
            <a:avLst/>
            <a:gdLst>
              <a:gd name="textAreaLeft" fmla="*/ 0 w 1302840"/>
              <a:gd name="textAreaRight" fmla="*/ 1303200 w 1302840"/>
              <a:gd name="textAreaTop" fmla="*/ 0 h 575640"/>
              <a:gd name="textAreaBottom" fmla="*/ 576000 h 575640"/>
            </a:gdLst>
            <a:ahLst/>
            <a:cxnLst/>
            <a:rect l="textAreaLeft" t="textAreaTop" r="textAreaRight" b="textAreaBottom"/>
            <a:pathLst>
              <a:path w="1737360" h="768096">
                <a:moveTo>
                  <a:pt x="0" y="0"/>
                </a:moveTo>
                <a:lnTo>
                  <a:pt x="1737360" y="0"/>
                </a:lnTo>
                <a:lnTo>
                  <a:pt x="1737360" y="768096"/>
                </a:lnTo>
                <a:lnTo>
                  <a:pt x="0" y="768096"/>
                </a:lnTo>
                <a:close/>
              </a:path>
            </a:pathLst>
          </a:custGeom>
          <a:blipFill rotWithShape="0">
            <a:blip r:embed="rId7">
              <a:alphaModFix amt="0"/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Box 29"/>
          <p:cNvSpPr/>
          <p:nvPr/>
        </p:nvSpPr>
        <p:spPr>
          <a:xfrm>
            <a:off x="15114960" y="6576480"/>
            <a:ext cx="1302840" cy="58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ts val="3960"/>
              </a:lnSpc>
            </a:pPr>
            <a:r>
              <a:rPr lang="pt-BR" sz="3300" b="1" u="none" strike="noStrike">
                <a:solidFill>
                  <a:srgbClr val="FFFFFF"/>
                </a:solidFill>
                <a:effectLst/>
                <a:uFillTx/>
                <a:latin typeface="Cambria Bold"/>
                <a:ea typeface="Cambria Bold"/>
              </a:rPr>
              <a:t>2</a:t>
            </a:r>
            <a:endParaRPr lang="pt-BR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Freeform 31"/>
          <p:cNvSpPr/>
          <p:nvPr/>
        </p:nvSpPr>
        <p:spPr>
          <a:xfrm>
            <a:off x="15114960" y="7159680"/>
            <a:ext cx="1302840" cy="822600"/>
          </a:xfrm>
          <a:custGeom>
            <a:avLst/>
            <a:gdLst>
              <a:gd name="textAreaLeft" fmla="*/ 0 w 1302840"/>
              <a:gd name="textAreaRight" fmla="*/ 1303200 w 1302840"/>
              <a:gd name="textAreaTop" fmla="*/ 0 h 822600"/>
              <a:gd name="textAreaBottom" fmla="*/ 822960 h 822600"/>
            </a:gdLst>
            <a:ahLst/>
            <a:cxnLst/>
            <a:rect l="textAreaLeft" t="textAreaTop" r="textAreaRight" b="textAreaBottom"/>
            <a:pathLst>
              <a:path w="1737360" h="1097280">
                <a:moveTo>
                  <a:pt x="0" y="0"/>
                </a:moveTo>
                <a:lnTo>
                  <a:pt x="1737360" y="0"/>
                </a:lnTo>
                <a:lnTo>
                  <a:pt x="1737360" y="1097280"/>
                </a:lnTo>
                <a:lnTo>
                  <a:pt x="0" y="1097280"/>
                </a:lnTo>
                <a:close/>
              </a:path>
            </a:pathLst>
          </a:custGeom>
          <a:blipFill rotWithShape="0">
            <a:blip r:embed="rId8">
              <a:alphaModFix amt="0"/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Box 32"/>
          <p:cNvSpPr/>
          <p:nvPr/>
        </p:nvSpPr>
        <p:spPr>
          <a:xfrm>
            <a:off x="15114960" y="7138440"/>
            <a:ext cx="1302840" cy="84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ts val="1378"/>
              </a:lnSpc>
            </a:pPr>
            <a:r>
              <a:rPr lang="pt-BR" sz="1280" b="0" u="none" strike="noStrike">
                <a:solidFill>
                  <a:srgbClr val="FFFFFF"/>
                </a:solidFill>
                <a:effectLst/>
                <a:uFillTx/>
                <a:latin typeface="Calibri (MS)"/>
                <a:ea typeface="Calibri (MS)"/>
              </a:rPr>
              <a:t>Fome Zero e Agricultura Sustentável</a:t>
            </a:r>
            <a:endParaRPr lang="pt-BR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Freeform 34"/>
          <p:cNvSpPr/>
          <p:nvPr/>
        </p:nvSpPr>
        <p:spPr>
          <a:xfrm>
            <a:off x="13098960" y="8353080"/>
            <a:ext cx="1577160" cy="1577160"/>
          </a:xfrm>
          <a:custGeom>
            <a:avLst/>
            <a:gdLst>
              <a:gd name="textAreaLeft" fmla="*/ 0 w 1577160"/>
              <a:gd name="textAreaRight" fmla="*/ 1577520 w 1577160"/>
              <a:gd name="textAreaTop" fmla="*/ 0 h 1577160"/>
              <a:gd name="textAreaBottom" fmla="*/ 1577520 h 1577160"/>
            </a:gdLst>
            <a:ahLst/>
            <a:cxnLst/>
            <a:rect l="textAreaLeft" t="textAreaTop" r="textAreaRight" b="textAreaBottom"/>
            <a:pathLst>
              <a:path w="2103120" h="2103120">
                <a:moveTo>
                  <a:pt x="0" y="0"/>
                </a:moveTo>
                <a:lnTo>
                  <a:pt x="2103120" y="0"/>
                </a:lnTo>
                <a:lnTo>
                  <a:pt x="2103120" y="2103120"/>
                </a:lnTo>
                <a:lnTo>
                  <a:pt x="0" y="2103120"/>
                </a:lnTo>
                <a:close/>
              </a:path>
            </a:pathLst>
          </a:custGeom>
          <a:solidFill>
            <a:srgbClr val="A219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Freeform 36"/>
          <p:cNvSpPr/>
          <p:nvPr/>
        </p:nvSpPr>
        <p:spPr>
          <a:xfrm>
            <a:off x="13236120" y="8462880"/>
            <a:ext cx="1302840" cy="575640"/>
          </a:xfrm>
          <a:custGeom>
            <a:avLst/>
            <a:gdLst>
              <a:gd name="textAreaLeft" fmla="*/ 0 w 1302840"/>
              <a:gd name="textAreaRight" fmla="*/ 1303200 w 1302840"/>
              <a:gd name="textAreaTop" fmla="*/ 0 h 575640"/>
              <a:gd name="textAreaBottom" fmla="*/ 576000 h 575640"/>
            </a:gdLst>
            <a:ahLst/>
            <a:cxnLst/>
            <a:rect l="textAreaLeft" t="textAreaTop" r="textAreaRight" b="textAreaBottom"/>
            <a:pathLst>
              <a:path w="1737360" h="768096">
                <a:moveTo>
                  <a:pt x="0" y="0"/>
                </a:moveTo>
                <a:lnTo>
                  <a:pt x="1737360" y="0"/>
                </a:lnTo>
                <a:lnTo>
                  <a:pt x="1737360" y="768096"/>
                </a:lnTo>
                <a:lnTo>
                  <a:pt x="0" y="768096"/>
                </a:lnTo>
                <a:close/>
              </a:path>
            </a:pathLst>
          </a:custGeom>
          <a:blipFill rotWithShape="0">
            <a:blip r:embed="rId9">
              <a:alphaModFix amt="0"/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Box 37"/>
          <p:cNvSpPr/>
          <p:nvPr/>
        </p:nvSpPr>
        <p:spPr>
          <a:xfrm>
            <a:off x="13236120" y="8455680"/>
            <a:ext cx="1302840" cy="58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ts val="3960"/>
              </a:lnSpc>
            </a:pPr>
            <a:r>
              <a:rPr lang="pt-BR" sz="3300" b="1" u="none" strike="noStrike">
                <a:solidFill>
                  <a:srgbClr val="FFFFFF"/>
                </a:solidFill>
                <a:effectLst/>
                <a:uFillTx/>
                <a:latin typeface="Cambria Bold"/>
                <a:ea typeface="Cambria Bold"/>
              </a:rPr>
              <a:t>8</a:t>
            </a:r>
            <a:endParaRPr lang="pt-BR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Freeform 39"/>
          <p:cNvSpPr/>
          <p:nvPr/>
        </p:nvSpPr>
        <p:spPr>
          <a:xfrm>
            <a:off x="13236120" y="9038880"/>
            <a:ext cx="1302840" cy="822600"/>
          </a:xfrm>
          <a:custGeom>
            <a:avLst/>
            <a:gdLst>
              <a:gd name="textAreaLeft" fmla="*/ 0 w 1302840"/>
              <a:gd name="textAreaRight" fmla="*/ 1303200 w 1302840"/>
              <a:gd name="textAreaTop" fmla="*/ 0 h 822600"/>
              <a:gd name="textAreaBottom" fmla="*/ 822960 h 822600"/>
            </a:gdLst>
            <a:ahLst/>
            <a:cxnLst/>
            <a:rect l="textAreaLeft" t="textAreaTop" r="textAreaRight" b="textAreaBottom"/>
            <a:pathLst>
              <a:path w="1737360" h="1097280">
                <a:moveTo>
                  <a:pt x="0" y="0"/>
                </a:moveTo>
                <a:lnTo>
                  <a:pt x="1737360" y="0"/>
                </a:lnTo>
                <a:lnTo>
                  <a:pt x="1737360" y="1097280"/>
                </a:lnTo>
                <a:lnTo>
                  <a:pt x="0" y="1097280"/>
                </a:lnTo>
                <a:close/>
              </a:path>
            </a:pathLst>
          </a:custGeom>
          <a:blipFill rotWithShape="0">
            <a:blip r:embed="rId10">
              <a:alphaModFix amt="0"/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Box 40"/>
          <p:cNvSpPr/>
          <p:nvPr/>
        </p:nvSpPr>
        <p:spPr>
          <a:xfrm>
            <a:off x="13236120" y="9017280"/>
            <a:ext cx="1302840" cy="84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ts val="1378"/>
              </a:lnSpc>
            </a:pPr>
            <a:r>
              <a:rPr lang="pt-BR" sz="1280" b="0" u="none" strike="noStrike">
                <a:solidFill>
                  <a:srgbClr val="FFFFFF"/>
                </a:solidFill>
                <a:effectLst/>
                <a:uFillTx/>
                <a:latin typeface="Calibri (MS)"/>
                <a:ea typeface="Calibri (MS)"/>
              </a:rPr>
              <a:t>Trabalho Decente e Crescimento Econômico</a:t>
            </a:r>
            <a:endParaRPr lang="pt-BR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Freeform 42"/>
          <p:cNvSpPr/>
          <p:nvPr/>
        </p:nvSpPr>
        <p:spPr>
          <a:xfrm>
            <a:off x="14977800" y="8353080"/>
            <a:ext cx="1577160" cy="1577160"/>
          </a:xfrm>
          <a:custGeom>
            <a:avLst/>
            <a:gdLst>
              <a:gd name="textAreaLeft" fmla="*/ 0 w 1577160"/>
              <a:gd name="textAreaRight" fmla="*/ 1577520 w 1577160"/>
              <a:gd name="textAreaTop" fmla="*/ 0 h 1577160"/>
              <a:gd name="textAreaBottom" fmla="*/ 1577520 h 1577160"/>
            </a:gdLst>
            <a:ahLst/>
            <a:cxnLst/>
            <a:rect l="textAreaLeft" t="textAreaTop" r="textAreaRight" b="textAreaBottom"/>
            <a:pathLst>
              <a:path w="2103120" h="2103120">
                <a:moveTo>
                  <a:pt x="0" y="0"/>
                </a:moveTo>
                <a:lnTo>
                  <a:pt x="2103120" y="0"/>
                </a:lnTo>
                <a:lnTo>
                  <a:pt x="2103120" y="2103120"/>
                </a:lnTo>
                <a:lnTo>
                  <a:pt x="0" y="2103120"/>
                </a:lnTo>
                <a:close/>
              </a:path>
            </a:pathLst>
          </a:custGeom>
          <a:solidFill>
            <a:srgbClr val="DD136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Freeform 44"/>
          <p:cNvSpPr/>
          <p:nvPr/>
        </p:nvSpPr>
        <p:spPr>
          <a:xfrm>
            <a:off x="15114960" y="8462880"/>
            <a:ext cx="1302840" cy="575640"/>
          </a:xfrm>
          <a:custGeom>
            <a:avLst/>
            <a:gdLst>
              <a:gd name="textAreaLeft" fmla="*/ 0 w 1302840"/>
              <a:gd name="textAreaRight" fmla="*/ 1303200 w 1302840"/>
              <a:gd name="textAreaTop" fmla="*/ 0 h 575640"/>
              <a:gd name="textAreaBottom" fmla="*/ 576000 h 575640"/>
            </a:gdLst>
            <a:ahLst/>
            <a:cxnLst/>
            <a:rect l="textAreaLeft" t="textAreaTop" r="textAreaRight" b="textAreaBottom"/>
            <a:pathLst>
              <a:path w="1737360" h="768096">
                <a:moveTo>
                  <a:pt x="0" y="0"/>
                </a:moveTo>
                <a:lnTo>
                  <a:pt x="1737360" y="0"/>
                </a:lnTo>
                <a:lnTo>
                  <a:pt x="1737360" y="768096"/>
                </a:lnTo>
                <a:lnTo>
                  <a:pt x="0" y="768096"/>
                </a:lnTo>
                <a:close/>
              </a:path>
            </a:pathLst>
          </a:custGeom>
          <a:blipFill rotWithShape="0">
            <a:blip r:embed="rId11">
              <a:alphaModFix amt="0"/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Box 45"/>
          <p:cNvSpPr/>
          <p:nvPr/>
        </p:nvSpPr>
        <p:spPr>
          <a:xfrm>
            <a:off x="15114960" y="8455680"/>
            <a:ext cx="1302840" cy="58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ts val="3960"/>
              </a:lnSpc>
            </a:pPr>
            <a:r>
              <a:rPr lang="pt-BR" sz="3300" b="1" u="none" strike="noStrike">
                <a:solidFill>
                  <a:srgbClr val="FFFFFF"/>
                </a:solidFill>
                <a:effectLst/>
                <a:uFillTx/>
                <a:latin typeface="Cambria Bold"/>
                <a:ea typeface="Cambria Bold"/>
              </a:rPr>
              <a:t>10</a:t>
            </a:r>
            <a:endParaRPr lang="pt-BR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Freeform 47"/>
          <p:cNvSpPr/>
          <p:nvPr/>
        </p:nvSpPr>
        <p:spPr>
          <a:xfrm>
            <a:off x="15114960" y="9038880"/>
            <a:ext cx="1302840" cy="822600"/>
          </a:xfrm>
          <a:custGeom>
            <a:avLst/>
            <a:gdLst>
              <a:gd name="textAreaLeft" fmla="*/ 0 w 1302840"/>
              <a:gd name="textAreaRight" fmla="*/ 1303200 w 1302840"/>
              <a:gd name="textAreaTop" fmla="*/ 0 h 822600"/>
              <a:gd name="textAreaBottom" fmla="*/ 822960 h 822600"/>
            </a:gdLst>
            <a:ahLst/>
            <a:cxnLst/>
            <a:rect l="textAreaLeft" t="textAreaTop" r="textAreaRight" b="textAreaBottom"/>
            <a:pathLst>
              <a:path w="1737360" h="1097280">
                <a:moveTo>
                  <a:pt x="0" y="0"/>
                </a:moveTo>
                <a:lnTo>
                  <a:pt x="1737360" y="0"/>
                </a:lnTo>
                <a:lnTo>
                  <a:pt x="1737360" y="1097280"/>
                </a:lnTo>
                <a:lnTo>
                  <a:pt x="0" y="1097280"/>
                </a:lnTo>
                <a:close/>
              </a:path>
            </a:pathLst>
          </a:custGeom>
          <a:blipFill rotWithShape="0">
            <a:blip r:embed="rId12">
              <a:alphaModFix amt="0"/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Box 48"/>
          <p:cNvSpPr/>
          <p:nvPr/>
        </p:nvSpPr>
        <p:spPr>
          <a:xfrm>
            <a:off x="15114960" y="9017280"/>
            <a:ext cx="1302840" cy="84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ts val="1378"/>
              </a:lnSpc>
            </a:pPr>
            <a:r>
              <a:rPr lang="pt-BR" sz="1280" b="0" u="none" strike="noStrike">
                <a:solidFill>
                  <a:srgbClr val="FFFFFF"/>
                </a:solidFill>
                <a:effectLst/>
                <a:uFillTx/>
                <a:latin typeface="Calibri (MS)"/>
                <a:ea typeface="Calibri (MS)"/>
              </a:rPr>
              <a:t>Redução das Desigualdades</a:t>
            </a:r>
            <a:endParaRPr lang="pt-BR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Freeform 3"/>
          <p:cNvSpPr/>
          <p:nvPr/>
        </p:nvSpPr>
        <p:spPr>
          <a:xfrm>
            <a:off x="5555160" y="0"/>
            <a:ext cx="12732120" cy="10286640"/>
          </a:xfrm>
          <a:custGeom>
            <a:avLst/>
            <a:gdLst>
              <a:gd name="textAreaLeft" fmla="*/ 0 w 12732120"/>
              <a:gd name="textAreaRight" fmla="*/ 12732480 w 12732120"/>
              <a:gd name="textAreaTop" fmla="*/ 0 h 10286640"/>
              <a:gd name="textAreaBottom" fmla="*/ 10287000 h 10286640"/>
            </a:gdLst>
            <a:ahLst/>
            <a:cxnLst/>
            <a:rect l="textAreaLeft" t="textAreaTop" r="textAreaRight" b="textAreaBottom"/>
            <a:pathLst>
              <a:path w="16976725" h="13716000">
                <a:moveTo>
                  <a:pt x="0" y="0"/>
                </a:moveTo>
                <a:lnTo>
                  <a:pt x="16976725" y="0"/>
                </a:lnTo>
                <a:lnTo>
                  <a:pt x="16976725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FBF9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Freeform 5"/>
          <p:cNvSpPr/>
          <p:nvPr/>
        </p:nvSpPr>
        <p:spPr>
          <a:xfrm>
            <a:off x="0" y="0"/>
            <a:ext cx="5554800" cy="10286640"/>
          </a:xfrm>
          <a:custGeom>
            <a:avLst/>
            <a:gdLst>
              <a:gd name="textAreaLeft" fmla="*/ 0 w 5554800"/>
              <a:gd name="textAreaRight" fmla="*/ 5555160 w 5554800"/>
              <a:gd name="textAreaTop" fmla="*/ 0 h 10286640"/>
              <a:gd name="textAreaBottom" fmla="*/ 10287000 h 10286640"/>
            </a:gdLst>
            <a:ahLst/>
            <a:cxnLst/>
            <a:rect l="textAreaLeft" t="textAreaTop" r="textAreaRight" b="textAreaBottom"/>
            <a:pathLst>
              <a:path w="7406640" h="13716000">
                <a:moveTo>
                  <a:pt x="0" y="0"/>
                </a:moveTo>
                <a:lnTo>
                  <a:pt x="7406640" y="0"/>
                </a:lnTo>
                <a:lnTo>
                  <a:pt x="740664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1630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Freeform 7"/>
          <p:cNvSpPr/>
          <p:nvPr/>
        </p:nvSpPr>
        <p:spPr>
          <a:xfrm>
            <a:off x="754560" y="891720"/>
            <a:ext cx="4388760" cy="548280"/>
          </a:xfrm>
          <a:custGeom>
            <a:avLst/>
            <a:gdLst>
              <a:gd name="textAreaLeft" fmla="*/ 0 w 4388760"/>
              <a:gd name="textAreaRight" fmla="*/ 4389120 w 4388760"/>
              <a:gd name="textAreaTop" fmla="*/ 0 h 548280"/>
              <a:gd name="textAreaBottom" fmla="*/ 548640 h 548280"/>
            </a:gdLst>
            <a:ahLst/>
            <a:cxnLst/>
            <a:rect l="textAreaLeft" t="textAreaTop" r="textAreaRight" b="textAreaBottom"/>
            <a:pathLst>
              <a:path w="5852160" h="731520">
                <a:moveTo>
                  <a:pt x="0" y="0"/>
                </a:moveTo>
                <a:lnTo>
                  <a:pt x="5852160" y="0"/>
                </a:lnTo>
                <a:lnTo>
                  <a:pt x="5852160" y="731520"/>
                </a:lnTo>
                <a:lnTo>
                  <a:pt x="0" y="731520"/>
                </a:lnTo>
                <a:close/>
              </a:path>
            </a:pathLst>
          </a:custGeom>
          <a:blipFill rotWithShape="0">
            <a:blip r:embed="rId1">
              <a:alphaModFix amt="0"/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Box 8"/>
          <p:cNvSpPr/>
          <p:nvPr/>
        </p:nvSpPr>
        <p:spPr>
          <a:xfrm>
            <a:off x="754560" y="862920"/>
            <a:ext cx="4388760" cy="57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ts val="2160"/>
              </a:lnSpc>
            </a:pPr>
            <a:r>
              <a:rPr lang="pt-BR" sz="1800" b="1" u="none" strike="noStrike">
                <a:solidFill>
                  <a:srgbClr val="A8532E"/>
                </a:solidFill>
                <a:effectLst/>
                <a:uFillTx/>
                <a:latin typeface="Calibri (MS) Bold"/>
                <a:ea typeface="Calibri (MS) Bold"/>
              </a:rPr>
              <a:t>O PROBLEMA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Box 9"/>
          <p:cNvSpPr/>
          <p:nvPr/>
        </p:nvSpPr>
        <p:spPr>
          <a:xfrm>
            <a:off x="754560" y="1510560"/>
            <a:ext cx="4388760" cy="459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ts val="4635"/>
              </a:lnSpc>
            </a:pPr>
            <a:r>
              <a:rPr lang="pt-BR" sz="3450" b="1" u="none" strike="noStrike">
                <a:solidFill>
                  <a:srgbClr val="FFFFFF"/>
                </a:solidFill>
                <a:effectLst/>
                <a:uFillTx/>
                <a:latin typeface="Cambria Bold"/>
                <a:ea typeface="Cambria Bold"/>
              </a:rPr>
              <a:t>Seu José cuida de tudo sozinho, no caderno</a:t>
            </a:r>
            <a:endParaRPr lang="pt-BR" sz="3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Freeform 11"/>
          <p:cNvSpPr/>
          <p:nvPr/>
        </p:nvSpPr>
        <p:spPr>
          <a:xfrm>
            <a:off x="754560" y="9642240"/>
            <a:ext cx="3565800" cy="411120"/>
          </a:xfrm>
          <a:custGeom>
            <a:avLst/>
            <a:gdLst>
              <a:gd name="textAreaLeft" fmla="*/ 0 w 3565800"/>
              <a:gd name="textAreaRight" fmla="*/ 3566160 w 3565800"/>
              <a:gd name="textAreaTop" fmla="*/ 0 h 411120"/>
              <a:gd name="textAreaBottom" fmla="*/ 411480 h 411120"/>
            </a:gdLst>
            <a:ahLst/>
            <a:cxnLst/>
            <a:rect l="textAreaLeft" t="textAreaTop" r="textAreaRight" b="textAreaBottom"/>
            <a:pathLst>
              <a:path w="4754880" h="548640">
                <a:moveTo>
                  <a:pt x="0" y="0"/>
                </a:moveTo>
                <a:lnTo>
                  <a:pt x="4754880" y="0"/>
                </a:lnTo>
                <a:lnTo>
                  <a:pt x="4754880" y="548640"/>
                </a:lnTo>
                <a:lnTo>
                  <a:pt x="0" y="548640"/>
                </a:lnTo>
                <a:close/>
              </a:path>
            </a:pathLst>
          </a:custGeom>
          <a:blipFill rotWithShape="0">
            <a:blip r:embed="rId2">
              <a:alphaModFix amt="0"/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Box 12"/>
          <p:cNvSpPr/>
          <p:nvPr/>
        </p:nvSpPr>
        <p:spPr>
          <a:xfrm>
            <a:off x="754560" y="9621000"/>
            <a:ext cx="3565800" cy="43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ts val="1621"/>
              </a:lnSpc>
            </a:pPr>
            <a:r>
              <a:rPr lang="pt-BR" sz="1350" b="1" u="none" strike="noStrike">
                <a:solidFill>
                  <a:srgbClr val="9BAE97"/>
                </a:solidFill>
                <a:effectLst/>
                <a:uFillTx/>
                <a:latin typeface="Calibri (MS) Bold"/>
                <a:ea typeface="Calibri (MS) Bold"/>
              </a:rPr>
              <a:t>AGROGESTÃO PRO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Freeform 14"/>
          <p:cNvSpPr/>
          <p:nvPr/>
        </p:nvSpPr>
        <p:spPr>
          <a:xfrm>
            <a:off x="4389120" y="9601200"/>
            <a:ext cx="822600" cy="479880"/>
          </a:xfrm>
          <a:custGeom>
            <a:avLst/>
            <a:gdLst>
              <a:gd name="textAreaLeft" fmla="*/ 0 w 822600"/>
              <a:gd name="textAreaRight" fmla="*/ 822960 w 822600"/>
              <a:gd name="textAreaTop" fmla="*/ 0 h 479880"/>
              <a:gd name="textAreaBottom" fmla="*/ 480240 h 479880"/>
            </a:gdLst>
            <a:ahLst/>
            <a:cxnLst/>
            <a:rect l="textAreaLeft" t="textAreaTop" r="textAreaRight" b="textAreaBottom"/>
            <a:pathLst>
              <a:path w="1097280" h="640080">
                <a:moveTo>
                  <a:pt x="0" y="0"/>
                </a:moveTo>
                <a:lnTo>
                  <a:pt x="1097280" y="0"/>
                </a:lnTo>
                <a:lnTo>
                  <a:pt x="1097280" y="640080"/>
                </a:lnTo>
                <a:lnTo>
                  <a:pt x="0" y="640080"/>
                </a:lnTo>
                <a:close/>
              </a:path>
            </a:pathLst>
          </a:custGeom>
          <a:blipFill rotWithShape="0">
            <a:blip r:embed="rId3">
              <a:alphaModFix amt="0"/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Box 15"/>
          <p:cNvSpPr/>
          <p:nvPr/>
        </p:nvSpPr>
        <p:spPr>
          <a:xfrm>
            <a:off x="4389120" y="9579600"/>
            <a:ext cx="82260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>
              <a:lnSpc>
                <a:spcPts val="1981"/>
              </a:lnSpc>
            </a:pPr>
            <a:r>
              <a:rPr lang="pt-BR" sz="1650" b="0" u="none" strike="noStrike">
                <a:solidFill>
                  <a:srgbClr val="9BAE97"/>
                </a:solidFill>
                <a:effectLst/>
                <a:uFillTx/>
                <a:latin typeface="Calibri (MS)"/>
                <a:ea typeface="Calibri (MS)"/>
              </a:rPr>
              <a:t>02</a:t>
            </a:r>
            <a:endParaRPr lang="pt-BR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Freeform 17"/>
          <p:cNvSpPr/>
          <p:nvPr/>
        </p:nvSpPr>
        <p:spPr>
          <a:xfrm>
            <a:off x="6309360" y="1508760"/>
            <a:ext cx="1371240" cy="1412280"/>
          </a:xfrm>
          <a:custGeom>
            <a:avLst/>
            <a:gdLst>
              <a:gd name="textAreaLeft" fmla="*/ 0 w 1371240"/>
              <a:gd name="textAreaRight" fmla="*/ 1371600 w 1371240"/>
              <a:gd name="textAreaTop" fmla="*/ 0 h 1412280"/>
              <a:gd name="textAreaBottom" fmla="*/ 1412640 h 1412280"/>
            </a:gdLst>
            <a:ahLst/>
            <a:cxnLst/>
            <a:rect l="textAreaLeft" t="textAreaTop" r="textAreaRight" b="textAreaBottom"/>
            <a:pathLst>
              <a:path w="1828800" h="1883664">
                <a:moveTo>
                  <a:pt x="0" y="0"/>
                </a:moveTo>
                <a:lnTo>
                  <a:pt x="1828800" y="0"/>
                </a:lnTo>
                <a:lnTo>
                  <a:pt x="1828800" y="1883664"/>
                </a:lnTo>
                <a:lnTo>
                  <a:pt x="0" y="1883664"/>
                </a:lnTo>
                <a:close/>
              </a:path>
            </a:pathLst>
          </a:custGeom>
          <a:blipFill rotWithShape="0">
            <a:blip r:embed="rId4">
              <a:alphaModFix amt="0"/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Box 18"/>
          <p:cNvSpPr/>
          <p:nvPr/>
        </p:nvSpPr>
        <p:spPr>
          <a:xfrm>
            <a:off x="6309360" y="1494360"/>
            <a:ext cx="1371240" cy="142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ts val="4320"/>
              </a:lnSpc>
            </a:pPr>
            <a:r>
              <a:rPr lang="pt-BR" sz="3600" b="1" u="none" strike="noStrike">
                <a:solidFill>
                  <a:srgbClr val="A8532E"/>
                </a:solidFill>
                <a:effectLst/>
                <a:uFillTx/>
                <a:latin typeface="Cambria Bold"/>
                <a:ea typeface="Cambria Bold"/>
              </a:rPr>
              <a:t>01</a:t>
            </a:r>
            <a:endParaRPr lang="pt-BR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Freeform 20"/>
          <p:cNvSpPr/>
          <p:nvPr/>
        </p:nvSpPr>
        <p:spPr>
          <a:xfrm>
            <a:off x="7818120" y="1508760"/>
            <a:ext cx="9714600" cy="1412280"/>
          </a:xfrm>
          <a:custGeom>
            <a:avLst/>
            <a:gdLst>
              <a:gd name="textAreaLeft" fmla="*/ 0 w 9714600"/>
              <a:gd name="textAreaRight" fmla="*/ 9714960 w 9714600"/>
              <a:gd name="textAreaTop" fmla="*/ 0 h 1412280"/>
              <a:gd name="textAreaBottom" fmla="*/ 1412640 h 1412280"/>
            </a:gdLst>
            <a:ahLst/>
            <a:cxnLst/>
            <a:rect l="textAreaLeft" t="textAreaTop" r="textAreaRight" b="textAreaBottom"/>
            <a:pathLst>
              <a:path w="12953390" h="1883664">
                <a:moveTo>
                  <a:pt x="0" y="0"/>
                </a:moveTo>
                <a:lnTo>
                  <a:pt x="12953390" y="0"/>
                </a:lnTo>
                <a:lnTo>
                  <a:pt x="12953390" y="1883664"/>
                </a:lnTo>
                <a:lnTo>
                  <a:pt x="0" y="1883664"/>
                </a:lnTo>
                <a:close/>
              </a:path>
            </a:pathLst>
          </a:custGeom>
          <a:blipFill rotWithShape="0">
            <a:blip r:embed="rId5">
              <a:alphaModFix amt="0"/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Box 21"/>
          <p:cNvSpPr/>
          <p:nvPr/>
        </p:nvSpPr>
        <p:spPr>
          <a:xfrm>
            <a:off x="7818120" y="1444320"/>
            <a:ext cx="9714600" cy="147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ts val="3311"/>
              </a:lnSpc>
            </a:pPr>
            <a:r>
              <a:rPr lang="pt-BR" sz="2470" b="0" u="none" strike="noStrike">
                <a:solidFill>
                  <a:srgbClr val="20261F"/>
                </a:solidFill>
                <a:effectLst/>
                <a:uFillTx/>
                <a:latin typeface="Calibri (MS)"/>
                <a:ea typeface="Calibri (MS)"/>
              </a:rPr>
              <a:t>Cuida da produção e do dinheiro ao mesmo tempo</a:t>
            </a:r>
            <a:endParaRPr lang="pt-BR" sz="24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AutoShape 22"/>
          <p:cNvSpPr/>
          <p:nvPr/>
        </p:nvSpPr>
        <p:spPr>
          <a:xfrm>
            <a:off x="6302160" y="3005280"/>
            <a:ext cx="11238120" cy="14400"/>
          </a:xfrm>
          <a:prstGeom prst="line">
            <a:avLst/>
          </a:prstGeom>
          <a:ln w="9525">
            <a:solidFill>
              <a:srgbClr val="DDD7C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0600" rIns="90000" bIns="-30600" anchor="t" anchorCtr="1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Freeform 24"/>
          <p:cNvSpPr/>
          <p:nvPr/>
        </p:nvSpPr>
        <p:spPr>
          <a:xfrm>
            <a:off x="6309360" y="3264480"/>
            <a:ext cx="1371240" cy="1412280"/>
          </a:xfrm>
          <a:custGeom>
            <a:avLst/>
            <a:gdLst>
              <a:gd name="textAreaLeft" fmla="*/ 0 w 1371240"/>
              <a:gd name="textAreaRight" fmla="*/ 1371600 w 1371240"/>
              <a:gd name="textAreaTop" fmla="*/ 0 h 1412280"/>
              <a:gd name="textAreaBottom" fmla="*/ 1412640 h 1412280"/>
            </a:gdLst>
            <a:ahLst/>
            <a:cxnLst/>
            <a:rect l="textAreaLeft" t="textAreaTop" r="textAreaRight" b="textAreaBottom"/>
            <a:pathLst>
              <a:path w="1828800" h="1883664">
                <a:moveTo>
                  <a:pt x="0" y="0"/>
                </a:moveTo>
                <a:lnTo>
                  <a:pt x="1828800" y="0"/>
                </a:lnTo>
                <a:lnTo>
                  <a:pt x="1828800" y="1883664"/>
                </a:lnTo>
                <a:lnTo>
                  <a:pt x="0" y="1883664"/>
                </a:lnTo>
                <a:close/>
              </a:path>
            </a:pathLst>
          </a:custGeom>
          <a:blipFill rotWithShape="0">
            <a:blip r:embed="rId6">
              <a:alphaModFix amt="0"/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Box 25"/>
          <p:cNvSpPr/>
          <p:nvPr/>
        </p:nvSpPr>
        <p:spPr>
          <a:xfrm>
            <a:off x="6309360" y="3250080"/>
            <a:ext cx="1371240" cy="142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ts val="4320"/>
              </a:lnSpc>
            </a:pPr>
            <a:r>
              <a:rPr lang="pt-BR" sz="3600" b="1" u="none" strike="noStrike">
                <a:solidFill>
                  <a:srgbClr val="A8532E"/>
                </a:solidFill>
                <a:effectLst/>
                <a:uFillTx/>
                <a:latin typeface="Cambria Bold"/>
                <a:ea typeface="Cambria Bold"/>
              </a:rPr>
              <a:t>02</a:t>
            </a:r>
            <a:endParaRPr lang="pt-BR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Freeform 27"/>
          <p:cNvSpPr/>
          <p:nvPr/>
        </p:nvSpPr>
        <p:spPr>
          <a:xfrm>
            <a:off x="7818120" y="3264480"/>
            <a:ext cx="9714600" cy="1412280"/>
          </a:xfrm>
          <a:custGeom>
            <a:avLst/>
            <a:gdLst>
              <a:gd name="textAreaLeft" fmla="*/ 0 w 9714600"/>
              <a:gd name="textAreaRight" fmla="*/ 9714960 w 9714600"/>
              <a:gd name="textAreaTop" fmla="*/ 0 h 1412280"/>
              <a:gd name="textAreaBottom" fmla="*/ 1412640 h 1412280"/>
            </a:gdLst>
            <a:ahLst/>
            <a:cxnLst/>
            <a:rect l="textAreaLeft" t="textAreaTop" r="textAreaRight" b="textAreaBottom"/>
            <a:pathLst>
              <a:path w="12953390" h="1883664">
                <a:moveTo>
                  <a:pt x="0" y="0"/>
                </a:moveTo>
                <a:lnTo>
                  <a:pt x="12953390" y="0"/>
                </a:lnTo>
                <a:lnTo>
                  <a:pt x="12953390" y="1883664"/>
                </a:lnTo>
                <a:lnTo>
                  <a:pt x="0" y="1883664"/>
                </a:lnTo>
                <a:close/>
              </a:path>
            </a:pathLst>
          </a:custGeom>
          <a:blipFill rotWithShape="0">
            <a:blip r:embed="rId7">
              <a:alphaModFix amt="0"/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Box 28"/>
          <p:cNvSpPr/>
          <p:nvPr/>
        </p:nvSpPr>
        <p:spPr>
          <a:xfrm>
            <a:off x="7818120" y="3200040"/>
            <a:ext cx="9714600" cy="147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ts val="3311"/>
              </a:lnSpc>
            </a:pPr>
            <a:r>
              <a:rPr lang="pt-BR" sz="2470" b="0" u="none" strike="noStrike">
                <a:solidFill>
                  <a:srgbClr val="20261F"/>
                </a:solidFill>
                <a:effectLst/>
                <a:uFillTx/>
                <a:latin typeface="Calibri (MS)"/>
                <a:ea typeface="Calibri (MS)"/>
              </a:rPr>
              <a:t>Anota tudo em caderno, WhatsApp ou de memória</a:t>
            </a:r>
            <a:endParaRPr lang="pt-BR" sz="24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AutoShape 29"/>
          <p:cNvSpPr/>
          <p:nvPr/>
        </p:nvSpPr>
        <p:spPr>
          <a:xfrm>
            <a:off x="6302160" y="4761000"/>
            <a:ext cx="11238120" cy="14400"/>
          </a:xfrm>
          <a:prstGeom prst="line">
            <a:avLst/>
          </a:prstGeom>
          <a:ln w="9525">
            <a:solidFill>
              <a:srgbClr val="DDD7C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0600" rIns="90000" bIns="-30600" anchor="t" anchorCtr="1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Freeform 31"/>
          <p:cNvSpPr/>
          <p:nvPr/>
        </p:nvSpPr>
        <p:spPr>
          <a:xfrm>
            <a:off x="6309360" y="5020200"/>
            <a:ext cx="1371240" cy="1412280"/>
          </a:xfrm>
          <a:custGeom>
            <a:avLst/>
            <a:gdLst>
              <a:gd name="textAreaLeft" fmla="*/ 0 w 1371240"/>
              <a:gd name="textAreaRight" fmla="*/ 1371600 w 1371240"/>
              <a:gd name="textAreaTop" fmla="*/ 0 h 1412280"/>
              <a:gd name="textAreaBottom" fmla="*/ 1412640 h 1412280"/>
            </a:gdLst>
            <a:ahLst/>
            <a:cxnLst/>
            <a:rect l="textAreaLeft" t="textAreaTop" r="textAreaRight" b="textAreaBottom"/>
            <a:pathLst>
              <a:path w="1828800" h="1883664">
                <a:moveTo>
                  <a:pt x="0" y="0"/>
                </a:moveTo>
                <a:lnTo>
                  <a:pt x="1828800" y="0"/>
                </a:lnTo>
                <a:lnTo>
                  <a:pt x="1828800" y="1883664"/>
                </a:lnTo>
                <a:lnTo>
                  <a:pt x="0" y="1883664"/>
                </a:lnTo>
                <a:close/>
              </a:path>
            </a:pathLst>
          </a:custGeom>
          <a:blipFill rotWithShape="0">
            <a:blip r:embed="rId8">
              <a:alphaModFix amt="0"/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Box 32"/>
          <p:cNvSpPr/>
          <p:nvPr/>
        </p:nvSpPr>
        <p:spPr>
          <a:xfrm>
            <a:off x="6309360" y="5005800"/>
            <a:ext cx="1371240" cy="142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ts val="4320"/>
              </a:lnSpc>
            </a:pPr>
            <a:r>
              <a:rPr lang="pt-BR" sz="3600" b="1" u="none" strike="noStrike">
                <a:solidFill>
                  <a:srgbClr val="A8532E"/>
                </a:solidFill>
                <a:effectLst/>
                <a:uFillTx/>
                <a:latin typeface="Cambria Bold"/>
                <a:ea typeface="Cambria Bold"/>
              </a:rPr>
              <a:t>03</a:t>
            </a:r>
            <a:endParaRPr lang="pt-BR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Freeform 34"/>
          <p:cNvSpPr/>
          <p:nvPr/>
        </p:nvSpPr>
        <p:spPr>
          <a:xfrm>
            <a:off x="7818120" y="5020200"/>
            <a:ext cx="9714600" cy="1412280"/>
          </a:xfrm>
          <a:custGeom>
            <a:avLst/>
            <a:gdLst>
              <a:gd name="textAreaLeft" fmla="*/ 0 w 9714600"/>
              <a:gd name="textAreaRight" fmla="*/ 9714960 w 9714600"/>
              <a:gd name="textAreaTop" fmla="*/ 0 h 1412280"/>
              <a:gd name="textAreaBottom" fmla="*/ 1412640 h 1412280"/>
            </a:gdLst>
            <a:ahLst/>
            <a:cxnLst/>
            <a:rect l="textAreaLeft" t="textAreaTop" r="textAreaRight" b="textAreaBottom"/>
            <a:pathLst>
              <a:path w="12953390" h="1883664">
                <a:moveTo>
                  <a:pt x="0" y="0"/>
                </a:moveTo>
                <a:lnTo>
                  <a:pt x="12953390" y="0"/>
                </a:lnTo>
                <a:lnTo>
                  <a:pt x="12953390" y="1883664"/>
                </a:lnTo>
                <a:lnTo>
                  <a:pt x="0" y="1883664"/>
                </a:lnTo>
                <a:close/>
              </a:path>
            </a:pathLst>
          </a:custGeom>
          <a:blipFill rotWithShape="0">
            <a:blip r:embed="rId9">
              <a:alphaModFix amt="0"/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Box 35"/>
          <p:cNvSpPr/>
          <p:nvPr/>
        </p:nvSpPr>
        <p:spPr>
          <a:xfrm>
            <a:off x="7818120" y="4955760"/>
            <a:ext cx="9714600" cy="147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ts val="3311"/>
              </a:lnSpc>
            </a:pPr>
            <a:r>
              <a:rPr lang="pt-BR" sz="2470" b="0" u="none" strike="noStrike">
                <a:solidFill>
                  <a:srgbClr val="20261F"/>
                </a:solidFill>
                <a:effectLst/>
                <a:uFillTx/>
                <a:latin typeface="Calibri (MS)"/>
                <a:ea typeface="Calibri (MS)"/>
              </a:rPr>
              <a:t>Sistemas prontos costumam ser caros e complicados</a:t>
            </a:r>
            <a:endParaRPr lang="pt-BR" sz="24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AutoShape 36"/>
          <p:cNvSpPr/>
          <p:nvPr/>
        </p:nvSpPr>
        <p:spPr>
          <a:xfrm>
            <a:off x="6302160" y="6516720"/>
            <a:ext cx="11238120" cy="14400"/>
          </a:xfrm>
          <a:prstGeom prst="line">
            <a:avLst/>
          </a:prstGeom>
          <a:ln w="9525">
            <a:solidFill>
              <a:srgbClr val="DDD7C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0600" rIns="90000" bIns="-30600" anchor="t" anchorCtr="1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Freeform 38"/>
          <p:cNvSpPr/>
          <p:nvPr/>
        </p:nvSpPr>
        <p:spPr>
          <a:xfrm>
            <a:off x="6309360" y="6775560"/>
            <a:ext cx="1371240" cy="1412280"/>
          </a:xfrm>
          <a:custGeom>
            <a:avLst/>
            <a:gdLst>
              <a:gd name="textAreaLeft" fmla="*/ 0 w 1371240"/>
              <a:gd name="textAreaRight" fmla="*/ 1371600 w 1371240"/>
              <a:gd name="textAreaTop" fmla="*/ 0 h 1412280"/>
              <a:gd name="textAreaBottom" fmla="*/ 1412640 h 1412280"/>
            </a:gdLst>
            <a:ahLst/>
            <a:cxnLst/>
            <a:rect l="textAreaLeft" t="textAreaTop" r="textAreaRight" b="textAreaBottom"/>
            <a:pathLst>
              <a:path w="1828800" h="1883664">
                <a:moveTo>
                  <a:pt x="0" y="0"/>
                </a:moveTo>
                <a:lnTo>
                  <a:pt x="1828800" y="0"/>
                </a:lnTo>
                <a:lnTo>
                  <a:pt x="1828800" y="1883664"/>
                </a:lnTo>
                <a:lnTo>
                  <a:pt x="0" y="1883664"/>
                </a:lnTo>
                <a:close/>
              </a:path>
            </a:pathLst>
          </a:custGeom>
          <a:blipFill rotWithShape="0">
            <a:blip r:embed="rId10">
              <a:alphaModFix amt="0"/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Box 39"/>
          <p:cNvSpPr/>
          <p:nvPr/>
        </p:nvSpPr>
        <p:spPr>
          <a:xfrm>
            <a:off x="6309360" y="6761520"/>
            <a:ext cx="1371240" cy="142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ts val="4320"/>
              </a:lnSpc>
            </a:pPr>
            <a:r>
              <a:rPr lang="pt-BR" sz="3600" b="1" u="none" strike="noStrike">
                <a:solidFill>
                  <a:srgbClr val="A8532E"/>
                </a:solidFill>
                <a:effectLst/>
                <a:uFillTx/>
                <a:latin typeface="Cambria Bold"/>
                <a:ea typeface="Cambria Bold"/>
              </a:rPr>
              <a:t>04</a:t>
            </a:r>
            <a:endParaRPr lang="pt-BR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Freeform 41"/>
          <p:cNvSpPr/>
          <p:nvPr/>
        </p:nvSpPr>
        <p:spPr>
          <a:xfrm>
            <a:off x="-754560" y="5074920"/>
            <a:ext cx="7269120" cy="5623200"/>
          </a:xfrm>
          <a:custGeom>
            <a:avLst/>
            <a:gdLst>
              <a:gd name="textAreaLeft" fmla="*/ 0 w 7269120"/>
              <a:gd name="textAreaRight" fmla="*/ 7269480 w 7269120"/>
              <a:gd name="textAreaTop" fmla="*/ 0 h 5623200"/>
              <a:gd name="textAreaBottom" fmla="*/ 5623560 h 5623200"/>
            </a:gdLst>
            <a:ahLst/>
            <a:cxnLst/>
            <a:rect l="textAreaLeft" t="textAreaTop" r="textAreaRight" b="textAreaBottom"/>
            <a:pathLst>
              <a:path w="9692640" h="7498080">
                <a:moveTo>
                  <a:pt x="0" y="0"/>
                </a:moveTo>
                <a:lnTo>
                  <a:pt x="9692640" y="0"/>
                </a:lnTo>
                <a:lnTo>
                  <a:pt x="9692640" y="7498080"/>
                </a:lnTo>
                <a:lnTo>
                  <a:pt x="0" y="7498080"/>
                </a:lnTo>
                <a:close/>
              </a:path>
            </a:pathLst>
          </a:custGeom>
          <a:blipFill rotWithShape="0">
            <a:blip r:embed="rId11">
              <a:alphaModFix amt="0"/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Box 42"/>
          <p:cNvSpPr/>
          <p:nvPr/>
        </p:nvSpPr>
        <p:spPr>
          <a:xfrm>
            <a:off x="-754560" y="5067720"/>
            <a:ext cx="7269120" cy="563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b">
            <a:noAutofit/>
          </a:bodyPr>
          <a:p>
            <a:pPr>
              <a:lnSpc>
                <a:spcPts val="45000"/>
              </a:lnSpc>
            </a:pPr>
            <a:r>
              <a:rPr lang="pt-BR" sz="37500" b="1" u="none" strike="noStrike">
                <a:solidFill>
                  <a:srgbClr val="224539"/>
                </a:solidFill>
                <a:effectLst/>
                <a:uFillTx/>
                <a:latin typeface="Cambria Bold"/>
                <a:ea typeface="Cambria Bold"/>
              </a:rPr>
              <a:t>02</a:t>
            </a:r>
            <a:endParaRPr lang="pt-BR" sz="37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Freeform 44"/>
          <p:cNvSpPr/>
          <p:nvPr/>
        </p:nvSpPr>
        <p:spPr>
          <a:xfrm>
            <a:off x="7818120" y="6775560"/>
            <a:ext cx="9714600" cy="1412280"/>
          </a:xfrm>
          <a:custGeom>
            <a:avLst/>
            <a:gdLst>
              <a:gd name="textAreaLeft" fmla="*/ 0 w 9714600"/>
              <a:gd name="textAreaRight" fmla="*/ 9714960 w 9714600"/>
              <a:gd name="textAreaTop" fmla="*/ 0 h 1412280"/>
              <a:gd name="textAreaBottom" fmla="*/ 1412640 h 1412280"/>
            </a:gdLst>
            <a:ahLst/>
            <a:cxnLst/>
            <a:rect l="textAreaLeft" t="textAreaTop" r="textAreaRight" b="textAreaBottom"/>
            <a:pathLst>
              <a:path w="12953390" h="1883664">
                <a:moveTo>
                  <a:pt x="0" y="0"/>
                </a:moveTo>
                <a:lnTo>
                  <a:pt x="12953390" y="0"/>
                </a:lnTo>
                <a:lnTo>
                  <a:pt x="12953390" y="1883664"/>
                </a:lnTo>
                <a:lnTo>
                  <a:pt x="0" y="1883664"/>
                </a:lnTo>
                <a:close/>
              </a:path>
            </a:pathLst>
          </a:custGeom>
          <a:blipFill rotWithShape="0">
            <a:blip r:embed="rId12">
              <a:alphaModFix amt="0"/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Box 45"/>
          <p:cNvSpPr/>
          <p:nvPr/>
        </p:nvSpPr>
        <p:spPr>
          <a:xfrm>
            <a:off x="7818120" y="6711480"/>
            <a:ext cx="9714600" cy="147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ts val="3311"/>
              </a:lnSpc>
            </a:pPr>
            <a:r>
              <a:rPr lang="pt-BR" sz="2470" b="0" u="none" strike="noStrike">
                <a:solidFill>
                  <a:srgbClr val="20261F"/>
                </a:solidFill>
                <a:effectLst/>
                <a:uFillTx/>
                <a:latin typeface="Calibri (MS)"/>
                <a:ea typeface="Calibri (MS)"/>
              </a:rPr>
              <a:t>Não quer pagar por funções que nunca vai usar</a:t>
            </a:r>
            <a:endParaRPr lang="pt-BR" sz="24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Freeform 3"/>
          <p:cNvSpPr/>
          <p:nvPr/>
        </p:nvSpPr>
        <p:spPr>
          <a:xfrm>
            <a:off x="5555160" y="0"/>
            <a:ext cx="12732120" cy="10286640"/>
          </a:xfrm>
          <a:custGeom>
            <a:avLst/>
            <a:gdLst>
              <a:gd name="textAreaLeft" fmla="*/ 0 w 12732120"/>
              <a:gd name="textAreaRight" fmla="*/ 12732480 w 12732120"/>
              <a:gd name="textAreaTop" fmla="*/ 0 h 10286640"/>
              <a:gd name="textAreaBottom" fmla="*/ 10287000 h 10286640"/>
            </a:gdLst>
            <a:ahLst/>
            <a:cxnLst/>
            <a:rect l="textAreaLeft" t="textAreaTop" r="textAreaRight" b="textAreaBottom"/>
            <a:pathLst>
              <a:path w="16976725" h="13716000">
                <a:moveTo>
                  <a:pt x="0" y="0"/>
                </a:moveTo>
                <a:lnTo>
                  <a:pt x="16976725" y="0"/>
                </a:lnTo>
                <a:lnTo>
                  <a:pt x="16976725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FBF9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Freeform 5"/>
          <p:cNvSpPr/>
          <p:nvPr/>
        </p:nvSpPr>
        <p:spPr>
          <a:xfrm>
            <a:off x="0" y="0"/>
            <a:ext cx="5554800" cy="10286640"/>
          </a:xfrm>
          <a:custGeom>
            <a:avLst/>
            <a:gdLst>
              <a:gd name="textAreaLeft" fmla="*/ 0 w 5554800"/>
              <a:gd name="textAreaRight" fmla="*/ 5555160 w 5554800"/>
              <a:gd name="textAreaTop" fmla="*/ 0 h 10286640"/>
              <a:gd name="textAreaBottom" fmla="*/ 10287000 h 10286640"/>
            </a:gdLst>
            <a:ahLst/>
            <a:cxnLst/>
            <a:rect l="textAreaLeft" t="textAreaTop" r="textAreaRight" b="textAreaBottom"/>
            <a:pathLst>
              <a:path w="7406640" h="13716000">
                <a:moveTo>
                  <a:pt x="0" y="0"/>
                </a:moveTo>
                <a:lnTo>
                  <a:pt x="7406640" y="0"/>
                </a:lnTo>
                <a:lnTo>
                  <a:pt x="740664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1630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" name="Freeform 7"/>
          <p:cNvSpPr/>
          <p:nvPr/>
        </p:nvSpPr>
        <p:spPr>
          <a:xfrm>
            <a:off x="-754560" y="5074920"/>
            <a:ext cx="7269120" cy="5623200"/>
          </a:xfrm>
          <a:custGeom>
            <a:avLst/>
            <a:gdLst>
              <a:gd name="textAreaLeft" fmla="*/ 0 w 7269120"/>
              <a:gd name="textAreaRight" fmla="*/ 7269480 w 7269120"/>
              <a:gd name="textAreaTop" fmla="*/ 0 h 5623200"/>
              <a:gd name="textAreaBottom" fmla="*/ 5623560 h 5623200"/>
            </a:gdLst>
            <a:ahLst/>
            <a:cxnLst/>
            <a:rect l="textAreaLeft" t="textAreaTop" r="textAreaRight" b="textAreaBottom"/>
            <a:pathLst>
              <a:path w="9692640" h="7498080">
                <a:moveTo>
                  <a:pt x="0" y="0"/>
                </a:moveTo>
                <a:lnTo>
                  <a:pt x="9692640" y="0"/>
                </a:lnTo>
                <a:lnTo>
                  <a:pt x="9692640" y="7498080"/>
                </a:lnTo>
                <a:lnTo>
                  <a:pt x="0" y="7498080"/>
                </a:lnTo>
                <a:close/>
              </a:path>
            </a:pathLst>
          </a:custGeom>
          <a:blipFill rotWithShape="0">
            <a:blip r:embed="rId1">
              <a:alphaModFix amt="0"/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Box 8"/>
          <p:cNvSpPr/>
          <p:nvPr/>
        </p:nvSpPr>
        <p:spPr>
          <a:xfrm>
            <a:off x="-754560" y="5067720"/>
            <a:ext cx="7269120" cy="563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b">
            <a:noAutofit/>
          </a:bodyPr>
          <a:p>
            <a:pPr>
              <a:lnSpc>
                <a:spcPts val="45000"/>
              </a:lnSpc>
            </a:pPr>
            <a:r>
              <a:rPr lang="pt-BR" sz="37500" b="1" u="none" strike="noStrike">
                <a:solidFill>
                  <a:srgbClr val="224539"/>
                </a:solidFill>
                <a:effectLst/>
                <a:uFillTx/>
                <a:latin typeface="Cambria Bold"/>
                <a:ea typeface="Cambria Bold"/>
              </a:rPr>
              <a:t>03</a:t>
            </a:r>
            <a:endParaRPr lang="pt-BR" sz="37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Freeform 10"/>
          <p:cNvSpPr/>
          <p:nvPr/>
        </p:nvSpPr>
        <p:spPr>
          <a:xfrm>
            <a:off x="754560" y="891720"/>
            <a:ext cx="4388760" cy="548280"/>
          </a:xfrm>
          <a:custGeom>
            <a:avLst/>
            <a:gdLst>
              <a:gd name="textAreaLeft" fmla="*/ 0 w 4388760"/>
              <a:gd name="textAreaRight" fmla="*/ 4389120 w 4388760"/>
              <a:gd name="textAreaTop" fmla="*/ 0 h 548280"/>
              <a:gd name="textAreaBottom" fmla="*/ 548640 h 548280"/>
            </a:gdLst>
            <a:ahLst/>
            <a:cxnLst/>
            <a:rect l="textAreaLeft" t="textAreaTop" r="textAreaRight" b="textAreaBottom"/>
            <a:pathLst>
              <a:path w="5852160" h="731520">
                <a:moveTo>
                  <a:pt x="0" y="0"/>
                </a:moveTo>
                <a:lnTo>
                  <a:pt x="5852160" y="0"/>
                </a:lnTo>
                <a:lnTo>
                  <a:pt x="5852160" y="731520"/>
                </a:lnTo>
                <a:lnTo>
                  <a:pt x="0" y="731520"/>
                </a:lnTo>
                <a:close/>
              </a:path>
            </a:pathLst>
          </a:custGeom>
          <a:blipFill rotWithShape="0">
            <a:blip r:embed="rId2">
              <a:alphaModFix amt="0"/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Box 11"/>
          <p:cNvSpPr/>
          <p:nvPr/>
        </p:nvSpPr>
        <p:spPr>
          <a:xfrm>
            <a:off x="754560" y="862920"/>
            <a:ext cx="4388760" cy="57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ts val="2160"/>
              </a:lnSpc>
            </a:pPr>
            <a:r>
              <a:rPr lang="pt-BR" sz="1800" b="1" u="none" strike="noStrike">
                <a:solidFill>
                  <a:srgbClr val="A8532E"/>
                </a:solidFill>
                <a:effectLst/>
                <a:uFillTx/>
                <a:latin typeface="Calibri (MS) Bold"/>
                <a:ea typeface="Calibri (MS) Bold"/>
              </a:rPr>
              <a:t>A OPORTUNIDADE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Box 12"/>
          <p:cNvSpPr/>
          <p:nvPr/>
        </p:nvSpPr>
        <p:spPr>
          <a:xfrm>
            <a:off x="754560" y="1510560"/>
            <a:ext cx="4388760" cy="459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ts val="4635"/>
              </a:lnSpc>
            </a:pPr>
            <a:r>
              <a:rPr lang="pt-BR" sz="3450" b="1" u="none" strike="noStrike">
                <a:solidFill>
                  <a:srgbClr val="FFFFFF"/>
                </a:solidFill>
                <a:effectLst/>
                <a:uFillTx/>
                <a:latin typeface="Cambria Bold"/>
                <a:ea typeface="Cambria Bold"/>
              </a:rPr>
              <a:t>Um mercado gigante ainda sem solução simples</a:t>
            </a:r>
            <a:endParaRPr lang="pt-BR" sz="3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Freeform 14"/>
          <p:cNvSpPr/>
          <p:nvPr/>
        </p:nvSpPr>
        <p:spPr>
          <a:xfrm>
            <a:off x="754560" y="9642240"/>
            <a:ext cx="3565800" cy="411120"/>
          </a:xfrm>
          <a:custGeom>
            <a:avLst/>
            <a:gdLst>
              <a:gd name="textAreaLeft" fmla="*/ 0 w 3565800"/>
              <a:gd name="textAreaRight" fmla="*/ 3566160 w 3565800"/>
              <a:gd name="textAreaTop" fmla="*/ 0 h 411120"/>
              <a:gd name="textAreaBottom" fmla="*/ 411480 h 411120"/>
            </a:gdLst>
            <a:ahLst/>
            <a:cxnLst/>
            <a:rect l="textAreaLeft" t="textAreaTop" r="textAreaRight" b="textAreaBottom"/>
            <a:pathLst>
              <a:path w="4754880" h="548640">
                <a:moveTo>
                  <a:pt x="0" y="0"/>
                </a:moveTo>
                <a:lnTo>
                  <a:pt x="4754880" y="0"/>
                </a:lnTo>
                <a:lnTo>
                  <a:pt x="4754880" y="548640"/>
                </a:lnTo>
                <a:lnTo>
                  <a:pt x="0" y="548640"/>
                </a:lnTo>
                <a:close/>
              </a:path>
            </a:pathLst>
          </a:custGeom>
          <a:blipFill rotWithShape="0">
            <a:blip r:embed="rId3">
              <a:alphaModFix amt="0"/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Box 15"/>
          <p:cNvSpPr/>
          <p:nvPr/>
        </p:nvSpPr>
        <p:spPr>
          <a:xfrm>
            <a:off x="754560" y="9621000"/>
            <a:ext cx="3565800" cy="43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ts val="1621"/>
              </a:lnSpc>
            </a:pPr>
            <a:r>
              <a:rPr lang="pt-BR" sz="1350" b="1" u="none" strike="noStrike">
                <a:solidFill>
                  <a:srgbClr val="9BAE97"/>
                </a:solidFill>
                <a:effectLst/>
                <a:uFillTx/>
                <a:latin typeface="Calibri (MS) Bold"/>
                <a:ea typeface="Calibri (MS) Bold"/>
              </a:rPr>
              <a:t>AGROGESTÃO PRO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Freeform 17"/>
          <p:cNvSpPr/>
          <p:nvPr/>
        </p:nvSpPr>
        <p:spPr>
          <a:xfrm>
            <a:off x="4389120" y="9601200"/>
            <a:ext cx="822600" cy="479880"/>
          </a:xfrm>
          <a:custGeom>
            <a:avLst/>
            <a:gdLst>
              <a:gd name="textAreaLeft" fmla="*/ 0 w 822600"/>
              <a:gd name="textAreaRight" fmla="*/ 822960 w 822600"/>
              <a:gd name="textAreaTop" fmla="*/ 0 h 479880"/>
              <a:gd name="textAreaBottom" fmla="*/ 480240 h 479880"/>
            </a:gdLst>
            <a:ahLst/>
            <a:cxnLst/>
            <a:rect l="textAreaLeft" t="textAreaTop" r="textAreaRight" b="textAreaBottom"/>
            <a:pathLst>
              <a:path w="1097280" h="640080">
                <a:moveTo>
                  <a:pt x="0" y="0"/>
                </a:moveTo>
                <a:lnTo>
                  <a:pt x="1097280" y="0"/>
                </a:lnTo>
                <a:lnTo>
                  <a:pt x="1097280" y="640080"/>
                </a:lnTo>
                <a:lnTo>
                  <a:pt x="0" y="640080"/>
                </a:lnTo>
                <a:close/>
              </a:path>
            </a:pathLst>
          </a:custGeom>
          <a:blipFill rotWithShape="0">
            <a:blip r:embed="rId4">
              <a:alphaModFix amt="0"/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Box 18"/>
          <p:cNvSpPr/>
          <p:nvPr/>
        </p:nvSpPr>
        <p:spPr>
          <a:xfrm>
            <a:off x="4389120" y="9579600"/>
            <a:ext cx="82260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>
              <a:lnSpc>
                <a:spcPts val="1981"/>
              </a:lnSpc>
            </a:pPr>
            <a:r>
              <a:rPr lang="pt-BR" sz="1650" b="0" u="none" strike="noStrike">
                <a:solidFill>
                  <a:srgbClr val="9BAE97"/>
                </a:solidFill>
                <a:effectLst/>
                <a:uFillTx/>
                <a:latin typeface="Calibri (MS)"/>
                <a:ea typeface="Calibri (MS)"/>
              </a:rPr>
              <a:t>03</a:t>
            </a:r>
            <a:endParaRPr lang="pt-BR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Freeform 20"/>
          <p:cNvSpPr/>
          <p:nvPr/>
        </p:nvSpPr>
        <p:spPr>
          <a:xfrm>
            <a:off x="6309360" y="1166040"/>
            <a:ext cx="11223360" cy="1851480"/>
          </a:xfrm>
          <a:custGeom>
            <a:avLst/>
            <a:gdLst>
              <a:gd name="textAreaLeft" fmla="*/ 0 w 11223360"/>
              <a:gd name="textAreaRight" fmla="*/ 11223720 w 11223360"/>
              <a:gd name="textAreaTop" fmla="*/ 0 h 1851480"/>
              <a:gd name="textAreaBottom" fmla="*/ 1851840 h 1851480"/>
            </a:gdLst>
            <a:ahLst/>
            <a:cxnLst/>
            <a:rect l="textAreaLeft" t="textAreaTop" r="textAreaRight" b="textAreaBottom"/>
            <a:pathLst>
              <a:path w="14965069" h="2468880">
                <a:moveTo>
                  <a:pt x="0" y="0"/>
                </a:moveTo>
                <a:lnTo>
                  <a:pt x="14965069" y="0"/>
                </a:lnTo>
                <a:lnTo>
                  <a:pt x="14965069" y="2468880"/>
                </a:lnTo>
                <a:lnTo>
                  <a:pt x="0" y="2468880"/>
                </a:lnTo>
                <a:close/>
              </a:path>
            </a:pathLst>
          </a:custGeom>
          <a:blipFill rotWithShape="0">
            <a:blip r:embed="rId5">
              <a:alphaModFix amt="0"/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Box 21"/>
          <p:cNvSpPr/>
          <p:nvPr/>
        </p:nvSpPr>
        <p:spPr>
          <a:xfrm>
            <a:off x="6309360" y="1158840"/>
            <a:ext cx="11223360" cy="185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ts val="11880"/>
              </a:lnSpc>
            </a:pPr>
            <a:r>
              <a:rPr lang="pt-BR" sz="5550" b="1" u="none" strike="noStrike">
                <a:solidFill>
                  <a:srgbClr val="A8532E"/>
                </a:solidFill>
                <a:effectLst/>
                <a:uFillTx/>
                <a:latin typeface="Cambria Bold"/>
                <a:ea typeface="Cambria Bold"/>
              </a:rPr>
              <a:t>Milhões</a:t>
            </a:r>
            <a:endParaRPr lang="pt-BR" sz="5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Freeform 23"/>
          <p:cNvSpPr/>
          <p:nvPr/>
        </p:nvSpPr>
        <p:spPr>
          <a:xfrm>
            <a:off x="6309360" y="2949120"/>
            <a:ext cx="9851760" cy="891360"/>
          </a:xfrm>
          <a:custGeom>
            <a:avLst/>
            <a:gdLst>
              <a:gd name="textAreaLeft" fmla="*/ 0 w 9851760"/>
              <a:gd name="textAreaRight" fmla="*/ 9852120 w 9851760"/>
              <a:gd name="textAreaTop" fmla="*/ 0 h 891360"/>
              <a:gd name="textAreaBottom" fmla="*/ 891720 h 891360"/>
            </a:gdLst>
            <a:ahLst/>
            <a:cxnLst/>
            <a:rect l="textAreaLeft" t="textAreaTop" r="textAreaRight" b="textAreaBottom"/>
            <a:pathLst>
              <a:path w="13136269" h="1188720">
                <a:moveTo>
                  <a:pt x="0" y="0"/>
                </a:moveTo>
                <a:lnTo>
                  <a:pt x="13136269" y="0"/>
                </a:lnTo>
                <a:lnTo>
                  <a:pt x="13136269" y="1188720"/>
                </a:lnTo>
                <a:lnTo>
                  <a:pt x="0" y="1188720"/>
                </a:lnTo>
                <a:close/>
              </a:path>
            </a:pathLst>
          </a:custGeom>
          <a:blipFill rotWithShape="0">
            <a:blip r:embed="rId6">
              <a:alphaModFix amt="0"/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Box 24"/>
          <p:cNvSpPr/>
          <p:nvPr/>
        </p:nvSpPr>
        <p:spPr>
          <a:xfrm>
            <a:off x="6309360" y="2877480"/>
            <a:ext cx="9851760" cy="96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ts val="3209"/>
              </a:lnSpc>
            </a:pPr>
            <a:r>
              <a:rPr lang="pt-BR" sz="2320" b="0" u="none" strike="noStrike">
                <a:solidFill>
                  <a:srgbClr val="20261F"/>
                </a:solidFill>
                <a:effectLst/>
                <a:uFillTx/>
                <a:latin typeface="Calibri (MS)"/>
                <a:ea typeface="Calibri (MS)"/>
              </a:rPr>
              <a:t>de agricultores familiares sustentam a produção de alimentos no Brasil</a:t>
            </a:r>
            <a:endParaRPr lang="pt-BR" sz="2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AutoShape 25"/>
          <p:cNvSpPr/>
          <p:nvPr/>
        </p:nvSpPr>
        <p:spPr>
          <a:xfrm>
            <a:off x="6302160" y="4171320"/>
            <a:ext cx="11238120" cy="14400"/>
          </a:xfrm>
          <a:prstGeom prst="line">
            <a:avLst/>
          </a:prstGeom>
          <a:ln w="9525">
            <a:solidFill>
              <a:srgbClr val="DDD7C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0600" rIns="90000" bIns="-30600" anchor="t" anchorCtr="1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Freeform 27"/>
          <p:cNvSpPr/>
          <p:nvPr/>
        </p:nvSpPr>
        <p:spPr>
          <a:xfrm>
            <a:off x="6309360" y="4457880"/>
            <a:ext cx="685440" cy="1261440"/>
          </a:xfrm>
          <a:custGeom>
            <a:avLst/>
            <a:gdLst>
              <a:gd name="textAreaLeft" fmla="*/ 0 w 685440"/>
              <a:gd name="textAreaRight" fmla="*/ 685800 w 685440"/>
              <a:gd name="textAreaTop" fmla="*/ 0 h 1261440"/>
              <a:gd name="textAreaBottom" fmla="*/ 1261800 h 1261440"/>
            </a:gdLst>
            <a:ahLst/>
            <a:cxnLst/>
            <a:rect l="textAreaLeft" t="textAreaTop" r="textAreaRight" b="textAreaBottom"/>
            <a:pathLst>
              <a:path w="914400" h="1682496">
                <a:moveTo>
                  <a:pt x="0" y="0"/>
                </a:moveTo>
                <a:lnTo>
                  <a:pt x="914400" y="0"/>
                </a:lnTo>
                <a:lnTo>
                  <a:pt x="914400" y="1682496"/>
                </a:lnTo>
                <a:lnTo>
                  <a:pt x="0" y="1682496"/>
                </a:lnTo>
                <a:close/>
              </a:path>
            </a:pathLst>
          </a:custGeom>
          <a:blipFill rotWithShape="0">
            <a:blip r:embed="rId7">
              <a:alphaModFix amt="0"/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Box 28"/>
          <p:cNvSpPr/>
          <p:nvPr/>
        </p:nvSpPr>
        <p:spPr>
          <a:xfrm>
            <a:off x="6309360" y="4429080"/>
            <a:ext cx="685440" cy="129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ts val="2880"/>
              </a:lnSpc>
            </a:pPr>
            <a:r>
              <a:rPr lang="pt-BR" sz="2400" b="1" u="none" strike="noStrike">
                <a:solidFill>
                  <a:srgbClr val="9BAE97"/>
                </a:solidFill>
                <a:effectLst/>
                <a:uFillTx/>
                <a:latin typeface="Calibri (MS) Bold"/>
                <a:ea typeface="Calibri (MS) Bold"/>
              </a:rPr>
              <a:t>—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Freeform 30"/>
          <p:cNvSpPr/>
          <p:nvPr/>
        </p:nvSpPr>
        <p:spPr>
          <a:xfrm>
            <a:off x="7063920" y="4457880"/>
            <a:ext cx="10469160" cy="1261440"/>
          </a:xfrm>
          <a:custGeom>
            <a:avLst/>
            <a:gdLst>
              <a:gd name="textAreaLeft" fmla="*/ 0 w 10469160"/>
              <a:gd name="textAreaRight" fmla="*/ 10469520 w 10469160"/>
              <a:gd name="textAreaTop" fmla="*/ 0 h 1261440"/>
              <a:gd name="textAreaBottom" fmla="*/ 1261800 h 1261440"/>
            </a:gdLst>
            <a:ahLst/>
            <a:cxnLst/>
            <a:rect l="textAreaLeft" t="textAreaTop" r="textAreaRight" b="textAreaBottom"/>
            <a:pathLst>
              <a:path w="13959230" h="1682496">
                <a:moveTo>
                  <a:pt x="0" y="0"/>
                </a:moveTo>
                <a:lnTo>
                  <a:pt x="13959230" y="0"/>
                </a:lnTo>
                <a:lnTo>
                  <a:pt x="13959230" y="1682496"/>
                </a:lnTo>
                <a:lnTo>
                  <a:pt x="0" y="1682496"/>
                </a:lnTo>
                <a:close/>
              </a:path>
            </a:pathLst>
          </a:custGeom>
          <a:blipFill rotWithShape="0">
            <a:blip r:embed="rId8">
              <a:alphaModFix amt="0"/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Box 31"/>
          <p:cNvSpPr/>
          <p:nvPr/>
        </p:nvSpPr>
        <p:spPr>
          <a:xfrm>
            <a:off x="7063920" y="4393440"/>
            <a:ext cx="10469160" cy="132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ts val="3002"/>
              </a:lnSpc>
            </a:pPr>
            <a:r>
              <a:rPr lang="pt-BR" sz="2320" b="0" u="none" strike="noStrike">
                <a:solidFill>
                  <a:srgbClr val="20261F"/>
                </a:solidFill>
                <a:effectLst/>
                <a:uFillTx/>
                <a:latin typeface="Calibri (MS)"/>
                <a:ea typeface="Calibri (MS)"/>
              </a:rPr>
              <a:t>Poucos têm controle formal de custos, produção e vendas</a:t>
            </a:r>
            <a:endParaRPr lang="pt-BR" sz="2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AutoShape 32"/>
          <p:cNvSpPr/>
          <p:nvPr/>
        </p:nvSpPr>
        <p:spPr>
          <a:xfrm>
            <a:off x="6302160" y="5789880"/>
            <a:ext cx="11238120" cy="14040"/>
          </a:xfrm>
          <a:prstGeom prst="line">
            <a:avLst/>
          </a:prstGeom>
          <a:ln w="9525">
            <a:solidFill>
              <a:srgbClr val="DDD7C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0960" rIns="90000" bIns="-30960" anchor="t" anchorCtr="1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Freeform 34"/>
          <p:cNvSpPr/>
          <p:nvPr/>
        </p:nvSpPr>
        <p:spPr>
          <a:xfrm>
            <a:off x="6309360" y="5994000"/>
            <a:ext cx="685440" cy="1261440"/>
          </a:xfrm>
          <a:custGeom>
            <a:avLst/>
            <a:gdLst>
              <a:gd name="textAreaLeft" fmla="*/ 0 w 685440"/>
              <a:gd name="textAreaRight" fmla="*/ 685800 w 685440"/>
              <a:gd name="textAreaTop" fmla="*/ 0 h 1261440"/>
              <a:gd name="textAreaBottom" fmla="*/ 1261800 h 1261440"/>
            </a:gdLst>
            <a:ahLst/>
            <a:cxnLst/>
            <a:rect l="textAreaLeft" t="textAreaTop" r="textAreaRight" b="textAreaBottom"/>
            <a:pathLst>
              <a:path w="914400" h="1682496">
                <a:moveTo>
                  <a:pt x="0" y="0"/>
                </a:moveTo>
                <a:lnTo>
                  <a:pt x="914400" y="0"/>
                </a:lnTo>
                <a:lnTo>
                  <a:pt x="914400" y="1682496"/>
                </a:lnTo>
                <a:lnTo>
                  <a:pt x="0" y="1682496"/>
                </a:lnTo>
                <a:close/>
              </a:path>
            </a:pathLst>
          </a:custGeom>
          <a:blipFill rotWithShape="0">
            <a:blip r:embed="rId9">
              <a:alphaModFix amt="0"/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Box 35"/>
          <p:cNvSpPr/>
          <p:nvPr/>
        </p:nvSpPr>
        <p:spPr>
          <a:xfrm>
            <a:off x="6309360" y="5965200"/>
            <a:ext cx="685440" cy="129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ts val="2880"/>
              </a:lnSpc>
            </a:pPr>
            <a:r>
              <a:rPr lang="pt-BR" sz="2400" b="1" u="none" strike="noStrike">
                <a:solidFill>
                  <a:srgbClr val="9BAE97"/>
                </a:solidFill>
                <a:effectLst/>
                <a:uFillTx/>
                <a:latin typeface="Calibri (MS) Bold"/>
                <a:ea typeface="Calibri (MS) Bold"/>
              </a:rPr>
              <a:t>—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Freeform 37"/>
          <p:cNvSpPr/>
          <p:nvPr/>
        </p:nvSpPr>
        <p:spPr>
          <a:xfrm>
            <a:off x="7063920" y="5994000"/>
            <a:ext cx="10469160" cy="1261440"/>
          </a:xfrm>
          <a:custGeom>
            <a:avLst/>
            <a:gdLst>
              <a:gd name="textAreaLeft" fmla="*/ 0 w 10469160"/>
              <a:gd name="textAreaRight" fmla="*/ 10469520 w 10469160"/>
              <a:gd name="textAreaTop" fmla="*/ 0 h 1261440"/>
              <a:gd name="textAreaBottom" fmla="*/ 1261800 h 1261440"/>
            </a:gdLst>
            <a:ahLst/>
            <a:cxnLst/>
            <a:rect l="textAreaLeft" t="textAreaTop" r="textAreaRight" b="textAreaBottom"/>
            <a:pathLst>
              <a:path w="13959230" h="1682496">
                <a:moveTo>
                  <a:pt x="0" y="0"/>
                </a:moveTo>
                <a:lnTo>
                  <a:pt x="13959230" y="0"/>
                </a:lnTo>
                <a:lnTo>
                  <a:pt x="13959230" y="1682496"/>
                </a:lnTo>
                <a:lnTo>
                  <a:pt x="0" y="1682496"/>
                </a:lnTo>
                <a:close/>
              </a:path>
            </a:pathLst>
          </a:custGeom>
          <a:blipFill rotWithShape="0">
            <a:blip r:embed="rId10">
              <a:alphaModFix amt="0"/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Box 38"/>
          <p:cNvSpPr/>
          <p:nvPr/>
        </p:nvSpPr>
        <p:spPr>
          <a:xfrm>
            <a:off x="7063920" y="5929560"/>
            <a:ext cx="10469160" cy="132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ts val="3002"/>
              </a:lnSpc>
            </a:pPr>
            <a:r>
              <a:rPr lang="pt-BR" sz="2320" b="0" u="none" strike="noStrike">
                <a:solidFill>
                  <a:srgbClr val="20261F"/>
                </a:solidFill>
                <a:effectLst/>
                <a:uFillTx/>
                <a:latin typeface="Calibri (MS)"/>
                <a:ea typeface="Calibri (MS)"/>
              </a:rPr>
              <a:t>Esse controle é justamente o que abre portas para crédito e financiamento</a:t>
            </a:r>
            <a:endParaRPr lang="pt-BR" sz="2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AutoShape 39"/>
          <p:cNvSpPr/>
          <p:nvPr/>
        </p:nvSpPr>
        <p:spPr>
          <a:xfrm>
            <a:off x="6302160" y="7326000"/>
            <a:ext cx="11238120" cy="14400"/>
          </a:xfrm>
          <a:prstGeom prst="line">
            <a:avLst/>
          </a:prstGeom>
          <a:ln w="9525">
            <a:solidFill>
              <a:srgbClr val="DDD7C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0600" rIns="90000" bIns="-30600" anchor="t" anchorCtr="1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Freeform 41"/>
          <p:cNvSpPr/>
          <p:nvPr/>
        </p:nvSpPr>
        <p:spPr>
          <a:xfrm>
            <a:off x="6309360" y="7530120"/>
            <a:ext cx="685440" cy="1261440"/>
          </a:xfrm>
          <a:custGeom>
            <a:avLst/>
            <a:gdLst>
              <a:gd name="textAreaLeft" fmla="*/ 0 w 685440"/>
              <a:gd name="textAreaRight" fmla="*/ 685800 w 685440"/>
              <a:gd name="textAreaTop" fmla="*/ 0 h 1261440"/>
              <a:gd name="textAreaBottom" fmla="*/ 1261800 h 1261440"/>
            </a:gdLst>
            <a:ahLst/>
            <a:cxnLst/>
            <a:rect l="textAreaLeft" t="textAreaTop" r="textAreaRight" b="textAreaBottom"/>
            <a:pathLst>
              <a:path w="914400" h="1682496">
                <a:moveTo>
                  <a:pt x="0" y="0"/>
                </a:moveTo>
                <a:lnTo>
                  <a:pt x="914400" y="0"/>
                </a:lnTo>
                <a:lnTo>
                  <a:pt x="914400" y="1682496"/>
                </a:lnTo>
                <a:lnTo>
                  <a:pt x="0" y="1682496"/>
                </a:lnTo>
                <a:close/>
              </a:path>
            </a:pathLst>
          </a:custGeom>
          <a:blipFill rotWithShape="0">
            <a:blip r:embed="rId11">
              <a:alphaModFix amt="0"/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Box 42"/>
          <p:cNvSpPr/>
          <p:nvPr/>
        </p:nvSpPr>
        <p:spPr>
          <a:xfrm>
            <a:off x="6309360" y="7501680"/>
            <a:ext cx="685440" cy="129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ts val="2880"/>
              </a:lnSpc>
            </a:pPr>
            <a:r>
              <a:rPr lang="pt-BR" sz="2400" b="1" u="none" strike="noStrike">
                <a:solidFill>
                  <a:srgbClr val="9BAE97"/>
                </a:solidFill>
                <a:effectLst/>
                <a:uFillTx/>
                <a:latin typeface="Calibri (MS) Bold"/>
                <a:ea typeface="Calibri (MS) Bold"/>
              </a:rPr>
              <a:t>—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Freeform 44"/>
          <p:cNvSpPr/>
          <p:nvPr/>
        </p:nvSpPr>
        <p:spPr>
          <a:xfrm>
            <a:off x="7063920" y="7530120"/>
            <a:ext cx="10469160" cy="1261440"/>
          </a:xfrm>
          <a:custGeom>
            <a:avLst/>
            <a:gdLst>
              <a:gd name="textAreaLeft" fmla="*/ 0 w 10469160"/>
              <a:gd name="textAreaRight" fmla="*/ 10469520 w 10469160"/>
              <a:gd name="textAreaTop" fmla="*/ 0 h 1261440"/>
              <a:gd name="textAreaBottom" fmla="*/ 1261800 h 1261440"/>
            </a:gdLst>
            <a:ahLst/>
            <a:cxnLst/>
            <a:rect l="textAreaLeft" t="textAreaTop" r="textAreaRight" b="textAreaBottom"/>
            <a:pathLst>
              <a:path w="13959230" h="1682496">
                <a:moveTo>
                  <a:pt x="0" y="0"/>
                </a:moveTo>
                <a:lnTo>
                  <a:pt x="13959230" y="0"/>
                </a:lnTo>
                <a:lnTo>
                  <a:pt x="13959230" y="1682496"/>
                </a:lnTo>
                <a:lnTo>
                  <a:pt x="0" y="1682496"/>
                </a:lnTo>
                <a:close/>
              </a:path>
            </a:pathLst>
          </a:custGeom>
          <a:blipFill rotWithShape="0">
            <a:blip r:embed="rId12">
              <a:alphaModFix amt="0"/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Box 45"/>
          <p:cNvSpPr/>
          <p:nvPr/>
        </p:nvSpPr>
        <p:spPr>
          <a:xfrm>
            <a:off x="7063920" y="7465680"/>
            <a:ext cx="10469160" cy="132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ts val="3002"/>
              </a:lnSpc>
            </a:pPr>
            <a:r>
              <a:rPr lang="pt-BR" sz="2320" b="0" u="none" strike="noStrike">
                <a:solidFill>
                  <a:srgbClr val="20261F"/>
                </a:solidFill>
                <a:effectLst/>
                <a:uFillTx/>
                <a:latin typeface="Calibri (MS)"/>
                <a:ea typeface="Calibri (MS)"/>
              </a:rPr>
              <a:t>Quase nenhuma solução no mercado foi pensada para esse público</a:t>
            </a:r>
            <a:endParaRPr lang="pt-BR" sz="2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Freeform 3"/>
          <p:cNvSpPr/>
          <p:nvPr/>
        </p:nvSpPr>
        <p:spPr>
          <a:xfrm>
            <a:off x="5555160" y="0"/>
            <a:ext cx="12732120" cy="10286640"/>
          </a:xfrm>
          <a:custGeom>
            <a:avLst/>
            <a:gdLst>
              <a:gd name="textAreaLeft" fmla="*/ 0 w 12732120"/>
              <a:gd name="textAreaRight" fmla="*/ 12732480 w 12732120"/>
              <a:gd name="textAreaTop" fmla="*/ 0 h 10286640"/>
              <a:gd name="textAreaBottom" fmla="*/ 10287000 h 10286640"/>
            </a:gdLst>
            <a:ahLst/>
            <a:cxnLst/>
            <a:rect l="textAreaLeft" t="textAreaTop" r="textAreaRight" b="textAreaBottom"/>
            <a:pathLst>
              <a:path w="16976725" h="13716000">
                <a:moveTo>
                  <a:pt x="0" y="0"/>
                </a:moveTo>
                <a:lnTo>
                  <a:pt x="16976725" y="0"/>
                </a:lnTo>
                <a:lnTo>
                  <a:pt x="16976725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FBF9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Freeform 5"/>
          <p:cNvSpPr/>
          <p:nvPr/>
        </p:nvSpPr>
        <p:spPr>
          <a:xfrm>
            <a:off x="0" y="0"/>
            <a:ext cx="5554800" cy="10286640"/>
          </a:xfrm>
          <a:custGeom>
            <a:avLst/>
            <a:gdLst>
              <a:gd name="textAreaLeft" fmla="*/ 0 w 5554800"/>
              <a:gd name="textAreaRight" fmla="*/ 5555160 w 5554800"/>
              <a:gd name="textAreaTop" fmla="*/ 0 h 10286640"/>
              <a:gd name="textAreaBottom" fmla="*/ 10287000 h 10286640"/>
            </a:gdLst>
            <a:ahLst/>
            <a:cxnLst/>
            <a:rect l="textAreaLeft" t="textAreaTop" r="textAreaRight" b="textAreaBottom"/>
            <a:pathLst>
              <a:path w="7406640" h="13716000">
                <a:moveTo>
                  <a:pt x="0" y="0"/>
                </a:moveTo>
                <a:lnTo>
                  <a:pt x="7406640" y="0"/>
                </a:lnTo>
                <a:lnTo>
                  <a:pt x="740664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1630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9" name="Freeform 7"/>
          <p:cNvSpPr/>
          <p:nvPr/>
        </p:nvSpPr>
        <p:spPr>
          <a:xfrm>
            <a:off x="-754560" y="5074920"/>
            <a:ext cx="7269120" cy="5623200"/>
          </a:xfrm>
          <a:custGeom>
            <a:avLst/>
            <a:gdLst>
              <a:gd name="textAreaLeft" fmla="*/ 0 w 7269120"/>
              <a:gd name="textAreaRight" fmla="*/ 7269480 w 7269120"/>
              <a:gd name="textAreaTop" fmla="*/ 0 h 5623200"/>
              <a:gd name="textAreaBottom" fmla="*/ 5623560 h 5623200"/>
            </a:gdLst>
            <a:ahLst/>
            <a:cxnLst/>
            <a:rect l="textAreaLeft" t="textAreaTop" r="textAreaRight" b="textAreaBottom"/>
            <a:pathLst>
              <a:path w="9692640" h="7498080">
                <a:moveTo>
                  <a:pt x="0" y="0"/>
                </a:moveTo>
                <a:lnTo>
                  <a:pt x="9692640" y="0"/>
                </a:lnTo>
                <a:lnTo>
                  <a:pt x="9692640" y="7498080"/>
                </a:lnTo>
                <a:lnTo>
                  <a:pt x="0" y="7498080"/>
                </a:lnTo>
                <a:close/>
              </a:path>
            </a:pathLst>
          </a:custGeom>
          <a:blipFill rotWithShape="0">
            <a:blip r:embed="rId1">
              <a:alphaModFix amt="0"/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Box 8"/>
          <p:cNvSpPr/>
          <p:nvPr/>
        </p:nvSpPr>
        <p:spPr>
          <a:xfrm>
            <a:off x="-754560" y="5067720"/>
            <a:ext cx="7269120" cy="563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b">
            <a:noAutofit/>
          </a:bodyPr>
          <a:p>
            <a:pPr>
              <a:lnSpc>
                <a:spcPts val="45000"/>
              </a:lnSpc>
            </a:pPr>
            <a:r>
              <a:rPr lang="pt-BR" sz="37500" b="1" u="none" strike="noStrike">
                <a:solidFill>
                  <a:srgbClr val="224539"/>
                </a:solidFill>
                <a:effectLst/>
                <a:uFillTx/>
                <a:latin typeface="Cambria Bold"/>
                <a:ea typeface="Cambria Bold"/>
              </a:rPr>
              <a:t>04</a:t>
            </a:r>
            <a:endParaRPr lang="pt-BR" sz="37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Freeform 10"/>
          <p:cNvSpPr/>
          <p:nvPr/>
        </p:nvSpPr>
        <p:spPr>
          <a:xfrm>
            <a:off x="754560" y="891720"/>
            <a:ext cx="4388760" cy="548280"/>
          </a:xfrm>
          <a:custGeom>
            <a:avLst/>
            <a:gdLst>
              <a:gd name="textAreaLeft" fmla="*/ 0 w 4388760"/>
              <a:gd name="textAreaRight" fmla="*/ 4389120 w 4388760"/>
              <a:gd name="textAreaTop" fmla="*/ 0 h 548280"/>
              <a:gd name="textAreaBottom" fmla="*/ 548640 h 548280"/>
            </a:gdLst>
            <a:ahLst/>
            <a:cxnLst/>
            <a:rect l="textAreaLeft" t="textAreaTop" r="textAreaRight" b="textAreaBottom"/>
            <a:pathLst>
              <a:path w="5852160" h="731520">
                <a:moveTo>
                  <a:pt x="0" y="0"/>
                </a:moveTo>
                <a:lnTo>
                  <a:pt x="5852160" y="0"/>
                </a:lnTo>
                <a:lnTo>
                  <a:pt x="5852160" y="731520"/>
                </a:lnTo>
                <a:lnTo>
                  <a:pt x="0" y="731520"/>
                </a:lnTo>
                <a:close/>
              </a:path>
            </a:pathLst>
          </a:custGeom>
          <a:blipFill rotWithShape="0">
            <a:blip r:embed="rId2">
              <a:alphaModFix amt="0"/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Box 11"/>
          <p:cNvSpPr/>
          <p:nvPr/>
        </p:nvSpPr>
        <p:spPr>
          <a:xfrm>
            <a:off x="754560" y="862920"/>
            <a:ext cx="4388760" cy="57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ts val="2160"/>
              </a:lnSpc>
            </a:pPr>
            <a:r>
              <a:rPr lang="pt-BR" sz="1800" b="1" u="none" strike="noStrike">
                <a:solidFill>
                  <a:srgbClr val="A8532E"/>
                </a:solidFill>
                <a:effectLst/>
                <a:uFillTx/>
                <a:latin typeface="Calibri (MS) Bold"/>
                <a:ea typeface="Calibri (MS) Bold"/>
              </a:rPr>
              <a:t>A SOLUÇÃO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Box 12"/>
          <p:cNvSpPr/>
          <p:nvPr/>
        </p:nvSpPr>
        <p:spPr>
          <a:xfrm>
            <a:off x="754560" y="1520280"/>
            <a:ext cx="4388760" cy="458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ts val="5241"/>
              </a:lnSpc>
            </a:pPr>
            <a:r>
              <a:rPr lang="pt-BR" sz="3900" b="1" u="none" strike="noStrike">
                <a:solidFill>
                  <a:srgbClr val="FFFFFF"/>
                </a:solidFill>
                <a:effectLst/>
                <a:uFillTx/>
                <a:latin typeface="Cambria Bold"/>
                <a:ea typeface="Cambria Bold"/>
              </a:rPr>
              <a:t>Um aplicativo para o pequeno produtor</a:t>
            </a:r>
            <a:endParaRPr lang="pt-BR" sz="3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Freeform 14"/>
          <p:cNvSpPr/>
          <p:nvPr/>
        </p:nvSpPr>
        <p:spPr>
          <a:xfrm>
            <a:off x="754560" y="9642240"/>
            <a:ext cx="3565800" cy="411120"/>
          </a:xfrm>
          <a:custGeom>
            <a:avLst/>
            <a:gdLst>
              <a:gd name="textAreaLeft" fmla="*/ 0 w 3565800"/>
              <a:gd name="textAreaRight" fmla="*/ 3566160 w 3565800"/>
              <a:gd name="textAreaTop" fmla="*/ 0 h 411120"/>
              <a:gd name="textAreaBottom" fmla="*/ 411480 h 411120"/>
            </a:gdLst>
            <a:ahLst/>
            <a:cxnLst/>
            <a:rect l="textAreaLeft" t="textAreaTop" r="textAreaRight" b="textAreaBottom"/>
            <a:pathLst>
              <a:path w="4754880" h="548640">
                <a:moveTo>
                  <a:pt x="0" y="0"/>
                </a:moveTo>
                <a:lnTo>
                  <a:pt x="4754880" y="0"/>
                </a:lnTo>
                <a:lnTo>
                  <a:pt x="4754880" y="548640"/>
                </a:lnTo>
                <a:lnTo>
                  <a:pt x="0" y="548640"/>
                </a:lnTo>
                <a:close/>
              </a:path>
            </a:pathLst>
          </a:custGeom>
          <a:blipFill rotWithShape="0">
            <a:blip r:embed="rId3">
              <a:alphaModFix amt="0"/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Box 15"/>
          <p:cNvSpPr/>
          <p:nvPr/>
        </p:nvSpPr>
        <p:spPr>
          <a:xfrm>
            <a:off x="754560" y="9621000"/>
            <a:ext cx="3565800" cy="43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ts val="1621"/>
              </a:lnSpc>
            </a:pPr>
            <a:r>
              <a:rPr lang="pt-BR" sz="1350" b="1" u="none" strike="noStrike">
                <a:solidFill>
                  <a:srgbClr val="9BAE97"/>
                </a:solidFill>
                <a:effectLst/>
                <a:uFillTx/>
                <a:latin typeface="Calibri (MS) Bold"/>
                <a:ea typeface="Calibri (MS) Bold"/>
              </a:rPr>
              <a:t>AGROGESTÃO PRO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Freeform 17"/>
          <p:cNvSpPr/>
          <p:nvPr/>
        </p:nvSpPr>
        <p:spPr>
          <a:xfrm>
            <a:off x="4389120" y="9601200"/>
            <a:ext cx="822600" cy="479880"/>
          </a:xfrm>
          <a:custGeom>
            <a:avLst/>
            <a:gdLst>
              <a:gd name="textAreaLeft" fmla="*/ 0 w 822600"/>
              <a:gd name="textAreaRight" fmla="*/ 822960 w 822600"/>
              <a:gd name="textAreaTop" fmla="*/ 0 h 479880"/>
              <a:gd name="textAreaBottom" fmla="*/ 480240 h 479880"/>
            </a:gdLst>
            <a:ahLst/>
            <a:cxnLst/>
            <a:rect l="textAreaLeft" t="textAreaTop" r="textAreaRight" b="textAreaBottom"/>
            <a:pathLst>
              <a:path w="1097280" h="640080">
                <a:moveTo>
                  <a:pt x="0" y="0"/>
                </a:moveTo>
                <a:lnTo>
                  <a:pt x="1097280" y="0"/>
                </a:lnTo>
                <a:lnTo>
                  <a:pt x="1097280" y="640080"/>
                </a:lnTo>
                <a:lnTo>
                  <a:pt x="0" y="640080"/>
                </a:lnTo>
                <a:close/>
              </a:path>
            </a:pathLst>
          </a:custGeom>
          <a:blipFill rotWithShape="0">
            <a:blip r:embed="rId4">
              <a:alphaModFix amt="0"/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Box 18"/>
          <p:cNvSpPr/>
          <p:nvPr/>
        </p:nvSpPr>
        <p:spPr>
          <a:xfrm>
            <a:off x="4389120" y="9579600"/>
            <a:ext cx="82260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>
              <a:lnSpc>
                <a:spcPts val="1981"/>
              </a:lnSpc>
            </a:pPr>
            <a:r>
              <a:rPr lang="pt-BR" sz="1650" b="0" u="none" strike="noStrike">
                <a:solidFill>
                  <a:srgbClr val="9BAE97"/>
                </a:solidFill>
                <a:effectLst/>
                <a:uFillTx/>
                <a:latin typeface="Calibri (MS)"/>
                <a:ea typeface="Calibri (MS)"/>
              </a:rPr>
              <a:t>04</a:t>
            </a:r>
            <a:endParaRPr lang="pt-BR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Freeform 20"/>
          <p:cNvSpPr/>
          <p:nvPr/>
        </p:nvSpPr>
        <p:spPr>
          <a:xfrm>
            <a:off x="6309360" y="1508760"/>
            <a:ext cx="959760" cy="1412280"/>
          </a:xfrm>
          <a:custGeom>
            <a:avLst/>
            <a:gdLst>
              <a:gd name="textAreaLeft" fmla="*/ 0 w 959760"/>
              <a:gd name="textAreaRight" fmla="*/ 960120 w 959760"/>
              <a:gd name="textAreaTop" fmla="*/ 0 h 1412280"/>
              <a:gd name="textAreaBottom" fmla="*/ 1412640 h 1412280"/>
            </a:gdLst>
            <a:ahLst/>
            <a:cxnLst/>
            <a:rect l="textAreaLeft" t="textAreaTop" r="textAreaRight" b="textAreaBottom"/>
            <a:pathLst>
              <a:path w="1280160" h="1883664">
                <a:moveTo>
                  <a:pt x="0" y="0"/>
                </a:moveTo>
                <a:lnTo>
                  <a:pt x="1280160" y="0"/>
                </a:lnTo>
                <a:lnTo>
                  <a:pt x="1280160" y="1883664"/>
                </a:lnTo>
                <a:lnTo>
                  <a:pt x="0" y="1883664"/>
                </a:lnTo>
                <a:close/>
              </a:path>
            </a:pathLst>
          </a:custGeom>
          <a:blipFill rotWithShape="0">
            <a:blip r:embed="rId5">
              <a:alphaModFix amt="0"/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Box 21"/>
          <p:cNvSpPr/>
          <p:nvPr/>
        </p:nvSpPr>
        <p:spPr>
          <a:xfrm>
            <a:off x="6309360" y="1501560"/>
            <a:ext cx="959760" cy="141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ts val="3960"/>
              </a:lnSpc>
            </a:pPr>
            <a:r>
              <a:rPr lang="pt-BR" sz="3300" b="1" u="none" strike="noStrike">
                <a:solidFill>
                  <a:srgbClr val="A8532E"/>
                </a:solidFill>
                <a:effectLst/>
                <a:uFillTx/>
                <a:latin typeface="Cambria Bold"/>
                <a:ea typeface="Cambria Bold"/>
              </a:rPr>
              <a:t>✓</a:t>
            </a:r>
            <a:endParaRPr lang="pt-BR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Freeform 23"/>
          <p:cNvSpPr/>
          <p:nvPr/>
        </p:nvSpPr>
        <p:spPr>
          <a:xfrm>
            <a:off x="7475400" y="1508760"/>
            <a:ext cx="10057680" cy="1412280"/>
          </a:xfrm>
          <a:custGeom>
            <a:avLst/>
            <a:gdLst>
              <a:gd name="textAreaLeft" fmla="*/ 0 w 10057680"/>
              <a:gd name="textAreaRight" fmla="*/ 10058040 w 10057680"/>
              <a:gd name="textAreaTop" fmla="*/ 0 h 1412280"/>
              <a:gd name="textAreaBottom" fmla="*/ 1412640 h 1412280"/>
            </a:gdLst>
            <a:ahLst/>
            <a:cxnLst/>
            <a:rect l="textAreaLeft" t="textAreaTop" r="textAreaRight" b="textAreaBottom"/>
            <a:pathLst>
              <a:path w="13410591" h="1883664">
                <a:moveTo>
                  <a:pt x="0" y="0"/>
                </a:moveTo>
                <a:lnTo>
                  <a:pt x="13410591" y="0"/>
                </a:lnTo>
                <a:lnTo>
                  <a:pt x="13410591" y="1883664"/>
                </a:lnTo>
                <a:lnTo>
                  <a:pt x="0" y="1883664"/>
                </a:lnTo>
                <a:close/>
              </a:path>
            </a:pathLst>
          </a:custGeom>
          <a:blipFill rotWithShape="0">
            <a:blip r:embed="rId6">
              <a:alphaModFix amt="0"/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Box 24"/>
          <p:cNvSpPr/>
          <p:nvPr/>
        </p:nvSpPr>
        <p:spPr>
          <a:xfrm>
            <a:off x="7475400" y="1437480"/>
            <a:ext cx="10057680" cy="148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ts val="3518"/>
              </a:lnSpc>
            </a:pPr>
            <a:r>
              <a:rPr lang="pt-BR" sz="2470" b="0" u="none" strike="noStrike">
                <a:solidFill>
                  <a:srgbClr val="20261F"/>
                </a:solidFill>
                <a:effectLst/>
                <a:uFillTx/>
                <a:latin typeface="Calibri (MS)"/>
                <a:ea typeface="Calibri (MS)"/>
              </a:rPr>
              <a:t>Feito para pequenos produtores</a:t>
            </a:r>
            <a:endParaRPr lang="pt-BR" sz="24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AutoShape 25"/>
          <p:cNvSpPr/>
          <p:nvPr/>
        </p:nvSpPr>
        <p:spPr>
          <a:xfrm>
            <a:off x="6302160" y="3005280"/>
            <a:ext cx="11238120" cy="14400"/>
          </a:xfrm>
          <a:prstGeom prst="line">
            <a:avLst/>
          </a:prstGeom>
          <a:ln w="9525">
            <a:solidFill>
              <a:srgbClr val="DDD7C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0600" rIns="90000" bIns="-30600" anchor="t" anchorCtr="1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Freeform 27"/>
          <p:cNvSpPr/>
          <p:nvPr/>
        </p:nvSpPr>
        <p:spPr>
          <a:xfrm>
            <a:off x="6309360" y="3264480"/>
            <a:ext cx="959760" cy="1412280"/>
          </a:xfrm>
          <a:custGeom>
            <a:avLst/>
            <a:gdLst>
              <a:gd name="textAreaLeft" fmla="*/ 0 w 959760"/>
              <a:gd name="textAreaRight" fmla="*/ 960120 w 959760"/>
              <a:gd name="textAreaTop" fmla="*/ 0 h 1412280"/>
              <a:gd name="textAreaBottom" fmla="*/ 1412640 h 1412280"/>
            </a:gdLst>
            <a:ahLst/>
            <a:cxnLst/>
            <a:rect l="textAreaLeft" t="textAreaTop" r="textAreaRight" b="textAreaBottom"/>
            <a:pathLst>
              <a:path w="1280160" h="1883664">
                <a:moveTo>
                  <a:pt x="0" y="0"/>
                </a:moveTo>
                <a:lnTo>
                  <a:pt x="1280160" y="0"/>
                </a:lnTo>
                <a:lnTo>
                  <a:pt x="1280160" y="1883664"/>
                </a:lnTo>
                <a:lnTo>
                  <a:pt x="0" y="1883664"/>
                </a:lnTo>
                <a:close/>
              </a:path>
            </a:pathLst>
          </a:custGeom>
          <a:blipFill rotWithShape="0">
            <a:blip r:embed="rId7">
              <a:alphaModFix amt="0"/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Box 28"/>
          <p:cNvSpPr/>
          <p:nvPr/>
        </p:nvSpPr>
        <p:spPr>
          <a:xfrm>
            <a:off x="6309360" y="3257280"/>
            <a:ext cx="959760" cy="141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ts val="3960"/>
              </a:lnSpc>
            </a:pPr>
            <a:r>
              <a:rPr lang="pt-BR" sz="3300" b="1" u="none" strike="noStrike">
                <a:solidFill>
                  <a:srgbClr val="A8532E"/>
                </a:solidFill>
                <a:effectLst/>
                <a:uFillTx/>
                <a:latin typeface="Cambria Bold"/>
                <a:ea typeface="Cambria Bold"/>
              </a:rPr>
              <a:t>✓</a:t>
            </a:r>
            <a:endParaRPr lang="pt-BR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Freeform 30"/>
          <p:cNvSpPr/>
          <p:nvPr/>
        </p:nvSpPr>
        <p:spPr>
          <a:xfrm>
            <a:off x="7475400" y="3264480"/>
            <a:ext cx="10057680" cy="1412280"/>
          </a:xfrm>
          <a:custGeom>
            <a:avLst/>
            <a:gdLst>
              <a:gd name="textAreaLeft" fmla="*/ 0 w 10057680"/>
              <a:gd name="textAreaRight" fmla="*/ 10058040 w 10057680"/>
              <a:gd name="textAreaTop" fmla="*/ 0 h 1412280"/>
              <a:gd name="textAreaBottom" fmla="*/ 1412640 h 1412280"/>
            </a:gdLst>
            <a:ahLst/>
            <a:cxnLst/>
            <a:rect l="textAreaLeft" t="textAreaTop" r="textAreaRight" b="textAreaBottom"/>
            <a:pathLst>
              <a:path w="13410591" h="1883664">
                <a:moveTo>
                  <a:pt x="0" y="0"/>
                </a:moveTo>
                <a:lnTo>
                  <a:pt x="13410591" y="0"/>
                </a:lnTo>
                <a:lnTo>
                  <a:pt x="13410591" y="1883664"/>
                </a:lnTo>
                <a:lnTo>
                  <a:pt x="0" y="1883664"/>
                </a:lnTo>
                <a:close/>
              </a:path>
            </a:pathLst>
          </a:custGeom>
          <a:blipFill rotWithShape="0">
            <a:blip r:embed="rId8">
              <a:alphaModFix amt="0"/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Box 31"/>
          <p:cNvSpPr/>
          <p:nvPr/>
        </p:nvSpPr>
        <p:spPr>
          <a:xfrm>
            <a:off x="7475400" y="3192840"/>
            <a:ext cx="10057680" cy="148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ts val="3518"/>
              </a:lnSpc>
            </a:pPr>
            <a:r>
              <a:rPr lang="pt-BR" sz="2470" b="0" u="none" strike="noStrike">
                <a:solidFill>
                  <a:srgbClr val="20261F"/>
                </a:solidFill>
                <a:effectLst/>
                <a:uFillTx/>
                <a:latin typeface="Calibri (MS)"/>
                <a:ea typeface="Calibri (MS)"/>
              </a:rPr>
              <a:t>Fácil para pessoas mais velhas</a:t>
            </a:r>
            <a:endParaRPr lang="pt-BR" sz="24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AutoShape 32"/>
          <p:cNvSpPr/>
          <p:nvPr/>
        </p:nvSpPr>
        <p:spPr>
          <a:xfrm>
            <a:off x="6302160" y="4761000"/>
            <a:ext cx="11238120" cy="14400"/>
          </a:xfrm>
          <a:prstGeom prst="line">
            <a:avLst/>
          </a:prstGeom>
          <a:ln w="9525">
            <a:solidFill>
              <a:srgbClr val="DDD7C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0600" rIns="90000" bIns="-30600" anchor="t" anchorCtr="1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Freeform 34"/>
          <p:cNvSpPr/>
          <p:nvPr/>
        </p:nvSpPr>
        <p:spPr>
          <a:xfrm>
            <a:off x="6309360" y="5020200"/>
            <a:ext cx="959760" cy="1412280"/>
          </a:xfrm>
          <a:custGeom>
            <a:avLst/>
            <a:gdLst>
              <a:gd name="textAreaLeft" fmla="*/ 0 w 959760"/>
              <a:gd name="textAreaRight" fmla="*/ 960120 w 959760"/>
              <a:gd name="textAreaTop" fmla="*/ 0 h 1412280"/>
              <a:gd name="textAreaBottom" fmla="*/ 1412640 h 1412280"/>
            </a:gdLst>
            <a:ahLst/>
            <a:cxnLst/>
            <a:rect l="textAreaLeft" t="textAreaTop" r="textAreaRight" b="textAreaBottom"/>
            <a:pathLst>
              <a:path w="1280160" h="1883664">
                <a:moveTo>
                  <a:pt x="0" y="0"/>
                </a:moveTo>
                <a:lnTo>
                  <a:pt x="1280160" y="0"/>
                </a:lnTo>
                <a:lnTo>
                  <a:pt x="1280160" y="1883664"/>
                </a:lnTo>
                <a:lnTo>
                  <a:pt x="0" y="1883664"/>
                </a:lnTo>
                <a:close/>
              </a:path>
            </a:pathLst>
          </a:custGeom>
          <a:blipFill rotWithShape="0">
            <a:blip r:embed="rId9">
              <a:alphaModFix amt="0"/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Box 35"/>
          <p:cNvSpPr/>
          <p:nvPr/>
        </p:nvSpPr>
        <p:spPr>
          <a:xfrm>
            <a:off x="6309360" y="5013000"/>
            <a:ext cx="959760" cy="141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ts val="3960"/>
              </a:lnSpc>
            </a:pPr>
            <a:r>
              <a:rPr lang="pt-BR" sz="3300" b="1" u="none" strike="noStrike">
                <a:solidFill>
                  <a:srgbClr val="A8532E"/>
                </a:solidFill>
                <a:effectLst/>
                <a:uFillTx/>
                <a:latin typeface="Cambria Bold"/>
                <a:ea typeface="Cambria Bold"/>
              </a:rPr>
              <a:t>✓</a:t>
            </a:r>
            <a:endParaRPr lang="pt-BR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Freeform 37"/>
          <p:cNvSpPr/>
          <p:nvPr/>
        </p:nvSpPr>
        <p:spPr>
          <a:xfrm>
            <a:off x="7475400" y="5020200"/>
            <a:ext cx="10057680" cy="1412280"/>
          </a:xfrm>
          <a:custGeom>
            <a:avLst/>
            <a:gdLst>
              <a:gd name="textAreaLeft" fmla="*/ 0 w 10057680"/>
              <a:gd name="textAreaRight" fmla="*/ 10058040 w 10057680"/>
              <a:gd name="textAreaTop" fmla="*/ 0 h 1412280"/>
              <a:gd name="textAreaBottom" fmla="*/ 1412640 h 1412280"/>
            </a:gdLst>
            <a:ahLst/>
            <a:cxnLst/>
            <a:rect l="textAreaLeft" t="textAreaTop" r="textAreaRight" b="textAreaBottom"/>
            <a:pathLst>
              <a:path w="13410591" h="1883664">
                <a:moveTo>
                  <a:pt x="0" y="0"/>
                </a:moveTo>
                <a:lnTo>
                  <a:pt x="13410591" y="0"/>
                </a:lnTo>
                <a:lnTo>
                  <a:pt x="13410591" y="1883664"/>
                </a:lnTo>
                <a:lnTo>
                  <a:pt x="0" y="1883664"/>
                </a:lnTo>
                <a:close/>
              </a:path>
            </a:pathLst>
          </a:custGeom>
          <a:blipFill rotWithShape="0">
            <a:blip r:embed="rId10">
              <a:alphaModFix amt="0"/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Box 38"/>
          <p:cNvSpPr/>
          <p:nvPr/>
        </p:nvSpPr>
        <p:spPr>
          <a:xfrm>
            <a:off x="7475400" y="4948560"/>
            <a:ext cx="10057680" cy="148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ts val="3518"/>
              </a:lnSpc>
            </a:pPr>
            <a:r>
              <a:rPr lang="pt-BR" sz="2470" b="0" u="none" strike="noStrike">
                <a:solidFill>
                  <a:srgbClr val="20261F"/>
                </a:solidFill>
                <a:effectLst/>
                <a:uFillTx/>
                <a:latin typeface="Calibri (MS)"/>
                <a:ea typeface="Calibri (MS)"/>
              </a:rPr>
              <a:t>Botões grandes, linguagem simples</a:t>
            </a:r>
            <a:endParaRPr lang="pt-BR" sz="24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AutoShape 39"/>
          <p:cNvSpPr/>
          <p:nvPr/>
        </p:nvSpPr>
        <p:spPr>
          <a:xfrm>
            <a:off x="6302160" y="6516720"/>
            <a:ext cx="11238120" cy="14400"/>
          </a:xfrm>
          <a:prstGeom prst="line">
            <a:avLst/>
          </a:prstGeom>
          <a:ln w="9525">
            <a:solidFill>
              <a:srgbClr val="DDD7C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0600" rIns="90000" bIns="-30600" anchor="t" anchorCtr="1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Freeform 41"/>
          <p:cNvSpPr/>
          <p:nvPr/>
        </p:nvSpPr>
        <p:spPr>
          <a:xfrm>
            <a:off x="6309360" y="6775560"/>
            <a:ext cx="959760" cy="1412280"/>
          </a:xfrm>
          <a:custGeom>
            <a:avLst/>
            <a:gdLst>
              <a:gd name="textAreaLeft" fmla="*/ 0 w 959760"/>
              <a:gd name="textAreaRight" fmla="*/ 960120 w 959760"/>
              <a:gd name="textAreaTop" fmla="*/ 0 h 1412280"/>
              <a:gd name="textAreaBottom" fmla="*/ 1412640 h 1412280"/>
            </a:gdLst>
            <a:ahLst/>
            <a:cxnLst/>
            <a:rect l="textAreaLeft" t="textAreaTop" r="textAreaRight" b="textAreaBottom"/>
            <a:pathLst>
              <a:path w="1280160" h="1883664">
                <a:moveTo>
                  <a:pt x="0" y="0"/>
                </a:moveTo>
                <a:lnTo>
                  <a:pt x="1280160" y="0"/>
                </a:lnTo>
                <a:lnTo>
                  <a:pt x="1280160" y="1883664"/>
                </a:lnTo>
                <a:lnTo>
                  <a:pt x="0" y="1883664"/>
                </a:lnTo>
                <a:close/>
              </a:path>
            </a:pathLst>
          </a:custGeom>
          <a:blipFill rotWithShape="0">
            <a:blip r:embed="rId11">
              <a:alphaModFix amt="0"/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Box 42"/>
          <p:cNvSpPr/>
          <p:nvPr/>
        </p:nvSpPr>
        <p:spPr>
          <a:xfrm>
            <a:off x="6309360" y="6768720"/>
            <a:ext cx="959760" cy="141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ts val="3960"/>
              </a:lnSpc>
            </a:pPr>
            <a:r>
              <a:rPr lang="pt-BR" sz="3300" b="1" u="none" strike="noStrike">
                <a:solidFill>
                  <a:srgbClr val="A8532E"/>
                </a:solidFill>
                <a:effectLst/>
                <a:uFillTx/>
                <a:latin typeface="Cambria Bold"/>
                <a:ea typeface="Cambria Bold"/>
              </a:rPr>
              <a:t>✓</a:t>
            </a:r>
            <a:endParaRPr lang="pt-BR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Freeform 44"/>
          <p:cNvSpPr/>
          <p:nvPr/>
        </p:nvSpPr>
        <p:spPr>
          <a:xfrm>
            <a:off x="7475400" y="6775560"/>
            <a:ext cx="10057680" cy="1412280"/>
          </a:xfrm>
          <a:custGeom>
            <a:avLst/>
            <a:gdLst>
              <a:gd name="textAreaLeft" fmla="*/ 0 w 10057680"/>
              <a:gd name="textAreaRight" fmla="*/ 10058040 w 10057680"/>
              <a:gd name="textAreaTop" fmla="*/ 0 h 1412280"/>
              <a:gd name="textAreaBottom" fmla="*/ 1412640 h 1412280"/>
            </a:gdLst>
            <a:ahLst/>
            <a:cxnLst/>
            <a:rect l="textAreaLeft" t="textAreaTop" r="textAreaRight" b="textAreaBottom"/>
            <a:pathLst>
              <a:path w="13410591" h="1883664">
                <a:moveTo>
                  <a:pt x="0" y="0"/>
                </a:moveTo>
                <a:lnTo>
                  <a:pt x="13410591" y="0"/>
                </a:lnTo>
                <a:lnTo>
                  <a:pt x="13410591" y="1883664"/>
                </a:lnTo>
                <a:lnTo>
                  <a:pt x="0" y="1883664"/>
                </a:lnTo>
                <a:close/>
              </a:path>
            </a:pathLst>
          </a:custGeom>
          <a:blipFill rotWithShape="0">
            <a:blip r:embed="rId12">
              <a:alphaModFix amt="0"/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Box 45"/>
          <p:cNvSpPr/>
          <p:nvPr/>
        </p:nvSpPr>
        <p:spPr>
          <a:xfrm>
            <a:off x="7475400" y="6704280"/>
            <a:ext cx="10057680" cy="148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ts val="3518"/>
              </a:lnSpc>
            </a:pPr>
            <a:r>
              <a:rPr lang="pt-BR" sz="2470" b="0" u="none" strike="noStrike">
                <a:solidFill>
                  <a:srgbClr val="20261F"/>
                </a:solidFill>
                <a:effectLst/>
                <a:uFillTx/>
                <a:latin typeface="Calibri (MS)"/>
                <a:ea typeface="Calibri (MS)"/>
              </a:rPr>
              <a:t>Funciona mesmo sem internet</a:t>
            </a:r>
            <a:endParaRPr lang="pt-BR" sz="24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Freeform 3"/>
          <p:cNvSpPr/>
          <p:nvPr/>
        </p:nvSpPr>
        <p:spPr>
          <a:xfrm>
            <a:off x="5555160" y="0"/>
            <a:ext cx="12732120" cy="10286640"/>
          </a:xfrm>
          <a:custGeom>
            <a:avLst/>
            <a:gdLst>
              <a:gd name="textAreaLeft" fmla="*/ 0 w 12732120"/>
              <a:gd name="textAreaRight" fmla="*/ 12732480 w 12732120"/>
              <a:gd name="textAreaTop" fmla="*/ 0 h 10286640"/>
              <a:gd name="textAreaBottom" fmla="*/ 10287000 h 10286640"/>
            </a:gdLst>
            <a:ahLst/>
            <a:cxnLst/>
            <a:rect l="textAreaLeft" t="textAreaTop" r="textAreaRight" b="textAreaBottom"/>
            <a:pathLst>
              <a:path w="16976725" h="13716000">
                <a:moveTo>
                  <a:pt x="0" y="0"/>
                </a:moveTo>
                <a:lnTo>
                  <a:pt x="16976725" y="0"/>
                </a:lnTo>
                <a:lnTo>
                  <a:pt x="16976725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FBF9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Freeform 5"/>
          <p:cNvSpPr/>
          <p:nvPr/>
        </p:nvSpPr>
        <p:spPr>
          <a:xfrm>
            <a:off x="0" y="0"/>
            <a:ext cx="5554800" cy="10286640"/>
          </a:xfrm>
          <a:custGeom>
            <a:avLst/>
            <a:gdLst>
              <a:gd name="textAreaLeft" fmla="*/ 0 w 5554800"/>
              <a:gd name="textAreaRight" fmla="*/ 5555160 w 5554800"/>
              <a:gd name="textAreaTop" fmla="*/ 0 h 10286640"/>
              <a:gd name="textAreaBottom" fmla="*/ 10287000 h 10286640"/>
            </a:gdLst>
            <a:ahLst/>
            <a:cxnLst/>
            <a:rect l="textAreaLeft" t="textAreaTop" r="textAreaRight" b="textAreaBottom"/>
            <a:pathLst>
              <a:path w="7406640" h="13716000">
                <a:moveTo>
                  <a:pt x="0" y="0"/>
                </a:moveTo>
                <a:lnTo>
                  <a:pt x="7406640" y="0"/>
                </a:lnTo>
                <a:lnTo>
                  <a:pt x="740664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1630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9" name="Freeform 7"/>
          <p:cNvSpPr/>
          <p:nvPr/>
        </p:nvSpPr>
        <p:spPr>
          <a:xfrm>
            <a:off x="-754560" y="5074920"/>
            <a:ext cx="7269120" cy="5623200"/>
          </a:xfrm>
          <a:custGeom>
            <a:avLst/>
            <a:gdLst>
              <a:gd name="textAreaLeft" fmla="*/ 0 w 7269120"/>
              <a:gd name="textAreaRight" fmla="*/ 7269480 w 7269120"/>
              <a:gd name="textAreaTop" fmla="*/ 0 h 5623200"/>
              <a:gd name="textAreaBottom" fmla="*/ 5623560 h 5623200"/>
            </a:gdLst>
            <a:ahLst/>
            <a:cxnLst/>
            <a:rect l="textAreaLeft" t="textAreaTop" r="textAreaRight" b="textAreaBottom"/>
            <a:pathLst>
              <a:path w="9692640" h="7498080">
                <a:moveTo>
                  <a:pt x="0" y="0"/>
                </a:moveTo>
                <a:lnTo>
                  <a:pt x="9692640" y="0"/>
                </a:lnTo>
                <a:lnTo>
                  <a:pt x="9692640" y="7498080"/>
                </a:lnTo>
                <a:lnTo>
                  <a:pt x="0" y="7498080"/>
                </a:lnTo>
                <a:close/>
              </a:path>
            </a:pathLst>
          </a:custGeom>
          <a:blipFill rotWithShape="0">
            <a:blip r:embed="rId1">
              <a:alphaModFix amt="0"/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Box 8"/>
          <p:cNvSpPr/>
          <p:nvPr/>
        </p:nvSpPr>
        <p:spPr>
          <a:xfrm>
            <a:off x="-754560" y="5067720"/>
            <a:ext cx="7269120" cy="563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b">
            <a:noAutofit/>
          </a:bodyPr>
          <a:p>
            <a:pPr>
              <a:lnSpc>
                <a:spcPts val="45000"/>
              </a:lnSpc>
            </a:pPr>
            <a:r>
              <a:rPr lang="pt-BR" sz="37500" b="1" u="none" strike="noStrike">
                <a:solidFill>
                  <a:srgbClr val="224539"/>
                </a:solidFill>
                <a:effectLst/>
                <a:uFillTx/>
                <a:latin typeface="Cambria Bold"/>
                <a:ea typeface="Cambria Bold"/>
              </a:rPr>
              <a:t>05</a:t>
            </a:r>
            <a:endParaRPr lang="pt-BR" sz="37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Freeform 10"/>
          <p:cNvSpPr/>
          <p:nvPr/>
        </p:nvSpPr>
        <p:spPr>
          <a:xfrm>
            <a:off x="754560" y="891720"/>
            <a:ext cx="4388760" cy="548280"/>
          </a:xfrm>
          <a:custGeom>
            <a:avLst/>
            <a:gdLst>
              <a:gd name="textAreaLeft" fmla="*/ 0 w 4388760"/>
              <a:gd name="textAreaRight" fmla="*/ 4389120 w 4388760"/>
              <a:gd name="textAreaTop" fmla="*/ 0 h 548280"/>
              <a:gd name="textAreaBottom" fmla="*/ 548640 h 548280"/>
            </a:gdLst>
            <a:ahLst/>
            <a:cxnLst/>
            <a:rect l="textAreaLeft" t="textAreaTop" r="textAreaRight" b="textAreaBottom"/>
            <a:pathLst>
              <a:path w="5852160" h="731520">
                <a:moveTo>
                  <a:pt x="0" y="0"/>
                </a:moveTo>
                <a:lnTo>
                  <a:pt x="5852160" y="0"/>
                </a:lnTo>
                <a:lnTo>
                  <a:pt x="5852160" y="731520"/>
                </a:lnTo>
                <a:lnTo>
                  <a:pt x="0" y="731520"/>
                </a:lnTo>
                <a:close/>
              </a:path>
            </a:pathLst>
          </a:custGeom>
          <a:blipFill rotWithShape="0">
            <a:blip r:embed="rId2">
              <a:alphaModFix amt="0"/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Box 11"/>
          <p:cNvSpPr/>
          <p:nvPr/>
        </p:nvSpPr>
        <p:spPr>
          <a:xfrm>
            <a:off x="754560" y="862920"/>
            <a:ext cx="4388760" cy="57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ts val="2160"/>
              </a:lnSpc>
            </a:pPr>
            <a:r>
              <a:rPr lang="pt-BR" sz="1800" b="1" u="none" strike="noStrike">
                <a:solidFill>
                  <a:srgbClr val="A8532E"/>
                </a:solidFill>
                <a:effectLst/>
                <a:uFillTx/>
                <a:latin typeface="Calibri (MS) Bold"/>
                <a:ea typeface="Calibri (MS) Bold"/>
              </a:rPr>
              <a:t>PROPOSTA DE VALOR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Box 12"/>
          <p:cNvSpPr/>
          <p:nvPr/>
        </p:nvSpPr>
        <p:spPr>
          <a:xfrm>
            <a:off x="754560" y="1520280"/>
            <a:ext cx="4388760" cy="458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ts val="4031"/>
              </a:lnSpc>
            </a:pPr>
            <a:r>
              <a:rPr lang="pt-BR" sz="3000" b="1" u="none" strike="noStrike">
                <a:solidFill>
                  <a:srgbClr val="FFFFFF"/>
                </a:solidFill>
                <a:effectLst/>
                <a:uFillTx/>
                <a:latin typeface="Cambria Bold"/>
                <a:ea typeface="Cambria Bold"/>
              </a:rPr>
              <a:t>O que o AgroGestão Pro entrega e ninguém mais entrega assim</a:t>
            </a:r>
            <a:endParaRPr lang="pt-BR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Freeform 14"/>
          <p:cNvSpPr/>
          <p:nvPr/>
        </p:nvSpPr>
        <p:spPr>
          <a:xfrm>
            <a:off x="754560" y="9642240"/>
            <a:ext cx="3565800" cy="411120"/>
          </a:xfrm>
          <a:custGeom>
            <a:avLst/>
            <a:gdLst>
              <a:gd name="textAreaLeft" fmla="*/ 0 w 3565800"/>
              <a:gd name="textAreaRight" fmla="*/ 3566160 w 3565800"/>
              <a:gd name="textAreaTop" fmla="*/ 0 h 411120"/>
              <a:gd name="textAreaBottom" fmla="*/ 411480 h 411120"/>
            </a:gdLst>
            <a:ahLst/>
            <a:cxnLst/>
            <a:rect l="textAreaLeft" t="textAreaTop" r="textAreaRight" b="textAreaBottom"/>
            <a:pathLst>
              <a:path w="4754880" h="548640">
                <a:moveTo>
                  <a:pt x="0" y="0"/>
                </a:moveTo>
                <a:lnTo>
                  <a:pt x="4754880" y="0"/>
                </a:lnTo>
                <a:lnTo>
                  <a:pt x="4754880" y="548640"/>
                </a:lnTo>
                <a:lnTo>
                  <a:pt x="0" y="548640"/>
                </a:lnTo>
                <a:close/>
              </a:path>
            </a:pathLst>
          </a:custGeom>
          <a:blipFill rotWithShape="0">
            <a:blip r:embed="rId3">
              <a:alphaModFix amt="0"/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Box 15"/>
          <p:cNvSpPr/>
          <p:nvPr/>
        </p:nvSpPr>
        <p:spPr>
          <a:xfrm>
            <a:off x="754560" y="9621000"/>
            <a:ext cx="3565800" cy="43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ts val="1621"/>
              </a:lnSpc>
            </a:pPr>
            <a:r>
              <a:rPr lang="pt-BR" sz="1350" b="1" u="none" strike="noStrike">
                <a:solidFill>
                  <a:srgbClr val="9BAE97"/>
                </a:solidFill>
                <a:effectLst/>
                <a:uFillTx/>
                <a:latin typeface="Calibri (MS) Bold"/>
                <a:ea typeface="Calibri (MS) Bold"/>
              </a:rPr>
              <a:t>AGROGESTÃO PRO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Freeform 17"/>
          <p:cNvSpPr/>
          <p:nvPr/>
        </p:nvSpPr>
        <p:spPr>
          <a:xfrm>
            <a:off x="4389120" y="9601200"/>
            <a:ext cx="822600" cy="479880"/>
          </a:xfrm>
          <a:custGeom>
            <a:avLst/>
            <a:gdLst>
              <a:gd name="textAreaLeft" fmla="*/ 0 w 822600"/>
              <a:gd name="textAreaRight" fmla="*/ 822960 w 822600"/>
              <a:gd name="textAreaTop" fmla="*/ 0 h 479880"/>
              <a:gd name="textAreaBottom" fmla="*/ 480240 h 479880"/>
            </a:gdLst>
            <a:ahLst/>
            <a:cxnLst/>
            <a:rect l="textAreaLeft" t="textAreaTop" r="textAreaRight" b="textAreaBottom"/>
            <a:pathLst>
              <a:path w="1097280" h="640080">
                <a:moveTo>
                  <a:pt x="0" y="0"/>
                </a:moveTo>
                <a:lnTo>
                  <a:pt x="1097280" y="0"/>
                </a:lnTo>
                <a:lnTo>
                  <a:pt x="1097280" y="640080"/>
                </a:lnTo>
                <a:lnTo>
                  <a:pt x="0" y="640080"/>
                </a:lnTo>
                <a:close/>
              </a:path>
            </a:pathLst>
          </a:custGeom>
          <a:blipFill rotWithShape="0">
            <a:blip r:embed="rId4">
              <a:alphaModFix amt="0"/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Box 18"/>
          <p:cNvSpPr/>
          <p:nvPr/>
        </p:nvSpPr>
        <p:spPr>
          <a:xfrm>
            <a:off x="4389120" y="9579600"/>
            <a:ext cx="82260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>
              <a:lnSpc>
                <a:spcPts val="1981"/>
              </a:lnSpc>
            </a:pPr>
            <a:r>
              <a:rPr lang="pt-BR" sz="1650" b="0" u="none" strike="noStrike">
                <a:solidFill>
                  <a:srgbClr val="9BAE97"/>
                </a:solidFill>
                <a:effectLst/>
                <a:uFillTx/>
                <a:latin typeface="Calibri (MS)"/>
                <a:ea typeface="Calibri (MS)"/>
              </a:rPr>
              <a:t>05</a:t>
            </a:r>
            <a:endParaRPr lang="pt-BR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Freeform 20"/>
          <p:cNvSpPr/>
          <p:nvPr/>
        </p:nvSpPr>
        <p:spPr>
          <a:xfrm>
            <a:off x="6309360" y="1645920"/>
            <a:ext cx="2394000" cy="1234080"/>
          </a:xfrm>
          <a:custGeom>
            <a:avLst/>
            <a:gdLst>
              <a:gd name="textAreaLeft" fmla="*/ 0 w 2394000"/>
              <a:gd name="textAreaRight" fmla="*/ 2394360 w 2394000"/>
              <a:gd name="textAreaTop" fmla="*/ 0 h 1234080"/>
              <a:gd name="textAreaBottom" fmla="*/ 1234440 h 1234080"/>
            </a:gdLst>
            <a:ahLst/>
            <a:cxnLst/>
            <a:rect l="textAreaLeft" t="textAreaTop" r="textAreaRight" b="textAreaBottom"/>
            <a:pathLst>
              <a:path w="3192628" h="1645920">
                <a:moveTo>
                  <a:pt x="0" y="0"/>
                </a:moveTo>
                <a:lnTo>
                  <a:pt x="3192628" y="0"/>
                </a:lnTo>
                <a:lnTo>
                  <a:pt x="3192628" y="1645920"/>
                </a:lnTo>
                <a:lnTo>
                  <a:pt x="0" y="1645920"/>
                </a:lnTo>
                <a:close/>
              </a:path>
            </a:pathLst>
          </a:custGeom>
          <a:blipFill rotWithShape="0">
            <a:blip r:embed="rId5">
              <a:alphaModFix amt="0"/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Box 21"/>
          <p:cNvSpPr/>
          <p:nvPr/>
        </p:nvSpPr>
        <p:spPr>
          <a:xfrm>
            <a:off x="6309360" y="1638720"/>
            <a:ext cx="2394000" cy="124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ts val="7200"/>
              </a:lnSpc>
            </a:pPr>
            <a:r>
              <a:rPr lang="pt-BR" sz="6000" b="1" u="none" strike="noStrike">
                <a:solidFill>
                  <a:srgbClr val="A8532E"/>
                </a:solidFill>
                <a:effectLst/>
                <a:uFillTx/>
                <a:latin typeface="Cambria Bold"/>
                <a:ea typeface="Cambria Bold"/>
              </a:rPr>
              <a:t>1</a:t>
            </a:r>
            <a:endParaRPr lang="pt-BR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Freeform 23"/>
          <p:cNvSpPr/>
          <p:nvPr/>
        </p:nvSpPr>
        <p:spPr>
          <a:xfrm>
            <a:off x="6309360" y="3086280"/>
            <a:ext cx="2325600" cy="3565800"/>
          </a:xfrm>
          <a:custGeom>
            <a:avLst/>
            <a:gdLst>
              <a:gd name="textAreaLeft" fmla="*/ 0 w 2325600"/>
              <a:gd name="textAreaRight" fmla="*/ 2325960 w 2325600"/>
              <a:gd name="textAreaTop" fmla="*/ 0 h 3565800"/>
              <a:gd name="textAreaBottom" fmla="*/ 3566160 h 3565800"/>
            </a:gdLst>
            <a:ahLst/>
            <a:cxnLst/>
            <a:rect l="textAreaLeft" t="textAreaTop" r="textAreaRight" b="textAreaBottom"/>
            <a:pathLst>
              <a:path w="3101188" h="4754880">
                <a:moveTo>
                  <a:pt x="0" y="0"/>
                </a:moveTo>
                <a:lnTo>
                  <a:pt x="3101188" y="0"/>
                </a:lnTo>
                <a:lnTo>
                  <a:pt x="3101188" y="4754880"/>
                </a:lnTo>
                <a:lnTo>
                  <a:pt x="0" y="4754880"/>
                </a:lnTo>
                <a:close/>
              </a:path>
            </a:pathLst>
          </a:custGeom>
          <a:blipFill rotWithShape="0">
            <a:blip r:embed="rId6">
              <a:alphaModFix amt="0"/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Box 24"/>
          <p:cNvSpPr/>
          <p:nvPr/>
        </p:nvSpPr>
        <p:spPr>
          <a:xfrm>
            <a:off x="6309360" y="3021840"/>
            <a:ext cx="2325600" cy="363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ts val="2917"/>
              </a:lnSpc>
            </a:pPr>
            <a:r>
              <a:rPr lang="pt-BR" sz="2320" b="0" u="none" strike="noStrike">
                <a:solidFill>
                  <a:srgbClr val="20261F"/>
                </a:solidFill>
                <a:effectLst/>
                <a:uFillTx/>
                <a:latin typeface="Calibri (MS)"/>
                <a:ea typeface="Calibri (MS)"/>
              </a:rPr>
              <a:t>Registro do dia em menos de um minuto</a:t>
            </a:r>
            <a:endParaRPr lang="pt-BR" sz="2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Freeform 26"/>
          <p:cNvSpPr/>
          <p:nvPr/>
        </p:nvSpPr>
        <p:spPr>
          <a:xfrm>
            <a:off x="9115200" y="1645920"/>
            <a:ext cx="2394000" cy="1234080"/>
          </a:xfrm>
          <a:custGeom>
            <a:avLst/>
            <a:gdLst>
              <a:gd name="textAreaLeft" fmla="*/ 0 w 2394000"/>
              <a:gd name="textAreaRight" fmla="*/ 2394360 w 2394000"/>
              <a:gd name="textAreaTop" fmla="*/ 0 h 1234080"/>
              <a:gd name="textAreaBottom" fmla="*/ 1234440 h 1234080"/>
            </a:gdLst>
            <a:ahLst/>
            <a:cxnLst/>
            <a:rect l="textAreaLeft" t="textAreaTop" r="textAreaRight" b="textAreaBottom"/>
            <a:pathLst>
              <a:path w="3192628" h="1645920">
                <a:moveTo>
                  <a:pt x="0" y="0"/>
                </a:moveTo>
                <a:lnTo>
                  <a:pt x="3192628" y="0"/>
                </a:lnTo>
                <a:lnTo>
                  <a:pt x="3192628" y="1645920"/>
                </a:lnTo>
                <a:lnTo>
                  <a:pt x="0" y="1645920"/>
                </a:lnTo>
                <a:close/>
              </a:path>
            </a:pathLst>
          </a:custGeom>
          <a:blipFill rotWithShape="0">
            <a:blip r:embed="rId7">
              <a:alphaModFix amt="0"/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Box 27"/>
          <p:cNvSpPr/>
          <p:nvPr/>
        </p:nvSpPr>
        <p:spPr>
          <a:xfrm>
            <a:off x="9115200" y="1638720"/>
            <a:ext cx="2394000" cy="124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ts val="7200"/>
              </a:lnSpc>
            </a:pPr>
            <a:r>
              <a:rPr lang="pt-BR" sz="6000" b="1" u="none" strike="noStrike">
                <a:solidFill>
                  <a:srgbClr val="A8532E"/>
                </a:solidFill>
                <a:effectLst/>
                <a:uFillTx/>
                <a:latin typeface="Cambria Bold"/>
                <a:ea typeface="Cambria Bold"/>
              </a:rPr>
              <a:t>2</a:t>
            </a:r>
            <a:endParaRPr lang="pt-BR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Freeform 29"/>
          <p:cNvSpPr/>
          <p:nvPr/>
        </p:nvSpPr>
        <p:spPr>
          <a:xfrm>
            <a:off x="9115200" y="3086280"/>
            <a:ext cx="2325600" cy="3565800"/>
          </a:xfrm>
          <a:custGeom>
            <a:avLst/>
            <a:gdLst>
              <a:gd name="textAreaLeft" fmla="*/ 0 w 2325600"/>
              <a:gd name="textAreaRight" fmla="*/ 2325960 w 2325600"/>
              <a:gd name="textAreaTop" fmla="*/ 0 h 3565800"/>
              <a:gd name="textAreaBottom" fmla="*/ 3566160 h 3565800"/>
            </a:gdLst>
            <a:ahLst/>
            <a:cxnLst/>
            <a:rect l="textAreaLeft" t="textAreaTop" r="textAreaRight" b="textAreaBottom"/>
            <a:pathLst>
              <a:path w="3101188" h="4754880">
                <a:moveTo>
                  <a:pt x="0" y="0"/>
                </a:moveTo>
                <a:lnTo>
                  <a:pt x="3101188" y="0"/>
                </a:lnTo>
                <a:lnTo>
                  <a:pt x="3101188" y="4754880"/>
                </a:lnTo>
                <a:lnTo>
                  <a:pt x="0" y="4754880"/>
                </a:lnTo>
                <a:close/>
              </a:path>
            </a:pathLst>
          </a:custGeom>
          <a:blipFill rotWithShape="0">
            <a:blip r:embed="rId8">
              <a:alphaModFix amt="0"/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Box 30"/>
          <p:cNvSpPr/>
          <p:nvPr/>
        </p:nvSpPr>
        <p:spPr>
          <a:xfrm>
            <a:off x="9115200" y="3021840"/>
            <a:ext cx="2325600" cy="363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ts val="2917"/>
              </a:lnSpc>
            </a:pPr>
            <a:r>
              <a:rPr lang="pt-BR" sz="2320" b="0" u="none" strike="noStrike">
                <a:solidFill>
                  <a:srgbClr val="20261F"/>
                </a:solidFill>
                <a:effectLst/>
                <a:uFillTx/>
                <a:latin typeface="Calibri (MS)"/>
                <a:ea typeface="Calibri (MS)"/>
              </a:rPr>
              <a:t>Preço acessível, sem funções que o produtor não usa</a:t>
            </a:r>
            <a:endParaRPr lang="pt-BR" sz="2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AutoShape 31"/>
          <p:cNvSpPr/>
          <p:nvPr/>
        </p:nvSpPr>
        <p:spPr>
          <a:xfrm>
            <a:off x="8939520" y="1633680"/>
            <a:ext cx="14400" cy="7009560"/>
          </a:xfrm>
          <a:prstGeom prst="line">
            <a:avLst/>
          </a:prstGeom>
          <a:ln w="9525">
            <a:solidFill>
              <a:srgbClr val="DDD7C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Freeform 33"/>
          <p:cNvSpPr/>
          <p:nvPr/>
        </p:nvSpPr>
        <p:spPr>
          <a:xfrm>
            <a:off x="11921400" y="1645920"/>
            <a:ext cx="2394000" cy="1234080"/>
          </a:xfrm>
          <a:custGeom>
            <a:avLst/>
            <a:gdLst>
              <a:gd name="textAreaLeft" fmla="*/ 0 w 2394000"/>
              <a:gd name="textAreaRight" fmla="*/ 2394360 w 2394000"/>
              <a:gd name="textAreaTop" fmla="*/ 0 h 1234080"/>
              <a:gd name="textAreaBottom" fmla="*/ 1234440 h 1234080"/>
            </a:gdLst>
            <a:ahLst/>
            <a:cxnLst/>
            <a:rect l="textAreaLeft" t="textAreaTop" r="textAreaRight" b="textAreaBottom"/>
            <a:pathLst>
              <a:path w="3192628" h="1645920">
                <a:moveTo>
                  <a:pt x="0" y="0"/>
                </a:moveTo>
                <a:lnTo>
                  <a:pt x="3192628" y="0"/>
                </a:lnTo>
                <a:lnTo>
                  <a:pt x="3192628" y="1645920"/>
                </a:lnTo>
                <a:lnTo>
                  <a:pt x="0" y="1645920"/>
                </a:lnTo>
                <a:close/>
              </a:path>
            </a:pathLst>
          </a:custGeom>
          <a:blipFill rotWithShape="0">
            <a:blip r:embed="rId9">
              <a:alphaModFix amt="0"/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Box 34"/>
          <p:cNvSpPr/>
          <p:nvPr/>
        </p:nvSpPr>
        <p:spPr>
          <a:xfrm>
            <a:off x="11921400" y="1638720"/>
            <a:ext cx="2394000" cy="124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ts val="7200"/>
              </a:lnSpc>
            </a:pPr>
            <a:r>
              <a:rPr lang="pt-BR" sz="6000" b="1" u="none" strike="noStrike">
                <a:solidFill>
                  <a:srgbClr val="A8532E"/>
                </a:solidFill>
                <a:effectLst/>
                <a:uFillTx/>
                <a:latin typeface="Cambria Bold"/>
                <a:ea typeface="Cambria Bold"/>
              </a:rPr>
              <a:t>3</a:t>
            </a:r>
            <a:endParaRPr lang="pt-BR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Freeform 36"/>
          <p:cNvSpPr/>
          <p:nvPr/>
        </p:nvSpPr>
        <p:spPr>
          <a:xfrm>
            <a:off x="11921400" y="3086280"/>
            <a:ext cx="2325600" cy="3565800"/>
          </a:xfrm>
          <a:custGeom>
            <a:avLst/>
            <a:gdLst>
              <a:gd name="textAreaLeft" fmla="*/ 0 w 2325600"/>
              <a:gd name="textAreaRight" fmla="*/ 2325960 w 2325600"/>
              <a:gd name="textAreaTop" fmla="*/ 0 h 3565800"/>
              <a:gd name="textAreaBottom" fmla="*/ 3566160 h 3565800"/>
            </a:gdLst>
            <a:ahLst/>
            <a:cxnLst/>
            <a:rect l="textAreaLeft" t="textAreaTop" r="textAreaRight" b="textAreaBottom"/>
            <a:pathLst>
              <a:path w="3101188" h="4754880">
                <a:moveTo>
                  <a:pt x="0" y="0"/>
                </a:moveTo>
                <a:lnTo>
                  <a:pt x="3101188" y="0"/>
                </a:lnTo>
                <a:lnTo>
                  <a:pt x="3101188" y="4754880"/>
                </a:lnTo>
                <a:lnTo>
                  <a:pt x="0" y="4754880"/>
                </a:lnTo>
                <a:close/>
              </a:path>
            </a:pathLst>
          </a:custGeom>
          <a:blipFill rotWithShape="0">
            <a:blip r:embed="rId10">
              <a:alphaModFix amt="0"/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Box 37"/>
          <p:cNvSpPr/>
          <p:nvPr/>
        </p:nvSpPr>
        <p:spPr>
          <a:xfrm>
            <a:off x="11921400" y="3021840"/>
            <a:ext cx="2325600" cy="363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ts val="2917"/>
              </a:lnSpc>
            </a:pPr>
            <a:r>
              <a:rPr lang="pt-BR" sz="2320" b="0" u="none" strike="noStrike">
                <a:solidFill>
                  <a:srgbClr val="20261F"/>
                </a:solidFill>
                <a:effectLst/>
                <a:uFillTx/>
                <a:latin typeface="Calibri (MS)"/>
                <a:ea typeface="Calibri (MS)"/>
              </a:rPr>
              <a:t>Funciona sem internet e sincroniza depois</a:t>
            </a:r>
            <a:endParaRPr lang="pt-BR" sz="2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AutoShape 38"/>
          <p:cNvSpPr/>
          <p:nvPr/>
        </p:nvSpPr>
        <p:spPr>
          <a:xfrm>
            <a:off x="11745720" y="1633680"/>
            <a:ext cx="14040" cy="7009560"/>
          </a:xfrm>
          <a:prstGeom prst="line">
            <a:avLst/>
          </a:prstGeom>
          <a:ln w="9525">
            <a:solidFill>
              <a:srgbClr val="DDD7C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Freeform 40"/>
          <p:cNvSpPr/>
          <p:nvPr/>
        </p:nvSpPr>
        <p:spPr>
          <a:xfrm>
            <a:off x="14727240" y="1645920"/>
            <a:ext cx="2394000" cy="1234080"/>
          </a:xfrm>
          <a:custGeom>
            <a:avLst/>
            <a:gdLst>
              <a:gd name="textAreaLeft" fmla="*/ 0 w 2394000"/>
              <a:gd name="textAreaRight" fmla="*/ 2394360 w 2394000"/>
              <a:gd name="textAreaTop" fmla="*/ 0 h 1234080"/>
              <a:gd name="textAreaBottom" fmla="*/ 1234440 h 1234080"/>
            </a:gdLst>
            <a:ahLst/>
            <a:cxnLst/>
            <a:rect l="textAreaLeft" t="textAreaTop" r="textAreaRight" b="textAreaBottom"/>
            <a:pathLst>
              <a:path w="3192628" h="1645920">
                <a:moveTo>
                  <a:pt x="0" y="0"/>
                </a:moveTo>
                <a:lnTo>
                  <a:pt x="3192628" y="0"/>
                </a:lnTo>
                <a:lnTo>
                  <a:pt x="3192628" y="1645920"/>
                </a:lnTo>
                <a:lnTo>
                  <a:pt x="0" y="1645920"/>
                </a:lnTo>
                <a:close/>
              </a:path>
            </a:pathLst>
          </a:custGeom>
          <a:blipFill rotWithShape="0">
            <a:blip r:embed="rId11">
              <a:alphaModFix amt="0"/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Box 41"/>
          <p:cNvSpPr/>
          <p:nvPr/>
        </p:nvSpPr>
        <p:spPr>
          <a:xfrm>
            <a:off x="14727240" y="1638720"/>
            <a:ext cx="2394000" cy="124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ts val="7200"/>
              </a:lnSpc>
            </a:pPr>
            <a:r>
              <a:rPr lang="pt-BR" sz="6000" b="1" u="none" strike="noStrike">
                <a:solidFill>
                  <a:srgbClr val="A8532E"/>
                </a:solidFill>
                <a:effectLst/>
                <a:uFillTx/>
                <a:latin typeface="Cambria Bold"/>
                <a:ea typeface="Cambria Bold"/>
              </a:rPr>
              <a:t>4</a:t>
            </a:r>
            <a:endParaRPr lang="pt-BR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Freeform 43"/>
          <p:cNvSpPr/>
          <p:nvPr/>
        </p:nvSpPr>
        <p:spPr>
          <a:xfrm>
            <a:off x="14727240" y="3086280"/>
            <a:ext cx="2325600" cy="3565800"/>
          </a:xfrm>
          <a:custGeom>
            <a:avLst/>
            <a:gdLst>
              <a:gd name="textAreaLeft" fmla="*/ 0 w 2325600"/>
              <a:gd name="textAreaRight" fmla="*/ 2325960 w 2325600"/>
              <a:gd name="textAreaTop" fmla="*/ 0 h 3565800"/>
              <a:gd name="textAreaBottom" fmla="*/ 3566160 h 3565800"/>
            </a:gdLst>
            <a:ahLst/>
            <a:cxnLst/>
            <a:rect l="textAreaLeft" t="textAreaTop" r="textAreaRight" b="textAreaBottom"/>
            <a:pathLst>
              <a:path w="3101188" h="4754880">
                <a:moveTo>
                  <a:pt x="0" y="0"/>
                </a:moveTo>
                <a:lnTo>
                  <a:pt x="3101188" y="0"/>
                </a:lnTo>
                <a:lnTo>
                  <a:pt x="3101188" y="4754880"/>
                </a:lnTo>
                <a:lnTo>
                  <a:pt x="0" y="4754880"/>
                </a:lnTo>
                <a:close/>
              </a:path>
            </a:pathLst>
          </a:custGeom>
          <a:blipFill rotWithShape="0">
            <a:blip r:embed="rId12">
              <a:alphaModFix amt="0"/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Box 44"/>
          <p:cNvSpPr/>
          <p:nvPr/>
        </p:nvSpPr>
        <p:spPr>
          <a:xfrm>
            <a:off x="14727240" y="3021840"/>
            <a:ext cx="2325600" cy="363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ts val="2917"/>
              </a:lnSpc>
            </a:pPr>
            <a:r>
              <a:rPr lang="pt-BR" sz="2320" b="0" u="none" strike="noStrike">
                <a:solidFill>
                  <a:srgbClr val="20261F"/>
                </a:solidFill>
                <a:effectLst/>
                <a:uFillTx/>
                <a:latin typeface="Calibri (MS)"/>
                <a:ea typeface="Calibri (MS)"/>
              </a:rPr>
              <a:t>Cresce com o produtor, do Essencial ao Pro</a:t>
            </a:r>
            <a:endParaRPr lang="pt-BR" sz="2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AutoShape 45"/>
          <p:cNvSpPr/>
          <p:nvPr/>
        </p:nvSpPr>
        <p:spPr>
          <a:xfrm>
            <a:off x="14551560" y="1633680"/>
            <a:ext cx="14400" cy="7009560"/>
          </a:xfrm>
          <a:prstGeom prst="line">
            <a:avLst/>
          </a:prstGeom>
          <a:ln w="9525">
            <a:solidFill>
              <a:srgbClr val="DDD7C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Freeform 3"/>
          <p:cNvSpPr/>
          <p:nvPr/>
        </p:nvSpPr>
        <p:spPr>
          <a:xfrm>
            <a:off x="5555160" y="0"/>
            <a:ext cx="12732120" cy="10286640"/>
          </a:xfrm>
          <a:custGeom>
            <a:avLst/>
            <a:gdLst>
              <a:gd name="textAreaLeft" fmla="*/ 0 w 12732120"/>
              <a:gd name="textAreaRight" fmla="*/ 12732480 w 12732120"/>
              <a:gd name="textAreaTop" fmla="*/ 0 h 10286640"/>
              <a:gd name="textAreaBottom" fmla="*/ 10287000 h 10286640"/>
            </a:gdLst>
            <a:ahLst/>
            <a:cxnLst/>
            <a:rect l="textAreaLeft" t="textAreaTop" r="textAreaRight" b="textAreaBottom"/>
            <a:pathLst>
              <a:path w="16976725" h="13716000">
                <a:moveTo>
                  <a:pt x="0" y="0"/>
                </a:moveTo>
                <a:lnTo>
                  <a:pt x="16976725" y="0"/>
                </a:lnTo>
                <a:lnTo>
                  <a:pt x="16976725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FBF9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Freeform 5"/>
          <p:cNvSpPr/>
          <p:nvPr/>
        </p:nvSpPr>
        <p:spPr>
          <a:xfrm>
            <a:off x="0" y="0"/>
            <a:ext cx="5554800" cy="10286640"/>
          </a:xfrm>
          <a:custGeom>
            <a:avLst/>
            <a:gdLst>
              <a:gd name="textAreaLeft" fmla="*/ 0 w 5554800"/>
              <a:gd name="textAreaRight" fmla="*/ 5555160 w 5554800"/>
              <a:gd name="textAreaTop" fmla="*/ 0 h 10286640"/>
              <a:gd name="textAreaBottom" fmla="*/ 10287000 h 10286640"/>
            </a:gdLst>
            <a:ahLst/>
            <a:cxnLst/>
            <a:rect l="textAreaLeft" t="textAreaTop" r="textAreaRight" b="textAreaBottom"/>
            <a:pathLst>
              <a:path w="7406640" h="13716000">
                <a:moveTo>
                  <a:pt x="0" y="0"/>
                </a:moveTo>
                <a:lnTo>
                  <a:pt x="7406640" y="0"/>
                </a:lnTo>
                <a:lnTo>
                  <a:pt x="740664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1630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9" name="Freeform 7"/>
          <p:cNvSpPr/>
          <p:nvPr/>
        </p:nvSpPr>
        <p:spPr>
          <a:xfrm>
            <a:off x="-754560" y="5074920"/>
            <a:ext cx="7269120" cy="5623200"/>
          </a:xfrm>
          <a:custGeom>
            <a:avLst/>
            <a:gdLst>
              <a:gd name="textAreaLeft" fmla="*/ 0 w 7269120"/>
              <a:gd name="textAreaRight" fmla="*/ 7269480 w 7269120"/>
              <a:gd name="textAreaTop" fmla="*/ 0 h 5623200"/>
              <a:gd name="textAreaBottom" fmla="*/ 5623560 h 5623200"/>
            </a:gdLst>
            <a:ahLst/>
            <a:cxnLst/>
            <a:rect l="textAreaLeft" t="textAreaTop" r="textAreaRight" b="textAreaBottom"/>
            <a:pathLst>
              <a:path w="9692640" h="7498080">
                <a:moveTo>
                  <a:pt x="0" y="0"/>
                </a:moveTo>
                <a:lnTo>
                  <a:pt x="9692640" y="0"/>
                </a:lnTo>
                <a:lnTo>
                  <a:pt x="9692640" y="7498080"/>
                </a:lnTo>
                <a:lnTo>
                  <a:pt x="0" y="7498080"/>
                </a:lnTo>
                <a:close/>
              </a:path>
            </a:pathLst>
          </a:custGeom>
          <a:blipFill rotWithShape="0">
            <a:blip r:embed="rId1">
              <a:alphaModFix amt="0"/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Box 8"/>
          <p:cNvSpPr/>
          <p:nvPr/>
        </p:nvSpPr>
        <p:spPr>
          <a:xfrm>
            <a:off x="-754560" y="5067720"/>
            <a:ext cx="7269120" cy="563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b">
            <a:noAutofit/>
          </a:bodyPr>
          <a:p>
            <a:pPr>
              <a:lnSpc>
                <a:spcPts val="45000"/>
              </a:lnSpc>
            </a:pPr>
            <a:r>
              <a:rPr lang="pt-BR" sz="37500" b="1" u="none" strike="noStrike">
                <a:solidFill>
                  <a:srgbClr val="224539"/>
                </a:solidFill>
                <a:effectLst/>
                <a:uFillTx/>
                <a:latin typeface="Cambria Bold"/>
                <a:ea typeface="Cambria Bold"/>
              </a:rPr>
              <a:t>06</a:t>
            </a:r>
            <a:endParaRPr lang="pt-BR" sz="37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Freeform 10"/>
          <p:cNvSpPr/>
          <p:nvPr/>
        </p:nvSpPr>
        <p:spPr>
          <a:xfrm>
            <a:off x="754560" y="891720"/>
            <a:ext cx="4388760" cy="548280"/>
          </a:xfrm>
          <a:custGeom>
            <a:avLst/>
            <a:gdLst>
              <a:gd name="textAreaLeft" fmla="*/ 0 w 4388760"/>
              <a:gd name="textAreaRight" fmla="*/ 4389120 w 4388760"/>
              <a:gd name="textAreaTop" fmla="*/ 0 h 548280"/>
              <a:gd name="textAreaBottom" fmla="*/ 548640 h 548280"/>
            </a:gdLst>
            <a:ahLst/>
            <a:cxnLst/>
            <a:rect l="textAreaLeft" t="textAreaTop" r="textAreaRight" b="textAreaBottom"/>
            <a:pathLst>
              <a:path w="5852160" h="731520">
                <a:moveTo>
                  <a:pt x="0" y="0"/>
                </a:moveTo>
                <a:lnTo>
                  <a:pt x="5852160" y="0"/>
                </a:lnTo>
                <a:lnTo>
                  <a:pt x="5852160" y="731520"/>
                </a:lnTo>
                <a:lnTo>
                  <a:pt x="0" y="731520"/>
                </a:lnTo>
                <a:close/>
              </a:path>
            </a:pathLst>
          </a:custGeom>
          <a:blipFill rotWithShape="0">
            <a:blip r:embed="rId2">
              <a:alphaModFix amt="0"/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TextBox 11"/>
          <p:cNvSpPr/>
          <p:nvPr/>
        </p:nvSpPr>
        <p:spPr>
          <a:xfrm>
            <a:off x="754560" y="862920"/>
            <a:ext cx="4388760" cy="57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ts val="2160"/>
              </a:lnSpc>
            </a:pPr>
            <a:r>
              <a:rPr lang="pt-BR" sz="1800" b="1" u="none" strike="noStrike">
                <a:solidFill>
                  <a:srgbClr val="A8532E"/>
                </a:solidFill>
                <a:effectLst/>
                <a:uFillTx/>
                <a:latin typeface="Calibri (MS) Bold"/>
                <a:ea typeface="Calibri (MS) Bold"/>
              </a:rPr>
              <a:t>FUNCIONALIDADE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TextBox 12"/>
          <p:cNvSpPr/>
          <p:nvPr/>
        </p:nvSpPr>
        <p:spPr>
          <a:xfrm>
            <a:off x="754560" y="1510560"/>
            <a:ext cx="4388760" cy="459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ts val="5845"/>
              </a:lnSpc>
            </a:pPr>
            <a:r>
              <a:rPr lang="pt-BR" sz="4350" b="1" u="none" strike="noStrike">
                <a:solidFill>
                  <a:srgbClr val="FFFFFF"/>
                </a:solidFill>
                <a:effectLst/>
                <a:uFillTx/>
                <a:latin typeface="Cambria Bold"/>
                <a:ea typeface="Cambria Bold"/>
              </a:rPr>
              <a:t>Tudo em cerca de um minuto</a:t>
            </a:r>
            <a:endParaRPr lang="pt-BR" sz="4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Freeform 14"/>
          <p:cNvSpPr/>
          <p:nvPr/>
        </p:nvSpPr>
        <p:spPr>
          <a:xfrm>
            <a:off x="754560" y="9642240"/>
            <a:ext cx="3565800" cy="411120"/>
          </a:xfrm>
          <a:custGeom>
            <a:avLst/>
            <a:gdLst>
              <a:gd name="textAreaLeft" fmla="*/ 0 w 3565800"/>
              <a:gd name="textAreaRight" fmla="*/ 3566160 w 3565800"/>
              <a:gd name="textAreaTop" fmla="*/ 0 h 411120"/>
              <a:gd name="textAreaBottom" fmla="*/ 411480 h 411120"/>
            </a:gdLst>
            <a:ahLst/>
            <a:cxnLst/>
            <a:rect l="textAreaLeft" t="textAreaTop" r="textAreaRight" b="textAreaBottom"/>
            <a:pathLst>
              <a:path w="4754880" h="548640">
                <a:moveTo>
                  <a:pt x="0" y="0"/>
                </a:moveTo>
                <a:lnTo>
                  <a:pt x="4754880" y="0"/>
                </a:lnTo>
                <a:lnTo>
                  <a:pt x="4754880" y="548640"/>
                </a:lnTo>
                <a:lnTo>
                  <a:pt x="0" y="548640"/>
                </a:lnTo>
                <a:close/>
              </a:path>
            </a:pathLst>
          </a:custGeom>
          <a:blipFill rotWithShape="0">
            <a:blip r:embed="rId3">
              <a:alphaModFix amt="0"/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Box 15"/>
          <p:cNvSpPr/>
          <p:nvPr/>
        </p:nvSpPr>
        <p:spPr>
          <a:xfrm>
            <a:off x="754560" y="9621000"/>
            <a:ext cx="3565800" cy="43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ts val="1621"/>
              </a:lnSpc>
            </a:pPr>
            <a:r>
              <a:rPr lang="pt-BR" sz="1350" b="1" u="none" strike="noStrike">
                <a:solidFill>
                  <a:srgbClr val="9BAE97"/>
                </a:solidFill>
                <a:effectLst/>
                <a:uFillTx/>
                <a:latin typeface="Calibri (MS) Bold"/>
                <a:ea typeface="Calibri (MS) Bold"/>
              </a:rPr>
              <a:t>AGROGESTÃO PRO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Freeform 17"/>
          <p:cNvSpPr/>
          <p:nvPr/>
        </p:nvSpPr>
        <p:spPr>
          <a:xfrm>
            <a:off x="4389120" y="9601200"/>
            <a:ext cx="822600" cy="479880"/>
          </a:xfrm>
          <a:custGeom>
            <a:avLst/>
            <a:gdLst>
              <a:gd name="textAreaLeft" fmla="*/ 0 w 822600"/>
              <a:gd name="textAreaRight" fmla="*/ 822960 w 822600"/>
              <a:gd name="textAreaTop" fmla="*/ 0 h 479880"/>
              <a:gd name="textAreaBottom" fmla="*/ 480240 h 479880"/>
            </a:gdLst>
            <a:ahLst/>
            <a:cxnLst/>
            <a:rect l="textAreaLeft" t="textAreaTop" r="textAreaRight" b="textAreaBottom"/>
            <a:pathLst>
              <a:path w="1097280" h="640080">
                <a:moveTo>
                  <a:pt x="0" y="0"/>
                </a:moveTo>
                <a:lnTo>
                  <a:pt x="1097280" y="0"/>
                </a:lnTo>
                <a:lnTo>
                  <a:pt x="1097280" y="640080"/>
                </a:lnTo>
                <a:lnTo>
                  <a:pt x="0" y="640080"/>
                </a:lnTo>
                <a:close/>
              </a:path>
            </a:pathLst>
          </a:custGeom>
          <a:blipFill rotWithShape="0">
            <a:blip r:embed="rId4">
              <a:alphaModFix amt="0"/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TextBox 18"/>
          <p:cNvSpPr/>
          <p:nvPr/>
        </p:nvSpPr>
        <p:spPr>
          <a:xfrm>
            <a:off x="4389120" y="9579600"/>
            <a:ext cx="82260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>
              <a:lnSpc>
                <a:spcPts val="1981"/>
              </a:lnSpc>
            </a:pPr>
            <a:r>
              <a:rPr lang="pt-BR" sz="1650" b="0" u="none" strike="noStrike">
                <a:solidFill>
                  <a:srgbClr val="9BAE97"/>
                </a:solidFill>
                <a:effectLst/>
                <a:uFillTx/>
                <a:latin typeface="Calibri (MS)"/>
                <a:ea typeface="Calibri (MS)"/>
              </a:rPr>
              <a:t>06</a:t>
            </a:r>
            <a:endParaRPr lang="pt-BR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Freeform 20"/>
          <p:cNvSpPr/>
          <p:nvPr/>
        </p:nvSpPr>
        <p:spPr>
          <a:xfrm>
            <a:off x="6309360" y="1303200"/>
            <a:ext cx="11223360" cy="548280"/>
          </a:xfrm>
          <a:custGeom>
            <a:avLst/>
            <a:gdLst>
              <a:gd name="textAreaLeft" fmla="*/ 0 w 11223360"/>
              <a:gd name="textAreaRight" fmla="*/ 11223720 w 11223360"/>
              <a:gd name="textAreaTop" fmla="*/ 0 h 548280"/>
              <a:gd name="textAreaBottom" fmla="*/ 548640 h 548280"/>
            </a:gdLst>
            <a:ahLst/>
            <a:cxnLst/>
            <a:rect l="textAreaLeft" t="textAreaTop" r="textAreaRight" b="textAreaBottom"/>
            <a:pathLst>
              <a:path w="14965069" h="731520">
                <a:moveTo>
                  <a:pt x="0" y="0"/>
                </a:moveTo>
                <a:lnTo>
                  <a:pt x="14965069" y="0"/>
                </a:lnTo>
                <a:lnTo>
                  <a:pt x="14965069" y="731520"/>
                </a:lnTo>
                <a:lnTo>
                  <a:pt x="0" y="731520"/>
                </a:lnTo>
                <a:close/>
              </a:path>
            </a:pathLst>
          </a:custGeom>
          <a:blipFill rotWithShape="0">
            <a:blip r:embed="rId5">
              <a:alphaModFix amt="0"/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TextBox 21"/>
          <p:cNvSpPr/>
          <p:nvPr/>
        </p:nvSpPr>
        <p:spPr>
          <a:xfrm>
            <a:off x="6309360" y="1288800"/>
            <a:ext cx="11223360" cy="5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ts val="2520"/>
              </a:lnSpc>
            </a:pPr>
            <a:r>
              <a:rPr lang="pt-BR" sz="2170" b="0" i="1" u="none" strike="noStrike">
                <a:solidFill>
                  <a:srgbClr val="6B7268"/>
                </a:solidFill>
                <a:effectLst/>
                <a:uFillTx/>
                <a:latin typeface="Cambria Italics"/>
                <a:ea typeface="Cambria Italics"/>
              </a:rPr>
              <a:t>Uma informação atualiza tudo sozinha</a:t>
            </a:r>
            <a:endParaRPr lang="pt-BR" sz="2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AutoShape 22"/>
          <p:cNvSpPr/>
          <p:nvPr/>
        </p:nvSpPr>
        <p:spPr>
          <a:xfrm>
            <a:off x="7422120" y="3647880"/>
            <a:ext cx="8997840" cy="18720"/>
          </a:xfrm>
          <a:prstGeom prst="line">
            <a:avLst/>
          </a:prstGeom>
          <a:ln w="9525">
            <a:solidFill>
              <a:srgbClr val="DDD7C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6280" rIns="90000" bIns="-26280" anchor="t" anchorCtr="1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Freeform 24"/>
          <p:cNvSpPr/>
          <p:nvPr/>
        </p:nvSpPr>
        <p:spPr>
          <a:xfrm>
            <a:off x="6746040" y="3223440"/>
            <a:ext cx="1371240" cy="891360"/>
          </a:xfrm>
          <a:custGeom>
            <a:avLst/>
            <a:gdLst>
              <a:gd name="textAreaLeft" fmla="*/ 0 w 1371240"/>
              <a:gd name="textAreaRight" fmla="*/ 1371600 w 1371240"/>
              <a:gd name="textAreaTop" fmla="*/ 0 h 891360"/>
              <a:gd name="textAreaBottom" fmla="*/ 891720 h 891360"/>
            </a:gdLst>
            <a:ahLst/>
            <a:cxnLst/>
            <a:rect l="textAreaLeft" t="textAreaTop" r="textAreaRight" b="textAreaBottom"/>
            <a:pathLst>
              <a:path w="1828800" h="1188720">
                <a:moveTo>
                  <a:pt x="0" y="0"/>
                </a:moveTo>
                <a:lnTo>
                  <a:pt x="1828800" y="0"/>
                </a:lnTo>
                <a:lnTo>
                  <a:pt x="1828800" y="1188720"/>
                </a:lnTo>
                <a:lnTo>
                  <a:pt x="0" y="1188720"/>
                </a:lnTo>
                <a:close/>
              </a:path>
            </a:pathLst>
          </a:custGeom>
          <a:solidFill>
            <a:srgbClr val="FBF9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TextBox 25"/>
          <p:cNvSpPr/>
          <p:nvPr/>
        </p:nvSpPr>
        <p:spPr>
          <a:xfrm>
            <a:off x="6746040" y="3223440"/>
            <a:ext cx="1371240" cy="89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tIns="50760" rIns="50760" bIns="50760" anchor="ctr">
            <a:noAutofit/>
          </a:bodyPr>
          <a:p>
            <a:pPr algn="ctr">
              <a:lnSpc>
                <a:spcPts val="4680"/>
              </a:lnSpc>
            </a:pPr>
            <a:r>
              <a:rPr lang="pt-BR" sz="3900" b="1" u="none" strike="noStrike">
                <a:solidFill>
                  <a:srgbClr val="A8532E"/>
                </a:solidFill>
                <a:effectLst/>
                <a:uFillTx/>
                <a:latin typeface="Cambria Bold"/>
                <a:ea typeface="Cambria Bold"/>
              </a:rPr>
              <a:t>1</a:t>
            </a:r>
            <a:endParaRPr lang="pt-BR" sz="3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Freeform 27"/>
          <p:cNvSpPr/>
          <p:nvPr/>
        </p:nvSpPr>
        <p:spPr>
          <a:xfrm>
            <a:off x="6446520" y="4389120"/>
            <a:ext cx="1969920" cy="1508400"/>
          </a:xfrm>
          <a:custGeom>
            <a:avLst/>
            <a:gdLst>
              <a:gd name="textAreaLeft" fmla="*/ 0 w 1969920"/>
              <a:gd name="textAreaRight" fmla="*/ 1970280 w 1969920"/>
              <a:gd name="textAreaTop" fmla="*/ 0 h 1508400"/>
              <a:gd name="textAreaBottom" fmla="*/ 1508760 h 1508400"/>
            </a:gdLst>
            <a:ahLst/>
            <a:cxnLst/>
            <a:rect l="textAreaLeft" t="textAreaTop" r="textAreaRight" b="textAreaBottom"/>
            <a:pathLst>
              <a:path w="2627254" h="2011680">
                <a:moveTo>
                  <a:pt x="0" y="0"/>
                </a:moveTo>
                <a:lnTo>
                  <a:pt x="2627254" y="0"/>
                </a:lnTo>
                <a:lnTo>
                  <a:pt x="2627254" y="2011680"/>
                </a:lnTo>
                <a:lnTo>
                  <a:pt x="0" y="2011680"/>
                </a:lnTo>
                <a:close/>
              </a:path>
            </a:pathLst>
          </a:custGeom>
          <a:blipFill rotWithShape="0">
            <a:blip r:embed="rId6">
              <a:alphaModFix amt="0"/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TextBox 28"/>
          <p:cNvSpPr/>
          <p:nvPr/>
        </p:nvSpPr>
        <p:spPr>
          <a:xfrm>
            <a:off x="6446520" y="4339080"/>
            <a:ext cx="1969920" cy="155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ts val="2319"/>
              </a:lnSpc>
            </a:pPr>
            <a:r>
              <a:rPr lang="pt-BR" sz="2020" b="0" u="none" strike="noStrike">
                <a:solidFill>
                  <a:srgbClr val="20261F"/>
                </a:solidFill>
                <a:effectLst/>
                <a:uFillTx/>
                <a:latin typeface="Calibri (MS)"/>
                <a:ea typeface="Calibri (MS)"/>
              </a:rPr>
              <a:t>Toca em 'Registrar meu dia'</a:t>
            </a:r>
            <a:endParaRPr lang="pt-BR" sz="2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Freeform 30"/>
          <p:cNvSpPr/>
          <p:nvPr/>
        </p:nvSpPr>
        <p:spPr>
          <a:xfrm>
            <a:off x="8990640" y="3223440"/>
            <a:ext cx="1371240" cy="891360"/>
          </a:xfrm>
          <a:custGeom>
            <a:avLst/>
            <a:gdLst>
              <a:gd name="textAreaLeft" fmla="*/ 0 w 1371240"/>
              <a:gd name="textAreaRight" fmla="*/ 1371600 w 1371240"/>
              <a:gd name="textAreaTop" fmla="*/ 0 h 891360"/>
              <a:gd name="textAreaBottom" fmla="*/ 891720 h 891360"/>
            </a:gdLst>
            <a:ahLst/>
            <a:cxnLst/>
            <a:rect l="textAreaLeft" t="textAreaTop" r="textAreaRight" b="textAreaBottom"/>
            <a:pathLst>
              <a:path w="1828800" h="1188720">
                <a:moveTo>
                  <a:pt x="0" y="0"/>
                </a:moveTo>
                <a:lnTo>
                  <a:pt x="1828800" y="0"/>
                </a:lnTo>
                <a:lnTo>
                  <a:pt x="1828800" y="1188720"/>
                </a:lnTo>
                <a:lnTo>
                  <a:pt x="0" y="1188720"/>
                </a:lnTo>
                <a:close/>
              </a:path>
            </a:pathLst>
          </a:custGeom>
          <a:solidFill>
            <a:srgbClr val="FBF9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TextBox 31"/>
          <p:cNvSpPr/>
          <p:nvPr/>
        </p:nvSpPr>
        <p:spPr>
          <a:xfrm>
            <a:off x="8990640" y="3223440"/>
            <a:ext cx="1371240" cy="89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tIns="50760" rIns="50760" bIns="50760" anchor="ctr">
            <a:noAutofit/>
          </a:bodyPr>
          <a:p>
            <a:pPr algn="ctr">
              <a:lnSpc>
                <a:spcPts val="4680"/>
              </a:lnSpc>
            </a:pPr>
            <a:r>
              <a:rPr lang="pt-BR" sz="3900" b="1" u="none" strike="noStrike">
                <a:solidFill>
                  <a:srgbClr val="A8532E"/>
                </a:solidFill>
                <a:effectLst/>
                <a:uFillTx/>
                <a:latin typeface="Cambria Bold"/>
                <a:ea typeface="Cambria Bold"/>
              </a:rPr>
              <a:t>2</a:t>
            </a:r>
            <a:endParaRPr lang="pt-BR" sz="3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Freeform 33"/>
          <p:cNvSpPr/>
          <p:nvPr/>
        </p:nvSpPr>
        <p:spPr>
          <a:xfrm>
            <a:off x="8691120" y="4389120"/>
            <a:ext cx="1969920" cy="1508400"/>
          </a:xfrm>
          <a:custGeom>
            <a:avLst/>
            <a:gdLst>
              <a:gd name="textAreaLeft" fmla="*/ 0 w 1969920"/>
              <a:gd name="textAreaRight" fmla="*/ 1970280 w 1969920"/>
              <a:gd name="textAreaTop" fmla="*/ 0 h 1508400"/>
              <a:gd name="textAreaBottom" fmla="*/ 1508760 h 1508400"/>
            </a:gdLst>
            <a:ahLst/>
            <a:cxnLst/>
            <a:rect l="textAreaLeft" t="textAreaTop" r="textAreaRight" b="textAreaBottom"/>
            <a:pathLst>
              <a:path w="2627254" h="2011680">
                <a:moveTo>
                  <a:pt x="0" y="0"/>
                </a:moveTo>
                <a:lnTo>
                  <a:pt x="2627254" y="0"/>
                </a:lnTo>
                <a:lnTo>
                  <a:pt x="2627254" y="2011680"/>
                </a:lnTo>
                <a:lnTo>
                  <a:pt x="0" y="2011680"/>
                </a:lnTo>
                <a:close/>
              </a:path>
            </a:pathLst>
          </a:custGeom>
          <a:blipFill rotWithShape="0">
            <a:blip r:embed="rId7">
              <a:alphaModFix amt="0"/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TextBox 34"/>
          <p:cNvSpPr/>
          <p:nvPr/>
        </p:nvSpPr>
        <p:spPr>
          <a:xfrm>
            <a:off x="8691120" y="4339080"/>
            <a:ext cx="1969920" cy="155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ts val="2319"/>
              </a:lnSpc>
            </a:pPr>
            <a:r>
              <a:rPr lang="pt-BR" sz="2020" b="0" u="none" strike="noStrike">
                <a:solidFill>
                  <a:srgbClr val="20261F"/>
                </a:solidFill>
                <a:effectLst/>
                <a:uFillTx/>
                <a:latin typeface="Calibri (MS)"/>
                <a:ea typeface="Calibri (MS)"/>
              </a:rPr>
              <a:t>Diz o que plantou, colheu, comprou ou vendeu</a:t>
            </a:r>
            <a:endParaRPr lang="pt-BR" sz="2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Freeform 36"/>
          <p:cNvSpPr/>
          <p:nvPr/>
        </p:nvSpPr>
        <p:spPr>
          <a:xfrm>
            <a:off x="11235600" y="3223440"/>
            <a:ext cx="1371240" cy="891360"/>
          </a:xfrm>
          <a:custGeom>
            <a:avLst/>
            <a:gdLst>
              <a:gd name="textAreaLeft" fmla="*/ 0 w 1371240"/>
              <a:gd name="textAreaRight" fmla="*/ 1371600 w 1371240"/>
              <a:gd name="textAreaTop" fmla="*/ 0 h 891360"/>
              <a:gd name="textAreaBottom" fmla="*/ 891720 h 891360"/>
            </a:gdLst>
            <a:ahLst/>
            <a:cxnLst/>
            <a:rect l="textAreaLeft" t="textAreaTop" r="textAreaRight" b="textAreaBottom"/>
            <a:pathLst>
              <a:path w="1828800" h="1188720">
                <a:moveTo>
                  <a:pt x="0" y="0"/>
                </a:moveTo>
                <a:lnTo>
                  <a:pt x="1828800" y="0"/>
                </a:lnTo>
                <a:lnTo>
                  <a:pt x="1828800" y="1188720"/>
                </a:lnTo>
                <a:lnTo>
                  <a:pt x="0" y="1188720"/>
                </a:lnTo>
                <a:close/>
              </a:path>
            </a:pathLst>
          </a:custGeom>
          <a:solidFill>
            <a:srgbClr val="FBF9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TextBox 37"/>
          <p:cNvSpPr/>
          <p:nvPr/>
        </p:nvSpPr>
        <p:spPr>
          <a:xfrm>
            <a:off x="11235600" y="3223440"/>
            <a:ext cx="1371240" cy="89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tIns="50760" rIns="50760" bIns="50760" anchor="ctr">
            <a:noAutofit/>
          </a:bodyPr>
          <a:p>
            <a:pPr algn="ctr">
              <a:lnSpc>
                <a:spcPts val="4680"/>
              </a:lnSpc>
            </a:pPr>
            <a:r>
              <a:rPr lang="pt-BR" sz="3900" b="1" u="none" strike="noStrike">
                <a:solidFill>
                  <a:srgbClr val="A8532E"/>
                </a:solidFill>
                <a:effectLst/>
                <a:uFillTx/>
                <a:latin typeface="Cambria Bold"/>
                <a:ea typeface="Cambria Bold"/>
              </a:rPr>
              <a:t>3</a:t>
            </a:r>
            <a:endParaRPr lang="pt-BR" sz="3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Freeform 39"/>
          <p:cNvSpPr/>
          <p:nvPr/>
        </p:nvSpPr>
        <p:spPr>
          <a:xfrm>
            <a:off x="10936080" y="4389120"/>
            <a:ext cx="1969920" cy="1508400"/>
          </a:xfrm>
          <a:custGeom>
            <a:avLst/>
            <a:gdLst>
              <a:gd name="textAreaLeft" fmla="*/ 0 w 1969920"/>
              <a:gd name="textAreaRight" fmla="*/ 1970280 w 1969920"/>
              <a:gd name="textAreaTop" fmla="*/ 0 h 1508400"/>
              <a:gd name="textAreaBottom" fmla="*/ 1508760 h 1508400"/>
            </a:gdLst>
            <a:ahLst/>
            <a:cxnLst/>
            <a:rect l="textAreaLeft" t="textAreaTop" r="textAreaRight" b="textAreaBottom"/>
            <a:pathLst>
              <a:path w="2627254" h="2011680">
                <a:moveTo>
                  <a:pt x="0" y="0"/>
                </a:moveTo>
                <a:lnTo>
                  <a:pt x="2627254" y="0"/>
                </a:lnTo>
                <a:lnTo>
                  <a:pt x="2627254" y="2011680"/>
                </a:lnTo>
                <a:lnTo>
                  <a:pt x="0" y="2011680"/>
                </a:lnTo>
                <a:close/>
              </a:path>
            </a:pathLst>
          </a:custGeom>
          <a:blipFill rotWithShape="0">
            <a:blip r:embed="rId8">
              <a:alphaModFix amt="0"/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TextBox 40"/>
          <p:cNvSpPr/>
          <p:nvPr/>
        </p:nvSpPr>
        <p:spPr>
          <a:xfrm>
            <a:off x="10936080" y="4339080"/>
            <a:ext cx="1969920" cy="155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ts val="2319"/>
              </a:lnSpc>
            </a:pPr>
            <a:r>
              <a:rPr lang="pt-BR" sz="2020" b="0" u="none" strike="noStrike">
                <a:solidFill>
                  <a:srgbClr val="20261F"/>
                </a:solidFill>
                <a:effectLst/>
                <a:uFillTx/>
                <a:latin typeface="Calibri (MS)"/>
                <a:ea typeface="Calibri (MS)"/>
              </a:rPr>
              <a:t>Confirma os valores</a:t>
            </a:r>
            <a:endParaRPr lang="pt-BR" sz="2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Freeform 42"/>
          <p:cNvSpPr/>
          <p:nvPr/>
        </p:nvSpPr>
        <p:spPr>
          <a:xfrm>
            <a:off x="13480200" y="3223440"/>
            <a:ext cx="1371240" cy="891360"/>
          </a:xfrm>
          <a:custGeom>
            <a:avLst/>
            <a:gdLst>
              <a:gd name="textAreaLeft" fmla="*/ 0 w 1371240"/>
              <a:gd name="textAreaRight" fmla="*/ 1371600 w 1371240"/>
              <a:gd name="textAreaTop" fmla="*/ 0 h 891360"/>
              <a:gd name="textAreaBottom" fmla="*/ 891720 h 891360"/>
            </a:gdLst>
            <a:ahLst/>
            <a:cxnLst/>
            <a:rect l="textAreaLeft" t="textAreaTop" r="textAreaRight" b="textAreaBottom"/>
            <a:pathLst>
              <a:path w="1828800" h="1188720">
                <a:moveTo>
                  <a:pt x="0" y="0"/>
                </a:moveTo>
                <a:lnTo>
                  <a:pt x="1828800" y="0"/>
                </a:lnTo>
                <a:lnTo>
                  <a:pt x="1828800" y="1188720"/>
                </a:lnTo>
                <a:lnTo>
                  <a:pt x="0" y="1188720"/>
                </a:lnTo>
                <a:close/>
              </a:path>
            </a:pathLst>
          </a:custGeom>
          <a:solidFill>
            <a:srgbClr val="FBF9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TextBox 43"/>
          <p:cNvSpPr/>
          <p:nvPr/>
        </p:nvSpPr>
        <p:spPr>
          <a:xfrm>
            <a:off x="13480200" y="3223440"/>
            <a:ext cx="1371240" cy="89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tIns="50760" rIns="50760" bIns="50760" anchor="ctr">
            <a:noAutofit/>
          </a:bodyPr>
          <a:p>
            <a:pPr algn="ctr">
              <a:lnSpc>
                <a:spcPts val="4680"/>
              </a:lnSpc>
            </a:pPr>
            <a:r>
              <a:rPr lang="pt-BR" sz="3900" b="1" u="none" strike="noStrike">
                <a:solidFill>
                  <a:srgbClr val="A8532E"/>
                </a:solidFill>
                <a:effectLst/>
                <a:uFillTx/>
                <a:latin typeface="Cambria Bold"/>
                <a:ea typeface="Cambria Bold"/>
              </a:rPr>
              <a:t>4</a:t>
            </a:r>
            <a:endParaRPr lang="pt-BR" sz="3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Freeform 45"/>
          <p:cNvSpPr/>
          <p:nvPr/>
        </p:nvSpPr>
        <p:spPr>
          <a:xfrm>
            <a:off x="13180680" y="4389120"/>
            <a:ext cx="1969920" cy="1508400"/>
          </a:xfrm>
          <a:custGeom>
            <a:avLst/>
            <a:gdLst>
              <a:gd name="textAreaLeft" fmla="*/ 0 w 1969920"/>
              <a:gd name="textAreaRight" fmla="*/ 1970280 w 1969920"/>
              <a:gd name="textAreaTop" fmla="*/ 0 h 1508400"/>
              <a:gd name="textAreaBottom" fmla="*/ 1508760 h 1508400"/>
            </a:gdLst>
            <a:ahLst/>
            <a:cxnLst/>
            <a:rect l="textAreaLeft" t="textAreaTop" r="textAreaRight" b="textAreaBottom"/>
            <a:pathLst>
              <a:path w="2627254" h="2011680">
                <a:moveTo>
                  <a:pt x="0" y="0"/>
                </a:moveTo>
                <a:lnTo>
                  <a:pt x="2627254" y="0"/>
                </a:lnTo>
                <a:lnTo>
                  <a:pt x="2627254" y="2011680"/>
                </a:lnTo>
                <a:lnTo>
                  <a:pt x="0" y="2011680"/>
                </a:lnTo>
                <a:close/>
              </a:path>
            </a:pathLst>
          </a:custGeom>
          <a:blipFill rotWithShape="0">
            <a:blip r:embed="rId9">
              <a:alphaModFix amt="0"/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TextBox 46"/>
          <p:cNvSpPr/>
          <p:nvPr/>
        </p:nvSpPr>
        <p:spPr>
          <a:xfrm>
            <a:off x="13180680" y="4339080"/>
            <a:ext cx="1969920" cy="155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ts val="2319"/>
              </a:lnSpc>
            </a:pPr>
            <a:r>
              <a:rPr lang="pt-BR" sz="2020" b="0" u="none" strike="noStrike">
                <a:solidFill>
                  <a:srgbClr val="20261F"/>
                </a:solidFill>
                <a:effectLst/>
                <a:uFillTx/>
                <a:latin typeface="Calibri (MS)"/>
                <a:ea typeface="Calibri (MS)"/>
              </a:rPr>
              <a:t>App organiza tudo sozinho</a:t>
            </a:r>
            <a:endParaRPr lang="pt-BR" sz="2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Freeform 48"/>
          <p:cNvSpPr/>
          <p:nvPr/>
        </p:nvSpPr>
        <p:spPr>
          <a:xfrm>
            <a:off x="15725160" y="3223440"/>
            <a:ext cx="1371240" cy="891360"/>
          </a:xfrm>
          <a:custGeom>
            <a:avLst/>
            <a:gdLst>
              <a:gd name="textAreaLeft" fmla="*/ 0 w 1371240"/>
              <a:gd name="textAreaRight" fmla="*/ 1371600 w 1371240"/>
              <a:gd name="textAreaTop" fmla="*/ 0 h 891360"/>
              <a:gd name="textAreaBottom" fmla="*/ 891720 h 891360"/>
            </a:gdLst>
            <a:ahLst/>
            <a:cxnLst/>
            <a:rect l="textAreaLeft" t="textAreaTop" r="textAreaRight" b="textAreaBottom"/>
            <a:pathLst>
              <a:path w="1828800" h="1188720">
                <a:moveTo>
                  <a:pt x="0" y="0"/>
                </a:moveTo>
                <a:lnTo>
                  <a:pt x="1828800" y="0"/>
                </a:lnTo>
                <a:lnTo>
                  <a:pt x="1828800" y="1188720"/>
                </a:lnTo>
                <a:lnTo>
                  <a:pt x="0" y="1188720"/>
                </a:lnTo>
                <a:close/>
              </a:path>
            </a:pathLst>
          </a:custGeom>
          <a:solidFill>
            <a:srgbClr val="FBF9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TextBox 49"/>
          <p:cNvSpPr/>
          <p:nvPr/>
        </p:nvSpPr>
        <p:spPr>
          <a:xfrm>
            <a:off x="15725160" y="3223440"/>
            <a:ext cx="1371240" cy="89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tIns="50760" rIns="50760" bIns="50760" anchor="ctr">
            <a:noAutofit/>
          </a:bodyPr>
          <a:p>
            <a:pPr algn="ctr">
              <a:lnSpc>
                <a:spcPts val="4680"/>
              </a:lnSpc>
            </a:pPr>
            <a:r>
              <a:rPr lang="pt-BR" sz="3900" b="1" u="none" strike="noStrike">
                <a:solidFill>
                  <a:srgbClr val="A8532E"/>
                </a:solidFill>
                <a:effectLst/>
                <a:uFillTx/>
                <a:latin typeface="Cambria Bold"/>
                <a:ea typeface="Cambria Bold"/>
              </a:rPr>
              <a:t>5</a:t>
            </a:r>
            <a:endParaRPr lang="pt-BR" sz="3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Freeform 51"/>
          <p:cNvSpPr/>
          <p:nvPr/>
        </p:nvSpPr>
        <p:spPr>
          <a:xfrm>
            <a:off x="15425640" y="4389120"/>
            <a:ext cx="1969920" cy="1508400"/>
          </a:xfrm>
          <a:custGeom>
            <a:avLst/>
            <a:gdLst>
              <a:gd name="textAreaLeft" fmla="*/ 0 w 1969920"/>
              <a:gd name="textAreaRight" fmla="*/ 1970280 w 1969920"/>
              <a:gd name="textAreaTop" fmla="*/ 0 h 1508400"/>
              <a:gd name="textAreaBottom" fmla="*/ 1508760 h 1508400"/>
            </a:gdLst>
            <a:ahLst/>
            <a:cxnLst/>
            <a:rect l="textAreaLeft" t="textAreaTop" r="textAreaRight" b="textAreaBottom"/>
            <a:pathLst>
              <a:path w="2627254" h="2011680">
                <a:moveTo>
                  <a:pt x="0" y="0"/>
                </a:moveTo>
                <a:lnTo>
                  <a:pt x="2627254" y="0"/>
                </a:lnTo>
                <a:lnTo>
                  <a:pt x="2627254" y="2011680"/>
                </a:lnTo>
                <a:lnTo>
                  <a:pt x="0" y="2011680"/>
                </a:lnTo>
                <a:close/>
              </a:path>
            </a:pathLst>
          </a:custGeom>
          <a:blipFill rotWithShape="0">
            <a:blip r:embed="rId10">
              <a:alphaModFix amt="0"/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TextBox 52"/>
          <p:cNvSpPr/>
          <p:nvPr/>
        </p:nvSpPr>
        <p:spPr>
          <a:xfrm>
            <a:off x="15425640" y="4339080"/>
            <a:ext cx="1969920" cy="155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ts val="2319"/>
              </a:lnSpc>
            </a:pPr>
            <a:r>
              <a:rPr lang="pt-BR" sz="2020" b="0" u="none" strike="noStrike">
                <a:solidFill>
                  <a:srgbClr val="20261F"/>
                </a:solidFill>
                <a:effectLst/>
                <a:uFillTx/>
                <a:latin typeface="Calibri (MS)"/>
                <a:ea typeface="Calibri (MS)"/>
              </a:rPr>
              <a:t>Resumo fácil aparece</a:t>
            </a:r>
            <a:endParaRPr lang="pt-BR" sz="2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AutoShape 53"/>
          <p:cNvSpPr/>
          <p:nvPr/>
        </p:nvSpPr>
        <p:spPr>
          <a:xfrm>
            <a:off x="6302160" y="7051680"/>
            <a:ext cx="11238120" cy="14400"/>
          </a:xfrm>
          <a:prstGeom prst="line">
            <a:avLst/>
          </a:prstGeom>
          <a:ln w="9525">
            <a:solidFill>
              <a:srgbClr val="DDD7C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0600" rIns="90000" bIns="-30600" anchor="t" anchorCtr="1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Freeform 55"/>
          <p:cNvSpPr/>
          <p:nvPr/>
        </p:nvSpPr>
        <p:spPr>
          <a:xfrm>
            <a:off x="6309360" y="7406640"/>
            <a:ext cx="11223360" cy="754200"/>
          </a:xfrm>
          <a:custGeom>
            <a:avLst/>
            <a:gdLst>
              <a:gd name="textAreaLeft" fmla="*/ 0 w 11223360"/>
              <a:gd name="textAreaRight" fmla="*/ 11223720 w 11223360"/>
              <a:gd name="textAreaTop" fmla="*/ 0 h 754200"/>
              <a:gd name="textAreaBottom" fmla="*/ 754560 h 754200"/>
            </a:gdLst>
            <a:ahLst/>
            <a:cxnLst/>
            <a:rect l="textAreaLeft" t="textAreaTop" r="textAreaRight" b="textAreaBottom"/>
            <a:pathLst>
              <a:path w="14965069" h="1005840">
                <a:moveTo>
                  <a:pt x="0" y="0"/>
                </a:moveTo>
                <a:lnTo>
                  <a:pt x="14965069" y="0"/>
                </a:lnTo>
                <a:lnTo>
                  <a:pt x="14965069" y="1005840"/>
                </a:lnTo>
                <a:lnTo>
                  <a:pt x="0" y="1005840"/>
                </a:lnTo>
                <a:close/>
              </a:path>
            </a:pathLst>
          </a:custGeom>
          <a:blipFill rotWithShape="0">
            <a:blip r:embed="rId11">
              <a:alphaModFix amt="0"/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TextBox 56"/>
          <p:cNvSpPr/>
          <p:nvPr/>
        </p:nvSpPr>
        <p:spPr>
          <a:xfrm>
            <a:off x="6309360" y="7392240"/>
            <a:ext cx="11223360" cy="76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ts val="2611"/>
              </a:lnSpc>
            </a:pPr>
            <a:r>
              <a:rPr lang="pt-BR" sz="2170" b="0" i="1" u="none" strike="noStrike">
                <a:solidFill>
                  <a:srgbClr val="16302A"/>
                </a:solidFill>
                <a:effectLst/>
                <a:uFillTx/>
                <a:latin typeface="Cambria Italics"/>
                <a:ea typeface="Cambria Italics"/>
              </a:rPr>
              <a:t>Uma única resposta atualiza tarefas, produção, receitas, despesas e histórico.</a:t>
            </a:r>
            <a:endParaRPr lang="pt-BR" sz="2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AutoShape 57"/>
          <p:cNvSpPr/>
          <p:nvPr/>
        </p:nvSpPr>
        <p:spPr>
          <a:xfrm>
            <a:off x="6302160" y="8217360"/>
            <a:ext cx="11238120" cy="14400"/>
          </a:xfrm>
          <a:prstGeom prst="line">
            <a:avLst/>
          </a:prstGeom>
          <a:ln w="9525">
            <a:solidFill>
              <a:srgbClr val="DDD7C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0600" rIns="90000" bIns="-30600" anchor="t" anchorCtr="1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Freeform 3"/>
          <p:cNvSpPr/>
          <p:nvPr/>
        </p:nvSpPr>
        <p:spPr>
          <a:xfrm>
            <a:off x="5555160" y="0"/>
            <a:ext cx="12732120" cy="10286640"/>
          </a:xfrm>
          <a:custGeom>
            <a:avLst/>
            <a:gdLst>
              <a:gd name="textAreaLeft" fmla="*/ 0 w 12732120"/>
              <a:gd name="textAreaRight" fmla="*/ 12732480 w 12732120"/>
              <a:gd name="textAreaTop" fmla="*/ 0 h 10286640"/>
              <a:gd name="textAreaBottom" fmla="*/ 10287000 h 10286640"/>
            </a:gdLst>
            <a:ahLst/>
            <a:cxnLst/>
            <a:rect l="textAreaLeft" t="textAreaTop" r="textAreaRight" b="textAreaBottom"/>
            <a:pathLst>
              <a:path w="16976725" h="13716000">
                <a:moveTo>
                  <a:pt x="0" y="0"/>
                </a:moveTo>
                <a:lnTo>
                  <a:pt x="16976725" y="0"/>
                </a:lnTo>
                <a:lnTo>
                  <a:pt x="16976725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FBF9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Freeform 5"/>
          <p:cNvSpPr/>
          <p:nvPr/>
        </p:nvSpPr>
        <p:spPr>
          <a:xfrm>
            <a:off x="0" y="0"/>
            <a:ext cx="5554800" cy="10286640"/>
          </a:xfrm>
          <a:custGeom>
            <a:avLst/>
            <a:gdLst>
              <a:gd name="textAreaLeft" fmla="*/ 0 w 5554800"/>
              <a:gd name="textAreaRight" fmla="*/ 5555160 w 5554800"/>
              <a:gd name="textAreaTop" fmla="*/ 0 h 10286640"/>
              <a:gd name="textAreaBottom" fmla="*/ 10287000 h 10286640"/>
            </a:gdLst>
            <a:ahLst/>
            <a:cxnLst/>
            <a:rect l="textAreaLeft" t="textAreaTop" r="textAreaRight" b="textAreaBottom"/>
            <a:pathLst>
              <a:path w="7406640" h="13716000">
                <a:moveTo>
                  <a:pt x="0" y="0"/>
                </a:moveTo>
                <a:lnTo>
                  <a:pt x="7406640" y="0"/>
                </a:lnTo>
                <a:lnTo>
                  <a:pt x="740664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1630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7" name="Freeform 7"/>
          <p:cNvSpPr/>
          <p:nvPr/>
        </p:nvSpPr>
        <p:spPr>
          <a:xfrm>
            <a:off x="-754560" y="5074920"/>
            <a:ext cx="7269120" cy="5623200"/>
          </a:xfrm>
          <a:custGeom>
            <a:avLst/>
            <a:gdLst>
              <a:gd name="textAreaLeft" fmla="*/ 0 w 7269120"/>
              <a:gd name="textAreaRight" fmla="*/ 7269480 w 7269120"/>
              <a:gd name="textAreaTop" fmla="*/ 0 h 5623200"/>
              <a:gd name="textAreaBottom" fmla="*/ 5623560 h 5623200"/>
            </a:gdLst>
            <a:ahLst/>
            <a:cxnLst/>
            <a:rect l="textAreaLeft" t="textAreaTop" r="textAreaRight" b="textAreaBottom"/>
            <a:pathLst>
              <a:path w="9692640" h="7498080">
                <a:moveTo>
                  <a:pt x="0" y="0"/>
                </a:moveTo>
                <a:lnTo>
                  <a:pt x="9692640" y="0"/>
                </a:lnTo>
                <a:lnTo>
                  <a:pt x="9692640" y="7498080"/>
                </a:lnTo>
                <a:lnTo>
                  <a:pt x="0" y="7498080"/>
                </a:lnTo>
                <a:close/>
              </a:path>
            </a:pathLst>
          </a:custGeom>
          <a:blipFill rotWithShape="0">
            <a:blip r:embed="rId1">
              <a:alphaModFix amt="0"/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TextBox 8"/>
          <p:cNvSpPr/>
          <p:nvPr/>
        </p:nvSpPr>
        <p:spPr>
          <a:xfrm>
            <a:off x="-754560" y="5067720"/>
            <a:ext cx="7269120" cy="563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b">
            <a:noAutofit/>
          </a:bodyPr>
          <a:p>
            <a:pPr>
              <a:lnSpc>
                <a:spcPts val="45000"/>
              </a:lnSpc>
            </a:pPr>
            <a:r>
              <a:rPr lang="pt-BR" sz="37500" b="1" u="none" strike="noStrike">
                <a:solidFill>
                  <a:srgbClr val="224539"/>
                </a:solidFill>
                <a:effectLst/>
                <a:uFillTx/>
                <a:latin typeface="Cambria Bold"/>
                <a:ea typeface="Cambria Bold"/>
              </a:rPr>
              <a:t>07</a:t>
            </a:r>
            <a:endParaRPr lang="pt-BR" sz="37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Freeform 10"/>
          <p:cNvSpPr/>
          <p:nvPr/>
        </p:nvSpPr>
        <p:spPr>
          <a:xfrm>
            <a:off x="754560" y="891720"/>
            <a:ext cx="4388760" cy="548280"/>
          </a:xfrm>
          <a:custGeom>
            <a:avLst/>
            <a:gdLst>
              <a:gd name="textAreaLeft" fmla="*/ 0 w 4388760"/>
              <a:gd name="textAreaRight" fmla="*/ 4389120 w 4388760"/>
              <a:gd name="textAreaTop" fmla="*/ 0 h 548280"/>
              <a:gd name="textAreaBottom" fmla="*/ 548640 h 548280"/>
            </a:gdLst>
            <a:ahLst/>
            <a:cxnLst/>
            <a:rect l="textAreaLeft" t="textAreaTop" r="textAreaRight" b="textAreaBottom"/>
            <a:pathLst>
              <a:path w="5852160" h="731520">
                <a:moveTo>
                  <a:pt x="0" y="0"/>
                </a:moveTo>
                <a:lnTo>
                  <a:pt x="5852160" y="0"/>
                </a:lnTo>
                <a:lnTo>
                  <a:pt x="5852160" y="731520"/>
                </a:lnTo>
                <a:lnTo>
                  <a:pt x="0" y="731520"/>
                </a:lnTo>
                <a:close/>
              </a:path>
            </a:pathLst>
          </a:custGeom>
          <a:blipFill rotWithShape="0">
            <a:blip r:embed="rId2">
              <a:alphaModFix amt="0"/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TextBox 11"/>
          <p:cNvSpPr/>
          <p:nvPr/>
        </p:nvSpPr>
        <p:spPr>
          <a:xfrm>
            <a:off x="754560" y="862920"/>
            <a:ext cx="4388760" cy="57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ts val="2160"/>
              </a:lnSpc>
            </a:pPr>
            <a:r>
              <a:rPr lang="pt-BR" sz="1800" b="1" u="none" strike="noStrike">
                <a:solidFill>
                  <a:srgbClr val="A8532E"/>
                </a:solidFill>
                <a:effectLst/>
                <a:uFillTx/>
                <a:latin typeface="Calibri (MS) Bold"/>
                <a:ea typeface="Calibri (MS) Bold"/>
              </a:rPr>
              <a:t>COMPARATIVO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TextBox 12"/>
          <p:cNvSpPr/>
          <p:nvPr/>
        </p:nvSpPr>
        <p:spPr>
          <a:xfrm>
            <a:off x="754560" y="1510560"/>
            <a:ext cx="4388760" cy="459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ts val="4635"/>
              </a:lnSpc>
            </a:pPr>
            <a:r>
              <a:rPr lang="pt-BR" sz="3450" b="1" u="none" strike="noStrike">
                <a:solidFill>
                  <a:srgbClr val="FFFFFF"/>
                </a:solidFill>
                <a:effectLst/>
                <a:uFillTx/>
                <a:latin typeface="Cambria Bold"/>
                <a:ea typeface="Cambria Bold"/>
              </a:rPr>
              <a:t>AgroGestão Pro e outras opções do mercado</a:t>
            </a:r>
            <a:endParaRPr lang="pt-BR" sz="3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Freeform 14"/>
          <p:cNvSpPr/>
          <p:nvPr/>
        </p:nvSpPr>
        <p:spPr>
          <a:xfrm>
            <a:off x="754560" y="9642240"/>
            <a:ext cx="3565800" cy="411120"/>
          </a:xfrm>
          <a:custGeom>
            <a:avLst/>
            <a:gdLst>
              <a:gd name="textAreaLeft" fmla="*/ 0 w 3565800"/>
              <a:gd name="textAreaRight" fmla="*/ 3566160 w 3565800"/>
              <a:gd name="textAreaTop" fmla="*/ 0 h 411120"/>
              <a:gd name="textAreaBottom" fmla="*/ 411480 h 411120"/>
            </a:gdLst>
            <a:ahLst/>
            <a:cxnLst/>
            <a:rect l="textAreaLeft" t="textAreaTop" r="textAreaRight" b="textAreaBottom"/>
            <a:pathLst>
              <a:path w="4754880" h="548640">
                <a:moveTo>
                  <a:pt x="0" y="0"/>
                </a:moveTo>
                <a:lnTo>
                  <a:pt x="4754880" y="0"/>
                </a:lnTo>
                <a:lnTo>
                  <a:pt x="4754880" y="548640"/>
                </a:lnTo>
                <a:lnTo>
                  <a:pt x="0" y="548640"/>
                </a:lnTo>
                <a:close/>
              </a:path>
            </a:pathLst>
          </a:custGeom>
          <a:blipFill rotWithShape="0">
            <a:blip r:embed="rId3">
              <a:alphaModFix amt="0"/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TextBox 15"/>
          <p:cNvSpPr/>
          <p:nvPr/>
        </p:nvSpPr>
        <p:spPr>
          <a:xfrm>
            <a:off x="754560" y="9621000"/>
            <a:ext cx="3565800" cy="43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ts val="1621"/>
              </a:lnSpc>
            </a:pPr>
            <a:r>
              <a:rPr lang="pt-BR" sz="1350" b="1" u="none" strike="noStrike">
                <a:solidFill>
                  <a:srgbClr val="9BAE97"/>
                </a:solidFill>
                <a:effectLst/>
                <a:uFillTx/>
                <a:latin typeface="Calibri (MS) Bold"/>
                <a:ea typeface="Calibri (MS) Bold"/>
              </a:rPr>
              <a:t>AGROGESTÃO PRO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Freeform 17"/>
          <p:cNvSpPr/>
          <p:nvPr/>
        </p:nvSpPr>
        <p:spPr>
          <a:xfrm>
            <a:off x="4389120" y="9601200"/>
            <a:ext cx="822600" cy="479880"/>
          </a:xfrm>
          <a:custGeom>
            <a:avLst/>
            <a:gdLst>
              <a:gd name="textAreaLeft" fmla="*/ 0 w 822600"/>
              <a:gd name="textAreaRight" fmla="*/ 822960 w 822600"/>
              <a:gd name="textAreaTop" fmla="*/ 0 h 479880"/>
              <a:gd name="textAreaBottom" fmla="*/ 480240 h 479880"/>
            </a:gdLst>
            <a:ahLst/>
            <a:cxnLst/>
            <a:rect l="textAreaLeft" t="textAreaTop" r="textAreaRight" b="textAreaBottom"/>
            <a:pathLst>
              <a:path w="1097280" h="640080">
                <a:moveTo>
                  <a:pt x="0" y="0"/>
                </a:moveTo>
                <a:lnTo>
                  <a:pt x="1097280" y="0"/>
                </a:lnTo>
                <a:lnTo>
                  <a:pt x="1097280" y="640080"/>
                </a:lnTo>
                <a:lnTo>
                  <a:pt x="0" y="640080"/>
                </a:lnTo>
                <a:close/>
              </a:path>
            </a:pathLst>
          </a:custGeom>
          <a:blipFill rotWithShape="0">
            <a:blip r:embed="rId4">
              <a:alphaModFix amt="0"/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TextBox 18"/>
          <p:cNvSpPr/>
          <p:nvPr/>
        </p:nvSpPr>
        <p:spPr>
          <a:xfrm>
            <a:off x="4389120" y="9579600"/>
            <a:ext cx="82260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>
              <a:lnSpc>
                <a:spcPts val="1981"/>
              </a:lnSpc>
            </a:pPr>
            <a:r>
              <a:rPr lang="pt-BR" sz="1650" b="0" u="none" strike="noStrike">
                <a:solidFill>
                  <a:srgbClr val="9BAE97"/>
                </a:solidFill>
                <a:effectLst/>
                <a:uFillTx/>
                <a:latin typeface="Calibri (MS)"/>
                <a:ea typeface="Calibri (MS)"/>
              </a:rPr>
              <a:t>07</a:t>
            </a:r>
            <a:endParaRPr lang="pt-BR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Freeform 20"/>
          <p:cNvSpPr/>
          <p:nvPr/>
        </p:nvSpPr>
        <p:spPr>
          <a:xfrm>
            <a:off x="6309360" y="1371600"/>
            <a:ext cx="3366720" cy="548280"/>
          </a:xfrm>
          <a:custGeom>
            <a:avLst/>
            <a:gdLst>
              <a:gd name="textAreaLeft" fmla="*/ 0 w 3366720"/>
              <a:gd name="textAreaRight" fmla="*/ 3367080 w 3366720"/>
              <a:gd name="textAreaTop" fmla="*/ 0 h 548280"/>
              <a:gd name="textAreaBottom" fmla="*/ 548640 h 548280"/>
            </a:gdLst>
            <a:ahLst/>
            <a:cxnLst/>
            <a:rect l="textAreaLeft" t="textAreaTop" r="textAreaRight" b="textAreaBottom"/>
            <a:pathLst>
              <a:path w="4489522" h="731520">
                <a:moveTo>
                  <a:pt x="0" y="0"/>
                </a:moveTo>
                <a:lnTo>
                  <a:pt x="4489522" y="0"/>
                </a:lnTo>
                <a:lnTo>
                  <a:pt x="4489522" y="731520"/>
                </a:lnTo>
                <a:lnTo>
                  <a:pt x="0" y="731520"/>
                </a:lnTo>
                <a:close/>
              </a:path>
            </a:pathLst>
          </a:custGeom>
          <a:blipFill rotWithShape="0">
            <a:blip r:embed="rId5">
              <a:alphaModFix amt="0"/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TextBox 21"/>
          <p:cNvSpPr/>
          <p:nvPr/>
        </p:nvSpPr>
        <p:spPr>
          <a:xfrm>
            <a:off x="6309360" y="1343160"/>
            <a:ext cx="3366720" cy="57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ts val="2069"/>
              </a:lnSpc>
            </a:pPr>
            <a:r>
              <a:rPr lang="pt-BR" sz="1800" b="1" u="none" strike="noStrike">
                <a:solidFill>
                  <a:srgbClr val="6B7268"/>
                </a:solidFill>
                <a:effectLst/>
                <a:uFillTx/>
                <a:latin typeface="Calibri (MS) Bold"/>
                <a:ea typeface="Calibri (MS) Bold"/>
              </a:rPr>
              <a:t>Solução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Freeform 23"/>
          <p:cNvSpPr/>
          <p:nvPr/>
        </p:nvSpPr>
        <p:spPr>
          <a:xfrm>
            <a:off x="9676440" y="1371600"/>
            <a:ext cx="3591360" cy="548280"/>
          </a:xfrm>
          <a:custGeom>
            <a:avLst/>
            <a:gdLst>
              <a:gd name="textAreaLeft" fmla="*/ 0 w 3591360"/>
              <a:gd name="textAreaRight" fmla="*/ 3591720 w 3591360"/>
              <a:gd name="textAreaTop" fmla="*/ 0 h 548280"/>
              <a:gd name="textAreaBottom" fmla="*/ 548640 h 548280"/>
            </a:gdLst>
            <a:ahLst/>
            <a:cxnLst/>
            <a:rect l="textAreaLeft" t="textAreaTop" r="textAreaRight" b="textAreaBottom"/>
            <a:pathLst>
              <a:path w="4788822" h="731520">
                <a:moveTo>
                  <a:pt x="0" y="0"/>
                </a:moveTo>
                <a:lnTo>
                  <a:pt x="4788822" y="0"/>
                </a:lnTo>
                <a:lnTo>
                  <a:pt x="4788822" y="731520"/>
                </a:lnTo>
                <a:lnTo>
                  <a:pt x="0" y="731520"/>
                </a:lnTo>
                <a:close/>
              </a:path>
            </a:pathLst>
          </a:custGeom>
          <a:blipFill rotWithShape="0">
            <a:blip r:embed="rId6">
              <a:alphaModFix amt="0"/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TextBox 24"/>
          <p:cNvSpPr/>
          <p:nvPr/>
        </p:nvSpPr>
        <p:spPr>
          <a:xfrm>
            <a:off x="9676440" y="1343160"/>
            <a:ext cx="3591360" cy="57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ts val="2069"/>
              </a:lnSpc>
            </a:pPr>
            <a:r>
              <a:rPr lang="pt-BR" sz="1800" b="1" u="none" strike="noStrike">
                <a:solidFill>
                  <a:srgbClr val="6B7268"/>
                </a:solidFill>
                <a:effectLst/>
                <a:uFillTx/>
                <a:latin typeface="Calibri (MS) Bold"/>
                <a:ea typeface="Calibri (MS) Bold"/>
              </a:rPr>
              <a:t>Público-alvo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Freeform 26"/>
          <p:cNvSpPr/>
          <p:nvPr/>
        </p:nvSpPr>
        <p:spPr>
          <a:xfrm>
            <a:off x="13268160" y="1371600"/>
            <a:ext cx="2019960" cy="548280"/>
          </a:xfrm>
          <a:custGeom>
            <a:avLst/>
            <a:gdLst>
              <a:gd name="textAreaLeft" fmla="*/ 0 w 2019960"/>
              <a:gd name="textAreaRight" fmla="*/ 2020320 w 2019960"/>
              <a:gd name="textAreaTop" fmla="*/ 0 h 548280"/>
              <a:gd name="textAreaBottom" fmla="*/ 548640 h 548280"/>
            </a:gdLst>
            <a:ahLst/>
            <a:cxnLst/>
            <a:rect l="textAreaLeft" t="textAreaTop" r="textAreaRight" b="textAreaBottom"/>
            <a:pathLst>
              <a:path w="2693712" h="731520">
                <a:moveTo>
                  <a:pt x="0" y="0"/>
                </a:moveTo>
                <a:lnTo>
                  <a:pt x="2693712" y="0"/>
                </a:lnTo>
                <a:lnTo>
                  <a:pt x="2693712" y="731520"/>
                </a:lnTo>
                <a:lnTo>
                  <a:pt x="0" y="731520"/>
                </a:lnTo>
                <a:close/>
              </a:path>
            </a:pathLst>
          </a:custGeom>
          <a:blipFill rotWithShape="0">
            <a:blip r:embed="rId7">
              <a:alphaModFix amt="0"/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TextBox 27"/>
          <p:cNvSpPr/>
          <p:nvPr/>
        </p:nvSpPr>
        <p:spPr>
          <a:xfrm>
            <a:off x="13268160" y="1343160"/>
            <a:ext cx="2019960" cy="57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ts val="2069"/>
              </a:lnSpc>
            </a:pPr>
            <a:r>
              <a:rPr lang="pt-BR" sz="1800" b="1" u="none" strike="noStrike">
                <a:solidFill>
                  <a:srgbClr val="6B7268"/>
                </a:solidFill>
                <a:effectLst/>
                <a:uFillTx/>
                <a:latin typeface="Calibri (MS) Bold"/>
                <a:ea typeface="Calibri (MS) Bold"/>
              </a:rPr>
              <a:t>Adequação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Freeform 29"/>
          <p:cNvSpPr/>
          <p:nvPr/>
        </p:nvSpPr>
        <p:spPr>
          <a:xfrm>
            <a:off x="15288480" y="1371600"/>
            <a:ext cx="2244240" cy="548280"/>
          </a:xfrm>
          <a:custGeom>
            <a:avLst/>
            <a:gdLst>
              <a:gd name="textAreaLeft" fmla="*/ 0 w 2244240"/>
              <a:gd name="textAreaRight" fmla="*/ 2244600 w 2244240"/>
              <a:gd name="textAreaTop" fmla="*/ 0 h 548280"/>
              <a:gd name="textAreaBottom" fmla="*/ 548640 h 548280"/>
            </a:gdLst>
            <a:ahLst/>
            <a:cxnLst/>
            <a:rect l="textAreaLeft" t="textAreaTop" r="textAreaRight" b="textAreaBottom"/>
            <a:pathLst>
              <a:path w="2993014" h="731520">
                <a:moveTo>
                  <a:pt x="0" y="0"/>
                </a:moveTo>
                <a:lnTo>
                  <a:pt x="2993014" y="0"/>
                </a:lnTo>
                <a:lnTo>
                  <a:pt x="2993014" y="731520"/>
                </a:lnTo>
                <a:lnTo>
                  <a:pt x="0" y="731520"/>
                </a:lnTo>
                <a:close/>
              </a:path>
            </a:pathLst>
          </a:custGeom>
          <a:blipFill rotWithShape="0">
            <a:blip r:embed="rId8">
              <a:alphaModFix amt="0"/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TextBox 30"/>
          <p:cNvSpPr/>
          <p:nvPr/>
        </p:nvSpPr>
        <p:spPr>
          <a:xfrm>
            <a:off x="15478920" y="1343160"/>
            <a:ext cx="2053800" cy="57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ts val="2069"/>
              </a:lnSpc>
            </a:pPr>
            <a:r>
              <a:rPr lang="pt-BR" sz="1800" b="1" u="none" strike="noStrike">
                <a:solidFill>
                  <a:srgbClr val="6B7268"/>
                </a:solidFill>
                <a:effectLst/>
                <a:uFillTx/>
                <a:latin typeface="Calibri (MS) Bold"/>
                <a:ea typeface="Calibri (MS) Bold"/>
              </a:rPr>
              <a:t>Foco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AutoShape 31"/>
          <p:cNvSpPr/>
          <p:nvPr/>
        </p:nvSpPr>
        <p:spPr>
          <a:xfrm>
            <a:off x="6294960" y="1964880"/>
            <a:ext cx="11252160" cy="28440"/>
          </a:xfrm>
          <a:prstGeom prst="line">
            <a:avLst/>
          </a:prstGeom>
          <a:ln w="19050">
            <a:solidFill>
              <a:srgbClr val="1630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6560" rIns="90000" bIns="-16560" anchor="t" anchorCtr="1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Freeform 33"/>
          <p:cNvSpPr/>
          <p:nvPr/>
        </p:nvSpPr>
        <p:spPr>
          <a:xfrm>
            <a:off x="6556320" y="2263320"/>
            <a:ext cx="3119760" cy="822600"/>
          </a:xfrm>
          <a:custGeom>
            <a:avLst/>
            <a:gdLst>
              <a:gd name="textAreaLeft" fmla="*/ 0 w 3119760"/>
              <a:gd name="textAreaRight" fmla="*/ 3120120 w 3119760"/>
              <a:gd name="textAreaTop" fmla="*/ 0 h 822600"/>
              <a:gd name="textAreaBottom" fmla="*/ 822960 h 822600"/>
            </a:gdLst>
            <a:ahLst/>
            <a:cxnLst/>
            <a:rect l="textAreaLeft" t="textAreaTop" r="textAreaRight" b="textAreaBottom"/>
            <a:pathLst>
              <a:path w="4160338" h="1097280">
                <a:moveTo>
                  <a:pt x="0" y="0"/>
                </a:moveTo>
                <a:lnTo>
                  <a:pt x="4160338" y="0"/>
                </a:lnTo>
                <a:lnTo>
                  <a:pt x="4160338" y="1097280"/>
                </a:lnTo>
                <a:lnTo>
                  <a:pt x="0" y="1097280"/>
                </a:lnTo>
                <a:close/>
              </a:path>
            </a:pathLst>
          </a:custGeom>
          <a:blipFill rotWithShape="0">
            <a:blip r:embed="rId9">
              <a:alphaModFix amt="0"/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TextBox 34"/>
          <p:cNvSpPr/>
          <p:nvPr/>
        </p:nvSpPr>
        <p:spPr>
          <a:xfrm>
            <a:off x="6556320" y="2248920"/>
            <a:ext cx="3119760" cy="8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ts val="2611"/>
              </a:lnSpc>
            </a:pPr>
            <a:r>
              <a:rPr lang="pt-BR" sz="2020" b="1" u="none" strike="noStrike">
                <a:solidFill>
                  <a:srgbClr val="A8532E"/>
                </a:solidFill>
                <a:effectLst/>
                <a:uFillTx/>
                <a:latin typeface="Cambria Bold"/>
                <a:ea typeface="Cambria Bold"/>
              </a:rPr>
              <a:t>AgroGestão Pro</a:t>
            </a:r>
            <a:endParaRPr lang="pt-BR" sz="2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Freeform 36"/>
          <p:cNvSpPr/>
          <p:nvPr/>
        </p:nvSpPr>
        <p:spPr>
          <a:xfrm>
            <a:off x="9676440" y="2263320"/>
            <a:ext cx="3591360" cy="822600"/>
          </a:xfrm>
          <a:custGeom>
            <a:avLst/>
            <a:gdLst>
              <a:gd name="textAreaLeft" fmla="*/ 0 w 3591360"/>
              <a:gd name="textAreaRight" fmla="*/ 3591720 w 3591360"/>
              <a:gd name="textAreaTop" fmla="*/ 0 h 822600"/>
              <a:gd name="textAreaBottom" fmla="*/ 822960 h 822600"/>
            </a:gdLst>
            <a:ahLst/>
            <a:cxnLst/>
            <a:rect l="textAreaLeft" t="textAreaTop" r="textAreaRight" b="textAreaBottom"/>
            <a:pathLst>
              <a:path w="4788822" h="1097280">
                <a:moveTo>
                  <a:pt x="0" y="0"/>
                </a:moveTo>
                <a:lnTo>
                  <a:pt x="4788822" y="0"/>
                </a:lnTo>
                <a:lnTo>
                  <a:pt x="4788822" y="1097280"/>
                </a:lnTo>
                <a:lnTo>
                  <a:pt x="0" y="1097280"/>
                </a:lnTo>
                <a:close/>
              </a:path>
            </a:pathLst>
          </a:custGeom>
          <a:blipFill rotWithShape="0">
            <a:blip r:embed="rId10">
              <a:alphaModFix amt="0"/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TextBox 37"/>
          <p:cNvSpPr/>
          <p:nvPr/>
        </p:nvSpPr>
        <p:spPr>
          <a:xfrm>
            <a:off x="9676440" y="2227320"/>
            <a:ext cx="3591360" cy="85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ts val="2341"/>
              </a:lnSpc>
            </a:pPr>
            <a:r>
              <a:rPr lang="pt-BR" sz="2020" b="1" u="none" strike="noStrike">
                <a:solidFill>
                  <a:srgbClr val="A8532E"/>
                </a:solidFill>
                <a:effectLst/>
                <a:uFillTx/>
                <a:latin typeface="Calibri (MS) Bold"/>
                <a:ea typeface="Calibri (MS) Bold"/>
              </a:rPr>
              <a:t>Agricultores familiares</a:t>
            </a:r>
            <a:endParaRPr lang="pt-BR" sz="2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Freeform 39"/>
          <p:cNvSpPr/>
          <p:nvPr/>
        </p:nvSpPr>
        <p:spPr>
          <a:xfrm>
            <a:off x="13268160" y="2263320"/>
            <a:ext cx="2019960" cy="822600"/>
          </a:xfrm>
          <a:custGeom>
            <a:avLst/>
            <a:gdLst>
              <a:gd name="textAreaLeft" fmla="*/ 0 w 2019960"/>
              <a:gd name="textAreaRight" fmla="*/ 2020320 w 2019960"/>
              <a:gd name="textAreaTop" fmla="*/ 0 h 822600"/>
              <a:gd name="textAreaBottom" fmla="*/ 822960 h 822600"/>
            </a:gdLst>
            <a:ahLst/>
            <a:cxnLst/>
            <a:rect l="textAreaLeft" t="textAreaTop" r="textAreaRight" b="textAreaBottom"/>
            <a:pathLst>
              <a:path w="2693712" h="1097280">
                <a:moveTo>
                  <a:pt x="0" y="0"/>
                </a:moveTo>
                <a:lnTo>
                  <a:pt x="2693712" y="0"/>
                </a:lnTo>
                <a:lnTo>
                  <a:pt x="2693712" y="1097280"/>
                </a:lnTo>
                <a:lnTo>
                  <a:pt x="0" y="1097280"/>
                </a:lnTo>
                <a:close/>
              </a:path>
            </a:pathLst>
          </a:custGeom>
          <a:blipFill rotWithShape="0">
            <a:blip r:embed="rId11">
              <a:alphaModFix amt="0"/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TextBox 40"/>
          <p:cNvSpPr/>
          <p:nvPr/>
        </p:nvSpPr>
        <p:spPr>
          <a:xfrm>
            <a:off x="13268160" y="2227320"/>
            <a:ext cx="2019960" cy="85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ts val="2341"/>
              </a:lnSpc>
            </a:pPr>
            <a:r>
              <a:rPr lang="pt-BR" sz="2020" b="1" u="none" strike="noStrike">
                <a:solidFill>
                  <a:srgbClr val="A8532E"/>
                </a:solidFill>
                <a:effectLst/>
                <a:uFillTx/>
                <a:latin typeface="Calibri (MS) Bold"/>
                <a:ea typeface="Calibri (MS) Bold"/>
              </a:rPr>
              <a:t>Alta</a:t>
            </a:r>
            <a:endParaRPr lang="pt-BR" sz="2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Freeform 42"/>
          <p:cNvSpPr/>
          <p:nvPr/>
        </p:nvSpPr>
        <p:spPr>
          <a:xfrm>
            <a:off x="15288480" y="2263320"/>
            <a:ext cx="2244240" cy="822600"/>
          </a:xfrm>
          <a:custGeom>
            <a:avLst/>
            <a:gdLst>
              <a:gd name="textAreaLeft" fmla="*/ 0 w 2244240"/>
              <a:gd name="textAreaRight" fmla="*/ 2244600 w 2244240"/>
              <a:gd name="textAreaTop" fmla="*/ 0 h 822600"/>
              <a:gd name="textAreaBottom" fmla="*/ 822960 h 822600"/>
            </a:gdLst>
            <a:ahLst/>
            <a:cxnLst/>
            <a:rect l="textAreaLeft" t="textAreaTop" r="textAreaRight" b="textAreaBottom"/>
            <a:pathLst>
              <a:path w="2993014" h="1097280">
                <a:moveTo>
                  <a:pt x="0" y="0"/>
                </a:moveTo>
                <a:lnTo>
                  <a:pt x="2993014" y="0"/>
                </a:lnTo>
                <a:lnTo>
                  <a:pt x="2993014" y="1097280"/>
                </a:lnTo>
                <a:lnTo>
                  <a:pt x="0" y="1097280"/>
                </a:lnTo>
                <a:close/>
              </a:path>
            </a:pathLst>
          </a:custGeom>
          <a:blipFill rotWithShape="0">
            <a:blip r:embed="rId12">
              <a:alphaModFix amt="0"/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TextBox 43"/>
          <p:cNvSpPr/>
          <p:nvPr/>
        </p:nvSpPr>
        <p:spPr>
          <a:xfrm>
            <a:off x="15288480" y="2227320"/>
            <a:ext cx="2244240" cy="85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ts val="2341"/>
              </a:lnSpc>
            </a:pPr>
            <a:r>
              <a:rPr lang="pt-BR" sz="2020" b="1" u="none" strike="noStrike">
                <a:solidFill>
                  <a:srgbClr val="A8532E"/>
                </a:solidFill>
                <a:effectLst/>
                <a:uFillTx/>
                <a:latin typeface="Calibri (MS) Bold"/>
                <a:ea typeface="Calibri (MS) Bold"/>
              </a:rPr>
              <a:t>Registro simples + offline</a:t>
            </a:r>
            <a:endParaRPr lang="pt-BR" sz="2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Freeform 45"/>
          <p:cNvSpPr/>
          <p:nvPr/>
        </p:nvSpPr>
        <p:spPr>
          <a:xfrm>
            <a:off x="6282000" y="2688480"/>
            <a:ext cx="136800" cy="136800"/>
          </a:xfrm>
          <a:custGeom>
            <a:avLst/>
            <a:gdLst>
              <a:gd name="textAreaLeft" fmla="*/ 0 w 136800"/>
              <a:gd name="textAreaRight" fmla="*/ 137160 w 136800"/>
              <a:gd name="textAreaTop" fmla="*/ 0 h 136800"/>
              <a:gd name="textAreaBottom" fmla="*/ 137160 h 136800"/>
            </a:gdLst>
            <a:ahLst/>
            <a:cxnLst/>
            <a:rect l="textAreaLeft" t="textAreaTop" r="textAreaRight" b="textAreaBottom"/>
            <a:pathLst>
              <a:path w="182880" h="182880">
                <a:moveTo>
                  <a:pt x="0" y="91440"/>
                </a:moveTo>
                <a:cubicBezTo>
                  <a:pt x="0" y="40894"/>
                  <a:pt x="40894" y="0"/>
                  <a:pt x="91440" y="0"/>
                </a:cubicBezTo>
                <a:cubicBezTo>
                  <a:pt x="141986" y="0"/>
                  <a:pt x="182880" y="40894"/>
                  <a:pt x="182880" y="91440"/>
                </a:cubicBezTo>
                <a:cubicBezTo>
                  <a:pt x="182880" y="141986"/>
                  <a:pt x="141986" y="182880"/>
                  <a:pt x="91440" y="182880"/>
                </a:cubicBezTo>
                <a:cubicBezTo>
                  <a:pt x="40894" y="182880"/>
                  <a:pt x="0" y="141986"/>
                  <a:pt x="0" y="91440"/>
                </a:cubicBezTo>
                <a:close/>
              </a:path>
            </a:pathLst>
          </a:custGeom>
          <a:solidFill>
            <a:srgbClr val="A853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4" name="AutoShape 46"/>
          <p:cNvSpPr/>
          <p:nvPr/>
        </p:nvSpPr>
        <p:spPr>
          <a:xfrm>
            <a:off x="6302160" y="3101400"/>
            <a:ext cx="11238120" cy="14400"/>
          </a:xfrm>
          <a:prstGeom prst="line">
            <a:avLst/>
          </a:prstGeom>
          <a:ln w="9525">
            <a:solidFill>
              <a:srgbClr val="DDD7C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0600" rIns="90000" bIns="-30600" anchor="t" anchorCtr="1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Freeform 48"/>
          <p:cNvSpPr/>
          <p:nvPr/>
        </p:nvSpPr>
        <p:spPr>
          <a:xfrm>
            <a:off x="6309360" y="3250800"/>
            <a:ext cx="3366720" cy="822600"/>
          </a:xfrm>
          <a:custGeom>
            <a:avLst/>
            <a:gdLst>
              <a:gd name="textAreaLeft" fmla="*/ 0 w 3366720"/>
              <a:gd name="textAreaRight" fmla="*/ 3367080 w 3366720"/>
              <a:gd name="textAreaTop" fmla="*/ 0 h 822600"/>
              <a:gd name="textAreaBottom" fmla="*/ 822960 h 822600"/>
            </a:gdLst>
            <a:ahLst/>
            <a:cxnLst/>
            <a:rect l="textAreaLeft" t="textAreaTop" r="textAreaRight" b="textAreaBottom"/>
            <a:pathLst>
              <a:path w="4489522" h="1097280">
                <a:moveTo>
                  <a:pt x="0" y="0"/>
                </a:moveTo>
                <a:lnTo>
                  <a:pt x="4489522" y="0"/>
                </a:lnTo>
                <a:lnTo>
                  <a:pt x="4489522" y="1097280"/>
                </a:lnTo>
                <a:lnTo>
                  <a:pt x="0" y="1097280"/>
                </a:lnTo>
                <a:close/>
              </a:path>
            </a:pathLst>
          </a:custGeom>
          <a:blipFill rotWithShape="0">
            <a:blip r:embed="rId13">
              <a:alphaModFix amt="0"/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TextBox 49"/>
          <p:cNvSpPr/>
          <p:nvPr/>
        </p:nvSpPr>
        <p:spPr>
          <a:xfrm>
            <a:off x="6309360" y="3236400"/>
            <a:ext cx="3366720" cy="8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ts val="2611"/>
              </a:lnSpc>
            </a:pPr>
            <a:r>
              <a:rPr lang="pt-BR" sz="1950" b="0" u="none" strike="noStrike">
                <a:solidFill>
                  <a:srgbClr val="20261F"/>
                </a:solidFill>
                <a:effectLst/>
                <a:uFillTx/>
                <a:latin typeface="Cambria"/>
                <a:ea typeface="Cambria"/>
              </a:rPr>
              <a:t>Aegro</a:t>
            </a:r>
            <a:endParaRPr lang="pt-BR" sz="1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Freeform 51"/>
          <p:cNvSpPr/>
          <p:nvPr/>
        </p:nvSpPr>
        <p:spPr>
          <a:xfrm>
            <a:off x="9676440" y="3250800"/>
            <a:ext cx="3591360" cy="822600"/>
          </a:xfrm>
          <a:custGeom>
            <a:avLst/>
            <a:gdLst>
              <a:gd name="textAreaLeft" fmla="*/ 0 w 3591360"/>
              <a:gd name="textAreaRight" fmla="*/ 3591720 w 3591360"/>
              <a:gd name="textAreaTop" fmla="*/ 0 h 822600"/>
              <a:gd name="textAreaBottom" fmla="*/ 822960 h 822600"/>
            </a:gdLst>
            <a:ahLst/>
            <a:cxnLst/>
            <a:rect l="textAreaLeft" t="textAreaTop" r="textAreaRight" b="textAreaBottom"/>
            <a:pathLst>
              <a:path w="4788822" h="1097280">
                <a:moveTo>
                  <a:pt x="0" y="0"/>
                </a:moveTo>
                <a:lnTo>
                  <a:pt x="4788822" y="0"/>
                </a:lnTo>
                <a:lnTo>
                  <a:pt x="4788822" y="1097280"/>
                </a:lnTo>
                <a:lnTo>
                  <a:pt x="0" y="1097280"/>
                </a:lnTo>
                <a:close/>
              </a:path>
            </a:pathLst>
          </a:custGeom>
          <a:blipFill rotWithShape="0">
            <a:blip r:embed="rId14">
              <a:alphaModFix amt="0"/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TextBox 52"/>
          <p:cNvSpPr/>
          <p:nvPr/>
        </p:nvSpPr>
        <p:spPr>
          <a:xfrm>
            <a:off x="9676440" y="3214800"/>
            <a:ext cx="3591360" cy="85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ts val="2341"/>
              </a:lnSpc>
            </a:pPr>
            <a:r>
              <a:rPr lang="pt-BR" sz="1950" b="0" u="none" strike="noStrike">
                <a:solidFill>
                  <a:srgbClr val="20261F"/>
                </a:solidFill>
                <a:effectLst/>
                <a:uFillTx/>
                <a:latin typeface="Calibri (MS)"/>
                <a:ea typeface="Calibri (MS)"/>
              </a:rPr>
              <a:t>Grandes produtores</a:t>
            </a:r>
            <a:endParaRPr lang="pt-BR" sz="1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Freeform 54"/>
          <p:cNvSpPr/>
          <p:nvPr/>
        </p:nvSpPr>
        <p:spPr>
          <a:xfrm>
            <a:off x="13268160" y="3250800"/>
            <a:ext cx="2019960" cy="822600"/>
          </a:xfrm>
          <a:custGeom>
            <a:avLst/>
            <a:gdLst>
              <a:gd name="textAreaLeft" fmla="*/ 0 w 2019960"/>
              <a:gd name="textAreaRight" fmla="*/ 2020320 w 2019960"/>
              <a:gd name="textAreaTop" fmla="*/ 0 h 822600"/>
              <a:gd name="textAreaBottom" fmla="*/ 822960 h 822600"/>
            </a:gdLst>
            <a:ahLst/>
            <a:cxnLst/>
            <a:rect l="textAreaLeft" t="textAreaTop" r="textAreaRight" b="textAreaBottom"/>
            <a:pathLst>
              <a:path w="2693712" h="1097280">
                <a:moveTo>
                  <a:pt x="0" y="0"/>
                </a:moveTo>
                <a:lnTo>
                  <a:pt x="2693712" y="0"/>
                </a:lnTo>
                <a:lnTo>
                  <a:pt x="2693712" y="1097280"/>
                </a:lnTo>
                <a:lnTo>
                  <a:pt x="0" y="1097280"/>
                </a:lnTo>
                <a:close/>
              </a:path>
            </a:pathLst>
          </a:custGeom>
          <a:blipFill rotWithShape="0">
            <a:blip r:embed="rId15">
              <a:alphaModFix amt="0"/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TextBox 55"/>
          <p:cNvSpPr/>
          <p:nvPr/>
        </p:nvSpPr>
        <p:spPr>
          <a:xfrm>
            <a:off x="13268160" y="3214800"/>
            <a:ext cx="2019960" cy="85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ts val="2341"/>
              </a:lnSpc>
            </a:pPr>
            <a:r>
              <a:rPr lang="pt-BR" sz="1950" b="0" u="none" strike="noStrike">
                <a:solidFill>
                  <a:srgbClr val="20261F"/>
                </a:solidFill>
                <a:effectLst/>
                <a:uFillTx/>
                <a:latin typeface="Calibri (MS)"/>
                <a:ea typeface="Calibri (MS)"/>
              </a:rPr>
              <a:t>Média</a:t>
            </a:r>
            <a:endParaRPr lang="pt-BR" sz="1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Freeform 57"/>
          <p:cNvSpPr/>
          <p:nvPr/>
        </p:nvSpPr>
        <p:spPr>
          <a:xfrm>
            <a:off x="15288480" y="3250800"/>
            <a:ext cx="2244240" cy="822600"/>
          </a:xfrm>
          <a:custGeom>
            <a:avLst/>
            <a:gdLst>
              <a:gd name="textAreaLeft" fmla="*/ 0 w 2244240"/>
              <a:gd name="textAreaRight" fmla="*/ 2244600 w 2244240"/>
              <a:gd name="textAreaTop" fmla="*/ 0 h 822600"/>
              <a:gd name="textAreaBottom" fmla="*/ 822960 h 822600"/>
            </a:gdLst>
            <a:ahLst/>
            <a:cxnLst/>
            <a:rect l="textAreaLeft" t="textAreaTop" r="textAreaRight" b="textAreaBottom"/>
            <a:pathLst>
              <a:path w="2993014" h="1097280">
                <a:moveTo>
                  <a:pt x="0" y="0"/>
                </a:moveTo>
                <a:lnTo>
                  <a:pt x="2993014" y="0"/>
                </a:lnTo>
                <a:lnTo>
                  <a:pt x="2993014" y="1097280"/>
                </a:lnTo>
                <a:lnTo>
                  <a:pt x="0" y="1097280"/>
                </a:lnTo>
                <a:close/>
              </a:path>
            </a:pathLst>
          </a:custGeom>
          <a:blipFill rotWithShape="0">
            <a:blip r:embed="rId16">
              <a:alphaModFix amt="0"/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TextBox 58"/>
          <p:cNvSpPr/>
          <p:nvPr/>
        </p:nvSpPr>
        <p:spPr>
          <a:xfrm>
            <a:off x="15288480" y="3214800"/>
            <a:ext cx="2244240" cy="85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ts val="2341"/>
              </a:lnSpc>
            </a:pPr>
            <a:r>
              <a:rPr lang="pt-BR" sz="1950" b="0" u="none" strike="noStrike">
                <a:solidFill>
                  <a:srgbClr val="20261F"/>
                </a:solidFill>
                <a:effectLst/>
                <a:uFillTx/>
                <a:latin typeface="Calibri (MS)"/>
                <a:ea typeface="Calibri (MS)"/>
              </a:rPr>
              <a:t>Gestão completa</a:t>
            </a:r>
            <a:endParaRPr lang="pt-BR" sz="1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AutoShape 59"/>
          <p:cNvSpPr/>
          <p:nvPr/>
        </p:nvSpPr>
        <p:spPr>
          <a:xfrm>
            <a:off x="6302160" y="4088880"/>
            <a:ext cx="11238120" cy="14400"/>
          </a:xfrm>
          <a:prstGeom prst="line">
            <a:avLst/>
          </a:prstGeom>
          <a:ln w="9525">
            <a:solidFill>
              <a:srgbClr val="DDD7C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0600" rIns="90000" bIns="-30600" anchor="t" anchorCtr="1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Freeform 61"/>
          <p:cNvSpPr/>
          <p:nvPr/>
        </p:nvSpPr>
        <p:spPr>
          <a:xfrm>
            <a:off x="6309360" y="4238280"/>
            <a:ext cx="3366720" cy="822600"/>
          </a:xfrm>
          <a:custGeom>
            <a:avLst/>
            <a:gdLst>
              <a:gd name="textAreaLeft" fmla="*/ 0 w 3366720"/>
              <a:gd name="textAreaRight" fmla="*/ 3367080 w 3366720"/>
              <a:gd name="textAreaTop" fmla="*/ 0 h 822600"/>
              <a:gd name="textAreaBottom" fmla="*/ 822960 h 822600"/>
            </a:gdLst>
            <a:ahLst/>
            <a:cxnLst/>
            <a:rect l="textAreaLeft" t="textAreaTop" r="textAreaRight" b="textAreaBottom"/>
            <a:pathLst>
              <a:path w="4489522" h="1097280">
                <a:moveTo>
                  <a:pt x="0" y="0"/>
                </a:moveTo>
                <a:lnTo>
                  <a:pt x="4489522" y="0"/>
                </a:lnTo>
                <a:lnTo>
                  <a:pt x="4489522" y="1097280"/>
                </a:lnTo>
                <a:lnTo>
                  <a:pt x="0" y="1097280"/>
                </a:lnTo>
                <a:close/>
              </a:path>
            </a:pathLst>
          </a:custGeom>
          <a:blipFill rotWithShape="0">
            <a:blip r:embed="rId17">
              <a:alphaModFix amt="0"/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TextBox 62"/>
          <p:cNvSpPr/>
          <p:nvPr/>
        </p:nvSpPr>
        <p:spPr>
          <a:xfrm>
            <a:off x="6309360" y="4223880"/>
            <a:ext cx="3366720" cy="8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ts val="2611"/>
              </a:lnSpc>
            </a:pPr>
            <a:r>
              <a:rPr lang="pt-BR" sz="1950" b="0" u="none" strike="noStrike">
                <a:solidFill>
                  <a:srgbClr val="20261F"/>
                </a:solidFill>
                <a:effectLst/>
                <a:uFillTx/>
                <a:latin typeface="Cambria"/>
                <a:ea typeface="Cambria"/>
              </a:rPr>
              <a:t>MyFarm</a:t>
            </a:r>
            <a:endParaRPr lang="pt-BR" sz="1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Freeform 64"/>
          <p:cNvSpPr/>
          <p:nvPr/>
        </p:nvSpPr>
        <p:spPr>
          <a:xfrm>
            <a:off x="9676440" y="4238280"/>
            <a:ext cx="3591360" cy="822600"/>
          </a:xfrm>
          <a:custGeom>
            <a:avLst/>
            <a:gdLst>
              <a:gd name="textAreaLeft" fmla="*/ 0 w 3591360"/>
              <a:gd name="textAreaRight" fmla="*/ 3591720 w 3591360"/>
              <a:gd name="textAreaTop" fmla="*/ 0 h 822600"/>
              <a:gd name="textAreaBottom" fmla="*/ 822960 h 822600"/>
            </a:gdLst>
            <a:ahLst/>
            <a:cxnLst/>
            <a:rect l="textAreaLeft" t="textAreaTop" r="textAreaRight" b="textAreaBottom"/>
            <a:pathLst>
              <a:path w="4788822" h="1097280">
                <a:moveTo>
                  <a:pt x="0" y="0"/>
                </a:moveTo>
                <a:lnTo>
                  <a:pt x="4788822" y="0"/>
                </a:lnTo>
                <a:lnTo>
                  <a:pt x="4788822" y="1097280"/>
                </a:lnTo>
                <a:lnTo>
                  <a:pt x="0" y="1097280"/>
                </a:lnTo>
                <a:close/>
              </a:path>
            </a:pathLst>
          </a:custGeom>
          <a:blipFill rotWithShape="0">
            <a:blip r:embed="rId18">
              <a:alphaModFix amt="0"/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TextBox 65"/>
          <p:cNvSpPr/>
          <p:nvPr/>
        </p:nvSpPr>
        <p:spPr>
          <a:xfrm>
            <a:off x="9676440" y="4202640"/>
            <a:ext cx="3591360" cy="85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ts val="2341"/>
              </a:lnSpc>
            </a:pPr>
            <a:r>
              <a:rPr lang="pt-BR" sz="1950" b="0" u="none" strike="noStrike">
                <a:solidFill>
                  <a:srgbClr val="20261F"/>
                </a:solidFill>
                <a:effectLst/>
                <a:uFillTx/>
                <a:latin typeface="Calibri (MS)"/>
                <a:ea typeface="Calibri (MS)"/>
              </a:rPr>
              <a:t>Operações complexas</a:t>
            </a:r>
            <a:endParaRPr lang="pt-BR" sz="1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Freeform 67"/>
          <p:cNvSpPr/>
          <p:nvPr/>
        </p:nvSpPr>
        <p:spPr>
          <a:xfrm>
            <a:off x="13268160" y="4238280"/>
            <a:ext cx="2019960" cy="822600"/>
          </a:xfrm>
          <a:custGeom>
            <a:avLst/>
            <a:gdLst>
              <a:gd name="textAreaLeft" fmla="*/ 0 w 2019960"/>
              <a:gd name="textAreaRight" fmla="*/ 2020320 w 2019960"/>
              <a:gd name="textAreaTop" fmla="*/ 0 h 822600"/>
              <a:gd name="textAreaBottom" fmla="*/ 822960 h 822600"/>
            </a:gdLst>
            <a:ahLst/>
            <a:cxnLst/>
            <a:rect l="textAreaLeft" t="textAreaTop" r="textAreaRight" b="textAreaBottom"/>
            <a:pathLst>
              <a:path w="2693712" h="1097280">
                <a:moveTo>
                  <a:pt x="0" y="0"/>
                </a:moveTo>
                <a:lnTo>
                  <a:pt x="2693712" y="0"/>
                </a:lnTo>
                <a:lnTo>
                  <a:pt x="2693712" y="1097280"/>
                </a:lnTo>
                <a:lnTo>
                  <a:pt x="0" y="1097280"/>
                </a:lnTo>
                <a:close/>
              </a:path>
            </a:pathLst>
          </a:custGeom>
          <a:blipFill rotWithShape="0">
            <a:blip r:embed="rId19">
              <a:alphaModFix amt="0"/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TextBox 68"/>
          <p:cNvSpPr/>
          <p:nvPr/>
        </p:nvSpPr>
        <p:spPr>
          <a:xfrm>
            <a:off x="13268160" y="4202640"/>
            <a:ext cx="2019960" cy="85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ts val="2341"/>
              </a:lnSpc>
            </a:pPr>
            <a:r>
              <a:rPr lang="pt-BR" sz="1950" b="0" u="none" strike="noStrike">
                <a:solidFill>
                  <a:srgbClr val="20261F"/>
                </a:solidFill>
                <a:effectLst/>
                <a:uFillTx/>
                <a:latin typeface="Calibri (MS)"/>
                <a:ea typeface="Calibri (MS)"/>
              </a:rPr>
              <a:t>Média</a:t>
            </a:r>
            <a:endParaRPr lang="pt-BR" sz="1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Freeform 70"/>
          <p:cNvSpPr/>
          <p:nvPr/>
        </p:nvSpPr>
        <p:spPr>
          <a:xfrm>
            <a:off x="15288480" y="4238280"/>
            <a:ext cx="2244240" cy="822600"/>
          </a:xfrm>
          <a:custGeom>
            <a:avLst/>
            <a:gdLst>
              <a:gd name="textAreaLeft" fmla="*/ 0 w 2244240"/>
              <a:gd name="textAreaRight" fmla="*/ 2244600 w 2244240"/>
              <a:gd name="textAreaTop" fmla="*/ 0 h 822600"/>
              <a:gd name="textAreaBottom" fmla="*/ 822960 h 822600"/>
            </a:gdLst>
            <a:ahLst/>
            <a:cxnLst/>
            <a:rect l="textAreaLeft" t="textAreaTop" r="textAreaRight" b="textAreaBottom"/>
            <a:pathLst>
              <a:path w="2993014" h="1097280">
                <a:moveTo>
                  <a:pt x="0" y="0"/>
                </a:moveTo>
                <a:lnTo>
                  <a:pt x="2993014" y="0"/>
                </a:lnTo>
                <a:lnTo>
                  <a:pt x="2993014" y="1097280"/>
                </a:lnTo>
                <a:lnTo>
                  <a:pt x="0" y="1097280"/>
                </a:lnTo>
                <a:close/>
              </a:path>
            </a:pathLst>
          </a:custGeom>
          <a:blipFill rotWithShape="0">
            <a:blip r:embed="rId20">
              <a:alphaModFix amt="0"/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TextBox 71"/>
          <p:cNvSpPr/>
          <p:nvPr/>
        </p:nvSpPr>
        <p:spPr>
          <a:xfrm>
            <a:off x="15288480" y="4202640"/>
            <a:ext cx="2244240" cy="85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ts val="2341"/>
              </a:lnSpc>
            </a:pPr>
            <a:r>
              <a:rPr lang="pt-BR" sz="1950" b="0" u="none" strike="noStrike">
                <a:solidFill>
                  <a:srgbClr val="20261F"/>
                </a:solidFill>
                <a:effectLst/>
                <a:uFillTx/>
                <a:latin typeface="Calibri (MS)"/>
                <a:ea typeface="Calibri (MS)"/>
              </a:rPr>
              <a:t>Múltiplos módulos</a:t>
            </a:r>
            <a:endParaRPr lang="pt-BR" sz="1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" name="AutoShape 72"/>
          <p:cNvSpPr/>
          <p:nvPr/>
        </p:nvSpPr>
        <p:spPr>
          <a:xfrm>
            <a:off x="6302160" y="5076360"/>
            <a:ext cx="11238120" cy="14400"/>
          </a:xfrm>
          <a:prstGeom prst="line">
            <a:avLst/>
          </a:prstGeom>
          <a:ln w="9525">
            <a:solidFill>
              <a:srgbClr val="DDD7C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0600" rIns="90000" bIns="-30600" anchor="t" anchorCtr="1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Freeform 74"/>
          <p:cNvSpPr/>
          <p:nvPr/>
        </p:nvSpPr>
        <p:spPr>
          <a:xfrm>
            <a:off x="6309360" y="5225760"/>
            <a:ext cx="3366720" cy="822600"/>
          </a:xfrm>
          <a:custGeom>
            <a:avLst/>
            <a:gdLst>
              <a:gd name="textAreaLeft" fmla="*/ 0 w 3366720"/>
              <a:gd name="textAreaRight" fmla="*/ 3367080 w 3366720"/>
              <a:gd name="textAreaTop" fmla="*/ 0 h 822600"/>
              <a:gd name="textAreaBottom" fmla="*/ 822960 h 822600"/>
            </a:gdLst>
            <a:ahLst/>
            <a:cxnLst/>
            <a:rect l="textAreaLeft" t="textAreaTop" r="textAreaRight" b="textAreaBottom"/>
            <a:pathLst>
              <a:path w="4489522" h="1097280">
                <a:moveTo>
                  <a:pt x="0" y="0"/>
                </a:moveTo>
                <a:lnTo>
                  <a:pt x="4489522" y="0"/>
                </a:lnTo>
                <a:lnTo>
                  <a:pt x="4489522" y="1097280"/>
                </a:lnTo>
                <a:lnTo>
                  <a:pt x="0" y="1097280"/>
                </a:lnTo>
                <a:close/>
              </a:path>
            </a:pathLst>
          </a:custGeom>
          <a:blipFill rotWithShape="0">
            <a:blip r:embed="rId21">
              <a:alphaModFix amt="0"/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TextBox 75"/>
          <p:cNvSpPr/>
          <p:nvPr/>
        </p:nvSpPr>
        <p:spPr>
          <a:xfrm>
            <a:off x="6309360" y="5211360"/>
            <a:ext cx="3366720" cy="8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ts val="2611"/>
              </a:lnSpc>
            </a:pPr>
            <a:r>
              <a:rPr lang="pt-BR" sz="1950" b="0" u="none" strike="noStrike">
                <a:solidFill>
                  <a:srgbClr val="20261F"/>
                </a:solidFill>
                <a:effectLst/>
                <a:uFillTx/>
                <a:latin typeface="Cambria"/>
                <a:ea typeface="Cambria"/>
              </a:rPr>
              <a:t>FieldView</a:t>
            </a:r>
            <a:endParaRPr lang="pt-BR" sz="1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Freeform 77"/>
          <p:cNvSpPr/>
          <p:nvPr/>
        </p:nvSpPr>
        <p:spPr>
          <a:xfrm>
            <a:off x="9676440" y="5225760"/>
            <a:ext cx="3591360" cy="822600"/>
          </a:xfrm>
          <a:custGeom>
            <a:avLst/>
            <a:gdLst>
              <a:gd name="textAreaLeft" fmla="*/ 0 w 3591360"/>
              <a:gd name="textAreaRight" fmla="*/ 3591720 w 3591360"/>
              <a:gd name="textAreaTop" fmla="*/ 0 h 822600"/>
              <a:gd name="textAreaBottom" fmla="*/ 822960 h 822600"/>
            </a:gdLst>
            <a:ahLst/>
            <a:cxnLst/>
            <a:rect l="textAreaLeft" t="textAreaTop" r="textAreaRight" b="textAreaBottom"/>
            <a:pathLst>
              <a:path w="4788822" h="1097280">
                <a:moveTo>
                  <a:pt x="0" y="0"/>
                </a:moveTo>
                <a:lnTo>
                  <a:pt x="4788822" y="0"/>
                </a:lnTo>
                <a:lnTo>
                  <a:pt x="4788822" y="1097280"/>
                </a:lnTo>
                <a:lnTo>
                  <a:pt x="0" y="1097280"/>
                </a:lnTo>
                <a:close/>
              </a:path>
            </a:pathLst>
          </a:custGeom>
          <a:blipFill rotWithShape="0">
            <a:blip r:embed="rId22">
              <a:alphaModFix amt="0"/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TextBox 78"/>
          <p:cNvSpPr/>
          <p:nvPr/>
        </p:nvSpPr>
        <p:spPr>
          <a:xfrm>
            <a:off x="9676440" y="5190120"/>
            <a:ext cx="3591360" cy="85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ts val="2341"/>
              </a:lnSpc>
            </a:pPr>
            <a:r>
              <a:rPr lang="pt-BR" sz="1950" b="0" u="none" strike="noStrike">
                <a:solidFill>
                  <a:srgbClr val="20261F"/>
                </a:solidFill>
                <a:effectLst/>
                <a:uFillTx/>
                <a:latin typeface="Calibri (MS)"/>
                <a:ea typeface="Calibri (MS)"/>
              </a:rPr>
              <a:t>Agricultura de precisão</a:t>
            </a:r>
            <a:endParaRPr lang="pt-BR" sz="1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Freeform 80"/>
          <p:cNvSpPr/>
          <p:nvPr/>
        </p:nvSpPr>
        <p:spPr>
          <a:xfrm>
            <a:off x="13268160" y="5225760"/>
            <a:ext cx="2019960" cy="822600"/>
          </a:xfrm>
          <a:custGeom>
            <a:avLst/>
            <a:gdLst>
              <a:gd name="textAreaLeft" fmla="*/ 0 w 2019960"/>
              <a:gd name="textAreaRight" fmla="*/ 2020320 w 2019960"/>
              <a:gd name="textAreaTop" fmla="*/ 0 h 822600"/>
              <a:gd name="textAreaBottom" fmla="*/ 822960 h 822600"/>
            </a:gdLst>
            <a:ahLst/>
            <a:cxnLst/>
            <a:rect l="textAreaLeft" t="textAreaTop" r="textAreaRight" b="textAreaBottom"/>
            <a:pathLst>
              <a:path w="2693712" h="1097280">
                <a:moveTo>
                  <a:pt x="0" y="0"/>
                </a:moveTo>
                <a:lnTo>
                  <a:pt x="2693712" y="0"/>
                </a:lnTo>
                <a:lnTo>
                  <a:pt x="2693712" y="1097280"/>
                </a:lnTo>
                <a:lnTo>
                  <a:pt x="0" y="1097280"/>
                </a:lnTo>
                <a:close/>
              </a:path>
            </a:pathLst>
          </a:custGeom>
          <a:blipFill rotWithShape="0">
            <a:blip r:embed="rId23">
              <a:alphaModFix amt="0"/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TextBox 81"/>
          <p:cNvSpPr/>
          <p:nvPr/>
        </p:nvSpPr>
        <p:spPr>
          <a:xfrm>
            <a:off x="13268160" y="5190120"/>
            <a:ext cx="2019960" cy="85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ts val="2341"/>
              </a:lnSpc>
            </a:pPr>
            <a:r>
              <a:rPr lang="pt-BR" sz="1950" b="0" u="none" strike="noStrike">
                <a:solidFill>
                  <a:srgbClr val="20261F"/>
                </a:solidFill>
                <a:effectLst/>
                <a:uFillTx/>
                <a:latin typeface="Calibri (MS)"/>
                <a:ea typeface="Calibri (MS)"/>
              </a:rPr>
              <a:t>Especializada</a:t>
            </a:r>
            <a:endParaRPr lang="pt-BR" sz="1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Freeform 83"/>
          <p:cNvSpPr/>
          <p:nvPr/>
        </p:nvSpPr>
        <p:spPr>
          <a:xfrm>
            <a:off x="15288480" y="5225760"/>
            <a:ext cx="2244240" cy="822600"/>
          </a:xfrm>
          <a:custGeom>
            <a:avLst/>
            <a:gdLst>
              <a:gd name="textAreaLeft" fmla="*/ 0 w 2244240"/>
              <a:gd name="textAreaRight" fmla="*/ 2244600 w 2244240"/>
              <a:gd name="textAreaTop" fmla="*/ 0 h 822600"/>
              <a:gd name="textAreaBottom" fmla="*/ 822960 h 822600"/>
            </a:gdLst>
            <a:ahLst/>
            <a:cxnLst/>
            <a:rect l="textAreaLeft" t="textAreaTop" r="textAreaRight" b="textAreaBottom"/>
            <a:pathLst>
              <a:path w="2993014" h="1097280">
                <a:moveTo>
                  <a:pt x="0" y="0"/>
                </a:moveTo>
                <a:lnTo>
                  <a:pt x="2993014" y="0"/>
                </a:lnTo>
                <a:lnTo>
                  <a:pt x="2993014" y="1097280"/>
                </a:lnTo>
                <a:lnTo>
                  <a:pt x="0" y="1097280"/>
                </a:lnTo>
                <a:close/>
              </a:path>
            </a:pathLst>
          </a:custGeom>
          <a:blipFill rotWithShape="0">
            <a:blip r:embed="rId24">
              <a:alphaModFix amt="0"/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TextBox 84"/>
          <p:cNvSpPr/>
          <p:nvPr/>
        </p:nvSpPr>
        <p:spPr>
          <a:xfrm>
            <a:off x="15288480" y="5190120"/>
            <a:ext cx="2244240" cy="85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ts val="2341"/>
              </a:lnSpc>
            </a:pPr>
            <a:r>
              <a:rPr lang="pt-BR" sz="1950" b="0" u="none" strike="noStrike">
                <a:solidFill>
                  <a:srgbClr val="20261F"/>
                </a:solidFill>
                <a:effectLst/>
                <a:uFillTx/>
                <a:latin typeface="Calibri (MS)"/>
                <a:ea typeface="Calibri (MS)"/>
              </a:rPr>
              <a:t>Mapas e máquinas</a:t>
            </a:r>
            <a:endParaRPr lang="pt-BR" sz="1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Freeform 86"/>
          <p:cNvSpPr/>
          <p:nvPr/>
        </p:nvSpPr>
        <p:spPr>
          <a:xfrm>
            <a:off x="6172200" y="6240960"/>
            <a:ext cx="1371240" cy="1234080"/>
          </a:xfrm>
          <a:custGeom>
            <a:avLst/>
            <a:gdLst>
              <a:gd name="textAreaLeft" fmla="*/ 0 w 1371240"/>
              <a:gd name="textAreaRight" fmla="*/ 1371600 w 1371240"/>
              <a:gd name="textAreaTop" fmla="*/ 0 h 1234080"/>
              <a:gd name="textAreaBottom" fmla="*/ 1234440 h 1234080"/>
            </a:gdLst>
            <a:ahLst/>
            <a:cxnLst/>
            <a:rect l="textAreaLeft" t="textAreaTop" r="textAreaRight" b="textAreaBottom"/>
            <a:pathLst>
              <a:path w="1828800" h="1645920">
                <a:moveTo>
                  <a:pt x="0" y="0"/>
                </a:moveTo>
                <a:lnTo>
                  <a:pt x="1828800" y="0"/>
                </a:lnTo>
                <a:lnTo>
                  <a:pt x="1828800" y="1645920"/>
                </a:lnTo>
                <a:lnTo>
                  <a:pt x="0" y="1645920"/>
                </a:lnTo>
                <a:close/>
              </a:path>
            </a:pathLst>
          </a:custGeom>
          <a:blipFill rotWithShape="0">
            <a:blip r:embed="rId25">
              <a:alphaModFix amt="0"/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TextBox 87"/>
          <p:cNvSpPr/>
          <p:nvPr/>
        </p:nvSpPr>
        <p:spPr>
          <a:xfrm>
            <a:off x="6172200" y="6226560"/>
            <a:ext cx="1371240" cy="124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ts val="10800"/>
              </a:lnSpc>
            </a:pPr>
            <a:r>
              <a:rPr lang="pt-BR" sz="9000" b="1" u="none" strike="noStrike">
                <a:solidFill>
                  <a:srgbClr val="A8532E"/>
                </a:solidFill>
                <a:effectLst/>
                <a:uFillTx/>
                <a:latin typeface="Cambria Bold"/>
                <a:ea typeface="Cambria Bold"/>
              </a:rPr>
              <a:t>“</a:t>
            </a:r>
            <a:endParaRPr lang="pt-BR" sz="9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Freeform 89"/>
          <p:cNvSpPr/>
          <p:nvPr/>
        </p:nvSpPr>
        <p:spPr>
          <a:xfrm>
            <a:off x="7063920" y="6652440"/>
            <a:ext cx="10400400" cy="1508400"/>
          </a:xfrm>
          <a:custGeom>
            <a:avLst/>
            <a:gdLst>
              <a:gd name="textAreaLeft" fmla="*/ 0 w 10400400"/>
              <a:gd name="textAreaRight" fmla="*/ 10400760 w 10400400"/>
              <a:gd name="textAreaTop" fmla="*/ 0 h 1508400"/>
              <a:gd name="textAreaBottom" fmla="*/ 1508760 h 1508400"/>
            </a:gdLst>
            <a:ahLst/>
            <a:cxnLst/>
            <a:rect l="textAreaLeft" t="textAreaTop" r="textAreaRight" b="textAreaBottom"/>
            <a:pathLst>
              <a:path w="13867791" h="2011680">
                <a:moveTo>
                  <a:pt x="0" y="0"/>
                </a:moveTo>
                <a:lnTo>
                  <a:pt x="13867791" y="0"/>
                </a:lnTo>
                <a:lnTo>
                  <a:pt x="13867791" y="2011680"/>
                </a:lnTo>
                <a:lnTo>
                  <a:pt x="0" y="2011680"/>
                </a:lnTo>
                <a:close/>
              </a:path>
            </a:pathLst>
          </a:custGeom>
          <a:blipFill rotWithShape="0">
            <a:blip r:embed="rId26">
              <a:alphaModFix amt="0"/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4" name="TextBox 90"/>
          <p:cNvSpPr/>
          <p:nvPr/>
        </p:nvSpPr>
        <p:spPr>
          <a:xfrm>
            <a:off x="7063920" y="6588000"/>
            <a:ext cx="10400400" cy="157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ts val="3600"/>
              </a:lnSpc>
            </a:pPr>
            <a:r>
              <a:rPr lang="pt-BR" sz="2020" b="0" i="1" u="none" strike="noStrike">
                <a:solidFill>
                  <a:srgbClr val="16302A"/>
                </a:solidFill>
                <a:effectLst/>
                <a:uFillTx/>
                <a:latin typeface="Cambria Italics"/>
                <a:ea typeface="Cambria Italics"/>
              </a:rPr>
              <a:t>O AgroGestão Pro não busca ter mais funções. Ele busca ser mais fácil para quem realmente precisa de simplicidade.</a:t>
            </a:r>
            <a:endParaRPr lang="pt-BR" sz="2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Freeform 3"/>
          <p:cNvSpPr/>
          <p:nvPr/>
        </p:nvSpPr>
        <p:spPr>
          <a:xfrm>
            <a:off x="5555160" y="0"/>
            <a:ext cx="12732120" cy="10286640"/>
          </a:xfrm>
          <a:custGeom>
            <a:avLst/>
            <a:gdLst>
              <a:gd name="textAreaLeft" fmla="*/ 0 w 12732120"/>
              <a:gd name="textAreaRight" fmla="*/ 12732480 w 12732120"/>
              <a:gd name="textAreaTop" fmla="*/ 0 h 10286640"/>
              <a:gd name="textAreaBottom" fmla="*/ 10287000 h 10286640"/>
            </a:gdLst>
            <a:ahLst/>
            <a:cxnLst/>
            <a:rect l="textAreaLeft" t="textAreaTop" r="textAreaRight" b="textAreaBottom"/>
            <a:pathLst>
              <a:path w="16976725" h="13716000">
                <a:moveTo>
                  <a:pt x="0" y="0"/>
                </a:moveTo>
                <a:lnTo>
                  <a:pt x="16976725" y="0"/>
                </a:lnTo>
                <a:lnTo>
                  <a:pt x="16976725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FBF9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Freeform 5"/>
          <p:cNvSpPr/>
          <p:nvPr/>
        </p:nvSpPr>
        <p:spPr>
          <a:xfrm>
            <a:off x="0" y="0"/>
            <a:ext cx="5554800" cy="10286640"/>
          </a:xfrm>
          <a:custGeom>
            <a:avLst/>
            <a:gdLst>
              <a:gd name="textAreaLeft" fmla="*/ 0 w 5554800"/>
              <a:gd name="textAreaRight" fmla="*/ 5555160 w 5554800"/>
              <a:gd name="textAreaTop" fmla="*/ 0 h 10286640"/>
              <a:gd name="textAreaBottom" fmla="*/ 10287000 h 10286640"/>
            </a:gdLst>
            <a:ahLst/>
            <a:cxnLst/>
            <a:rect l="textAreaLeft" t="textAreaTop" r="textAreaRight" b="textAreaBottom"/>
            <a:pathLst>
              <a:path w="7406640" h="13716000">
                <a:moveTo>
                  <a:pt x="0" y="0"/>
                </a:moveTo>
                <a:lnTo>
                  <a:pt x="7406640" y="0"/>
                </a:lnTo>
                <a:lnTo>
                  <a:pt x="740664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1630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7" name="Freeform 7"/>
          <p:cNvSpPr/>
          <p:nvPr/>
        </p:nvSpPr>
        <p:spPr>
          <a:xfrm>
            <a:off x="-754560" y="5074920"/>
            <a:ext cx="7269120" cy="5623200"/>
          </a:xfrm>
          <a:custGeom>
            <a:avLst/>
            <a:gdLst>
              <a:gd name="textAreaLeft" fmla="*/ 0 w 7269120"/>
              <a:gd name="textAreaRight" fmla="*/ 7269480 w 7269120"/>
              <a:gd name="textAreaTop" fmla="*/ 0 h 5623200"/>
              <a:gd name="textAreaBottom" fmla="*/ 5623560 h 5623200"/>
            </a:gdLst>
            <a:ahLst/>
            <a:cxnLst/>
            <a:rect l="textAreaLeft" t="textAreaTop" r="textAreaRight" b="textAreaBottom"/>
            <a:pathLst>
              <a:path w="9692640" h="7498080">
                <a:moveTo>
                  <a:pt x="0" y="0"/>
                </a:moveTo>
                <a:lnTo>
                  <a:pt x="9692640" y="0"/>
                </a:lnTo>
                <a:lnTo>
                  <a:pt x="9692640" y="7498080"/>
                </a:lnTo>
                <a:lnTo>
                  <a:pt x="0" y="7498080"/>
                </a:lnTo>
                <a:close/>
              </a:path>
            </a:pathLst>
          </a:custGeom>
          <a:blipFill rotWithShape="0">
            <a:blip r:embed="rId1">
              <a:alphaModFix amt="0"/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TextBox 8"/>
          <p:cNvSpPr/>
          <p:nvPr/>
        </p:nvSpPr>
        <p:spPr>
          <a:xfrm>
            <a:off x="-754560" y="5067720"/>
            <a:ext cx="7269120" cy="563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b">
            <a:noAutofit/>
          </a:bodyPr>
          <a:p>
            <a:pPr>
              <a:lnSpc>
                <a:spcPts val="45000"/>
              </a:lnSpc>
            </a:pPr>
            <a:r>
              <a:rPr lang="pt-BR" sz="37500" b="1" u="none" strike="noStrike">
                <a:solidFill>
                  <a:srgbClr val="224539"/>
                </a:solidFill>
                <a:effectLst/>
                <a:uFillTx/>
                <a:latin typeface="Cambria Bold"/>
                <a:ea typeface="Cambria Bold"/>
              </a:rPr>
              <a:t>08</a:t>
            </a:r>
            <a:endParaRPr lang="pt-BR" sz="37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Freeform 10"/>
          <p:cNvSpPr/>
          <p:nvPr/>
        </p:nvSpPr>
        <p:spPr>
          <a:xfrm>
            <a:off x="754560" y="891720"/>
            <a:ext cx="4388760" cy="548280"/>
          </a:xfrm>
          <a:custGeom>
            <a:avLst/>
            <a:gdLst>
              <a:gd name="textAreaLeft" fmla="*/ 0 w 4388760"/>
              <a:gd name="textAreaRight" fmla="*/ 4389120 w 4388760"/>
              <a:gd name="textAreaTop" fmla="*/ 0 h 548280"/>
              <a:gd name="textAreaBottom" fmla="*/ 548640 h 548280"/>
            </a:gdLst>
            <a:ahLst/>
            <a:cxnLst/>
            <a:rect l="textAreaLeft" t="textAreaTop" r="textAreaRight" b="textAreaBottom"/>
            <a:pathLst>
              <a:path w="5852160" h="731520">
                <a:moveTo>
                  <a:pt x="0" y="0"/>
                </a:moveTo>
                <a:lnTo>
                  <a:pt x="5852160" y="0"/>
                </a:lnTo>
                <a:lnTo>
                  <a:pt x="5852160" y="731520"/>
                </a:lnTo>
                <a:lnTo>
                  <a:pt x="0" y="731520"/>
                </a:lnTo>
                <a:close/>
              </a:path>
            </a:pathLst>
          </a:custGeom>
          <a:blipFill rotWithShape="0">
            <a:blip r:embed="rId2">
              <a:alphaModFix amt="0"/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" name="TextBox 11"/>
          <p:cNvSpPr/>
          <p:nvPr/>
        </p:nvSpPr>
        <p:spPr>
          <a:xfrm>
            <a:off x="754560" y="862920"/>
            <a:ext cx="4388760" cy="57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ts val="2160"/>
              </a:lnSpc>
            </a:pPr>
            <a:r>
              <a:rPr lang="pt-BR" sz="1800" b="1" u="none" strike="noStrike">
                <a:solidFill>
                  <a:srgbClr val="A8532E"/>
                </a:solidFill>
                <a:effectLst/>
                <a:uFillTx/>
                <a:latin typeface="Calibri (MS) Bold"/>
                <a:ea typeface="Calibri (MS) Bold"/>
              </a:rPr>
              <a:t>MERCADO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TextBox 12"/>
          <p:cNvSpPr/>
          <p:nvPr/>
        </p:nvSpPr>
        <p:spPr>
          <a:xfrm>
            <a:off x="754560" y="1520280"/>
            <a:ext cx="4388760" cy="458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ts val="4031"/>
              </a:lnSpc>
            </a:pPr>
            <a:r>
              <a:rPr lang="pt-BR" sz="3000" b="1" u="none" strike="noStrike">
                <a:solidFill>
                  <a:srgbClr val="FFFFFF"/>
                </a:solidFill>
                <a:effectLst/>
                <a:uFillTx/>
                <a:latin typeface="Cambria Bold"/>
                <a:ea typeface="Cambria Bold"/>
              </a:rPr>
              <a:t>Um mercado grande com espaço para uma solução simples</a:t>
            </a:r>
            <a:endParaRPr lang="pt-BR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Freeform 14"/>
          <p:cNvSpPr/>
          <p:nvPr/>
        </p:nvSpPr>
        <p:spPr>
          <a:xfrm>
            <a:off x="754560" y="9642240"/>
            <a:ext cx="3565800" cy="411120"/>
          </a:xfrm>
          <a:custGeom>
            <a:avLst/>
            <a:gdLst>
              <a:gd name="textAreaLeft" fmla="*/ 0 w 3565800"/>
              <a:gd name="textAreaRight" fmla="*/ 3566160 w 3565800"/>
              <a:gd name="textAreaTop" fmla="*/ 0 h 411120"/>
              <a:gd name="textAreaBottom" fmla="*/ 411480 h 411120"/>
            </a:gdLst>
            <a:ahLst/>
            <a:cxnLst/>
            <a:rect l="textAreaLeft" t="textAreaTop" r="textAreaRight" b="textAreaBottom"/>
            <a:pathLst>
              <a:path w="4754880" h="548640">
                <a:moveTo>
                  <a:pt x="0" y="0"/>
                </a:moveTo>
                <a:lnTo>
                  <a:pt x="4754880" y="0"/>
                </a:lnTo>
                <a:lnTo>
                  <a:pt x="4754880" y="548640"/>
                </a:lnTo>
                <a:lnTo>
                  <a:pt x="0" y="548640"/>
                </a:lnTo>
                <a:close/>
              </a:path>
            </a:pathLst>
          </a:custGeom>
          <a:blipFill rotWithShape="0">
            <a:blip r:embed="rId3">
              <a:alphaModFix amt="0"/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3" name="TextBox 15"/>
          <p:cNvSpPr/>
          <p:nvPr/>
        </p:nvSpPr>
        <p:spPr>
          <a:xfrm>
            <a:off x="754560" y="9621000"/>
            <a:ext cx="3565800" cy="43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ts val="1621"/>
              </a:lnSpc>
            </a:pPr>
            <a:r>
              <a:rPr lang="pt-BR" sz="1350" b="1" u="none" strike="noStrike">
                <a:solidFill>
                  <a:srgbClr val="9BAE97"/>
                </a:solidFill>
                <a:effectLst/>
                <a:uFillTx/>
                <a:latin typeface="Calibri (MS) Bold"/>
                <a:ea typeface="Calibri (MS) Bold"/>
              </a:rPr>
              <a:t>AGROGESTÃO PRO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Freeform 17"/>
          <p:cNvSpPr/>
          <p:nvPr/>
        </p:nvSpPr>
        <p:spPr>
          <a:xfrm>
            <a:off x="4389120" y="9601200"/>
            <a:ext cx="822600" cy="479880"/>
          </a:xfrm>
          <a:custGeom>
            <a:avLst/>
            <a:gdLst>
              <a:gd name="textAreaLeft" fmla="*/ 0 w 822600"/>
              <a:gd name="textAreaRight" fmla="*/ 822960 w 822600"/>
              <a:gd name="textAreaTop" fmla="*/ 0 h 479880"/>
              <a:gd name="textAreaBottom" fmla="*/ 480240 h 479880"/>
            </a:gdLst>
            <a:ahLst/>
            <a:cxnLst/>
            <a:rect l="textAreaLeft" t="textAreaTop" r="textAreaRight" b="textAreaBottom"/>
            <a:pathLst>
              <a:path w="1097280" h="640080">
                <a:moveTo>
                  <a:pt x="0" y="0"/>
                </a:moveTo>
                <a:lnTo>
                  <a:pt x="1097280" y="0"/>
                </a:lnTo>
                <a:lnTo>
                  <a:pt x="1097280" y="640080"/>
                </a:lnTo>
                <a:lnTo>
                  <a:pt x="0" y="640080"/>
                </a:lnTo>
                <a:close/>
              </a:path>
            </a:pathLst>
          </a:custGeom>
          <a:blipFill rotWithShape="0">
            <a:blip r:embed="rId4">
              <a:alphaModFix amt="0"/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TextBox 18"/>
          <p:cNvSpPr/>
          <p:nvPr/>
        </p:nvSpPr>
        <p:spPr>
          <a:xfrm>
            <a:off x="4389120" y="9579600"/>
            <a:ext cx="82260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>
              <a:lnSpc>
                <a:spcPts val="1981"/>
              </a:lnSpc>
            </a:pPr>
            <a:r>
              <a:rPr lang="pt-BR" sz="1650" b="0" u="none" strike="noStrike">
                <a:solidFill>
                  <a:srgbClr val="9BAE97"/>
                </a:solidFill>
                <a:effectLst/>
                <a:uFillTx/>
                <a:latin typeface="Calibri (MS)"/>
                <a:ea typeface="Calibri (MS)"/>
              </a:rPr>
              <a:t>08</a:t>
            </a:r>
            <a:endParaRPr lang="pt-BR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Freeform 20"/>
          <p:cNvSpPr/>
          <p:nvPr/>
        </p:nvSpPr>
        <p:spPr>
          <a:xfrm>
            <a:off x="6309360" y="1645920"/>
            <a:ext cx="2394000" cy="1234080"/>
          </a:xfrm>
          <a:custGeom>
            <a:avLst/>
            <a:gdLst>
              <a:gd name="textAreaLeft" fmla="*/ 0 w 2394000"/>
              <a:gd name="textAreaRight" fmla="*/ 2394360 w 2394000"/>
              <a:gd name="textAreaTop" fmla="*/ 0 h 1234080"/>
              <a:gd name="textAreaBottom" fmla="*/ 1234440 h 1234080"/>
            </a:gdLst>
            <a:ahLst/>
            <a:cxnLst/>
            <a:rect l="textAreaLeft" t="textAreaTop" r="textAreaRight" b="textAreaBottom"/>
            <a:pathLst>
              <a:path w="3192628" h="1645920">
                <a:moveTo>
                  <a:pt x="0" y="0"/>
                </a:moveTo>
                <a:lnTo>
                  <a:pt x="3192628" y="0"/>
                </a:lnTo>
                <a:lnTo>
                  <a:pt x="3192628" y="1645920"/>
                </a:lnTo>
                <a:lnTo>
                  <a:pt x="0" y="1645920"/>
                </a:lnTo>
                <a:close/>
              </a:path>
            </a:pathLst>
          </a:custGeom>
          <a:blipFill rotWithShape="0">
            <a:blip r:embed="rId5">
              <a:alphaModFix amt="0"/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7" name="TextBox 21"/>
          <p:cNvSpPr/>
          <p:nvPr/>
        </p:nvSpPr>
        <p:spPr>
          <a:xfrm>
            <a:off x="6309360" y="1638720"/>
            <a:ext cx="2394000" cy="124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ts val="7200"/>
              </a:lnSpc>
            </a:pPr>
            <a:r>
              <a:rPr lang="pt-BR" sz="4800" b="1" u="none" strike="noStrike">
                <a:solidFill>
                  <a:srgbClr val="A8532E"/>
                </a:solidFill>
                <a:effectLst/>
                <a:uFillTx/>
                <a:latin typeface="Cambria Bold"/>
                <a:ea typeface="Cambria Bold"/>
              </a:rPr>
              <a:t>1.972</a:t>
            </a:r>
            <a:endParaRPr lang="pt-BR" sz="4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8" name="Freeform 23"/>
          <p:cNvSpPr/>
          <p:nvPr/>
        </p:nvSpPr>
        <p:spPr>
          <a:xfrm>
            <a:off x="6309360" y="3086280"/>
            <a:ext cx="2325600" cy="3565800"/>
          </a:xfrm>
          <a:custGeom>
            <a:avLst/>
            <a:gdLst>
              <a:gd name="textAreaLeft" fmla="*/ 0 w 2325600"/>
              <a:gd name="textAreaRight" fmla="*/ 2325960 w 2325600"/>
              <a:gd name="textAreaTop" fmla="*/ 0 h 3565800"/>
              <a:gd name="textAreaBottom" fmla="*/ 3566160 h 3565800"/>
            </a:gdLst>
            <a:ahLst/>
            <a:cxnLst/>
            <a:rect l="textAreaLeft" t="textAreaTop" r="textAreaRight" b="textAreaBottom"/>
            <a:pathLst>
              <a:path w="3101188" h="4754880">
                <a:moveTo>
                  <a:pt x="0" y="0"/>
                </a:moveTo>
                <a:lnTo>
                  <a:pt x="3101188" y="0"/>
                </a:lnTo>
                <a:lnTo>
                  <a:pt x="3101188" y="4754880"/>
                </a:lnTo>
                <a:lnTo>
                  <a:pt x="0" y="4754880"/>
                </a:lnTo>
                <a:close/>
              </a:path>
            </a:pathLst>
          </a:custGeom>
          <a:blipFill rotWithShape="0">
            <a:blip r:embed="rId6">
              <a:alphaModFix amt="0"/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TextBox 24"/>
          <p:cNvSpPr/>
          <p:nvPr/>
        </p:nvSpPr>
        <p:spPr>
          <a:xfrm>
            <a:off x="6309360" y="3093840"/>
            <a:ext cx="2325600" cy="363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ts val="2917"/>
              </a:lnSpc>
            </a:pPr>
            <a:r>
              <a:rPr lang="pt-BR" sz="2320" b="0" u="none" strike="noStrike">
                <a:solidFill>
                  <a:srgbClr val="20261F"/>
                </a:solidFill>
                <a:effectLst/>
                <a:uFillTx/>
                <a:latin typeface="Calibri (MS)"/>
                <a:ea typeface="Calibri (MS)"/>
              </a:rPr>
              <a:t>agrotechs mapeadas no Brasil</a:t>
            </a:r>
            <a:endParaRPr lang="pt-BR" sz="2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Freeform 26"/>
          <p:cNvSpPr/>
          <p:nvPr/>
        </p:nvSpPr>
        <p:spPr>
          <a:xfrm>
            <a:off x="9115200" y="1645920"/>
            <a:ext cx="2394000" cy="1234080"/>
          </a:xfrm>
          <a:custGeom>
            <a:avLst/>
            <a:gdLst>
              <a:gd name="textAreaLeft" fmla="*/ 0 w 2394000"/>
              <a:gd name="textAreaRight" fmla="*/ 2394360 w 2394000"/>
              <a:gd name="textAreaTop" fmla="*/ 0 h 1234080"/>
              <a:gd name="textAreaBottom" fmla="*/ 1234440 h 1234080"/>
            </a:gdLst>
            <a:ahLst/>
            <a:cxnLst/>
            <a:rect l="textAreaLeft" t="textAreaTop" r="textAreaRight" b="textAreaBottom"/>
            <a:pathLst>
              <a:path w="3192628" h="1645920">
                <a:moveTo>
                  <a:pt x="0" y="0"/>
                </a:moveTo>
                <a:lnTo>
                  <a:pt x="3192628" y="0"/>
                </a:lnTo>
                <a:lnTo>
                  <a:pt x="3192628" y="1645920"/>
                </a:lnTo>
                <a:lnTo>
                  <a:pt x="0" y="1645920"/>
                </a:lnTo>
                <a:close/>
              </a:path>
            </a:pathLst>
          </a:custGeom>
          <a:blipFill rotWithShape="0">
            <a:blip r:embed="rId7">
              <a:alphaModFix amt="0"/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TextBox 27"/>
          <p:cNvSpPr/>
          <p:nvPr/>
        </p:nvSpPr>
        <p:spPr>
          <a:xfrm>
            <a:off x="9115200" y="1638720"/>
            <a:ext cx="2394000" cy="124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ts val="7200"/>
              </a:lnSpc>
            </a:pPr>
            <a:r>
              <a:rPr lang="pt-BR" sz="4800" b="1" u="none" strike="noStrike">
                <a:solidFill>
                  <a:srgbClr val="A8532E"/>
                </a:solidFill>
                <a:effectLst/>
                <a:uFillTx/>
                <a:latin typeface="Cambria Bold"/>
                <a:ea typeface="Cambria Bold"/>
              </a:rPr>
              <a:t>80%</a:t>
            </a:r>
            <a:endParaRPr lang="pt-BR" sz="4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2" name="Freeform 29"/>
          <p:cNvSpPr/>
          <p:nvPr/>
        </p:nvSpPr>
        <p:spPr>
          <a:xfrm>
            <a:off x="9115200" y="3086280"/>
            <a:ext cx="2325600" cy="3565800"/>
          </a:xfrm>
          <a:custGeom>
            <a:avLst/>
            <a:gdLst>
              <a:gd name="textAreaLeft" fmla="*/ 0 w 2325600"/>
              <a:gd name="textAreaRight" fmla="*/ 2325960 w 2325600"/>
              <a:gd name="textAreaTop" fmla="*/ 0 h 3565800"/>
              <a:gd name="textAreaBottom" fmla="*/ 3566160 h 3565800"/>
            </a:gdLst>
            <a:ahLst/>
            <a:cxnLst/>
            <a:rect l="textAreaLeft" t="textAreaTop" r="textAreaRight" b="textAreaBottom"/>
            <a:pathLst>
              <a:path w="3101188" h="4754880">
                <a:moveTo>
                  <a:pt x="0" y="0"/>
                </a:moveTo>
                <a:lnTo>
                  <a:pt x="3101188" y="0"/>
                </a:lnTo>
                <a:lnTo>
                  <a:pt x="3101188" y="4754880"/>
                </a:lnTo>
                <a:lnTo>
                  <a:pt x="0" y="4754880"/>
                </a:lnTo>
                <a:close/>
              </a:path>
            </a:pathLst>
          </a:custGeom>
          <a:blipFill rotWithShape="0">
            <a:blip r:embed="rId8">
              <a:alphaModFix amt="0"/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3" name="TextBox 30"/>
          <p:cNvSpPr/>
          <p:nvPr/>
        </p:nvSpPr>
        <p:spPr>
          <a:xfrm>
            <a:off x="9115200" y="3021840"/>
            <a:ext cx="2325600" cy="363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ts val="2917"/>
              </a:lnSpc>
            </a:pPr>
            <a:r>
              <a:rPr lang="pt-BR" sz="2320" b="0" u="none" strike="noStrike">
                <a:solidFill>
                  <a:srgbClr val="20261F"/>
                </a:solidFill>
                <a:effectLst/>
                <a:uFillTx/>
                <a:latin typeface="Calibri (MS)"/>
                <a:ea typeface="Calibri (MS)"/>
              </a:rPr>
              <a:t>adoção no Centro-Oeste</a:t>
            </a:r>
            <a:endParaRPr lang="pt-BR" sz="2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4" name="AutoShape 31"/>
          <p:cNvSpPr/>
          <p:nvPr/>
        </p:nvSpPr>
        <p:spPr>
          <a:xfrm>
            <a:off x="8939520" y="1633680"/>
            <a:ext cx="14400" cy="7009560"/>
          </a:xfrm>
          <a:prstGeom prst="line">
            <a:avLst/>
          </a:prstGeom>
          <a:ln w="9525">
            <a:solidFill>
              <a:srgbClr val="DDD7C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5" name="Freeform 33"/>
          <p:cNvSpPr/>
          <p:nvPr/>
        </p:nvSpPr>
        <p:spPr>
          <a:xfrm>
            <a:off x="11921400" y="1645920"/>
            <a:ext cx="2394000" cy="1234080"/>
          </a:xfrm>
          <a:custGeom>
            <a:avLst/>
            <a:gdLst>
              <a:gd name="textAreaLeft" fmla="*/ 0 w 2394000"/>
              <a:gd name="textAreaRight" fmla="*/ 2394360 w 2394000"/>
              <a:gd name="textAreaTop" fmla="*/ 0 h 1234080"/>
              <a:gd name="textAreaBottom" fmla="*/ 1234440 h 1234080"/>
            </a:gdLst>
            <a:ahLst/>
            <a:cxnLst/>
            <a:rect l="textAreaLeft" t="textAreaTop" r="textAreaRight" b="textAreaBottom"/>
            <a:pathLst>
              <a:path w="3192628" h="1645920">
                <a:moveTo>
                  <a:pt x="0" y="0"/>
                </a:moveTo>
                <a:lnTo>
                  <a:pt x="3192628" y="0"/>
                </a:lnTo>
                <a:lnTo>
                  <a:pt x="3192628" y="1645920"/>
                </a:lnTo>
                <a:lnTo>
                  <a:pt x="0" y="1645920"/>
                </a:lnTo>
                <a:close/>
              </a:path>
            </a:pathLst>
          </a:custGeom>
          <a:blipFill rotWithShape="0">
            <a:blip r:embed="rId9">
              <a:alphaModFix amt="0"/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6" name="TextBox 34"/>
          <p:cNvSpPr/>
          <p:nvPr/>
        </p:nvSpPr>
        <p:spPr>
          <a:xfrm>
            <a:off x="11921400" y="1638720"/>
            <a:ext cx="2394000" cy="124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ts val="7200"/>
              </a:lnSpc>
            </a:pPr>
            <a:r>
              <a:rPr lang="pt-BR" sz="4800" b="1" u="none" strike="noStrike">
                <a:solidFill>
                  <a:srgbClr val="A8532E"/>
                </a:solidFill>
                <a:effectLst/>
                <a:uFillTx/>
                <a:latin typeface="Cambria Bold"/>
                <a:ea typeface="Cambria Bold"/>
              </a:rPr>
              <a:t>41%</a:t>
            </a:r>
            <a:endParaRPr lang="pt-BR" sz="4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Freeform 36"/>
          <p:cNvSpPr/>
          <p:nvPr/>
        </p:nvSpPr>
        <p:spPr>
          <a:xfrm>
            <a:off x="11921400" y="3086280"/>
            <a:ext cx="2325600" cy="3565800"/>
          </a:xfrm>
          <a:custGeom>
            <a:avLst/>
            <a:gdLst>
              <a:gd name="textAreaLeft" fmla="*/ 0 w 2325600"/>
              <a:gd name="textAreaRight" fmla="*/ 2325960 w 2325600"/>
              <a:gd name="textAreaTop" fmla="*/ 0 h 3565800"/>
              <a:gd name="textAreaBottom" fmla="*/ 3566160 h 3565800"/>
            </a:gdLst>
            <a:ahLst/>
            <a:cxnLst/>
            <a:rect l="textAreaLeft" t="textAreaTop" r="textAreaRight" b="textAreaBottom"/>
            <a:pathLst>
              <a:path w="3101188" h="4754880">
                <a:moveTo>
                  <a:pt x="0" y="0"/>
                </a:moveTo>
                <a:lnTo>
                  <a:pt x="3101188" y="0"/>
                </a:lnTo>
                <a:lnTo>
                  <a:pt x="3101188" y="4754880"/>
                </a:lnTo>
                <a:lnTo>
                  <a:pt x="0" y="4754880"/>
                </a:lnTo>
                <a:close/>
              </a:path>
            </a:pathLst>
          </a:custGeom>
          <a:blipFill rotWithShape="0">
            <a:blip r:embed="rId10">
              <a:alphaModFix amt="0"/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TextBox 37"/>
          <p:cNvSpPr/>
          <p:nvPr/>
        </p:nvSpPr>
        <p:spPr>
          <a:xfrm>
            <a:off x="11921400" y="3021840"/>
            <a:ext cx="2325600" cy="363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ts val="2917"/>
              </a:lnSpc>
            </a:pPr>
            <a:r>
              <a:rPr lang="pt-BR" sz="2320" b="0" u="none" strike="noStrike">
                <a:solidFill>
                  <a:srgbClr val="20261F"/>
                </a:solidFill>
                <a:effectLst/>
                <a:uFillTx/>
                <a:latin typeface="Calibri (MS)"/>
                <a:ea typeface="Calibri (MS)"/>
              </a:rPr>
              <a:t>adoção no Nordeste</a:t>
            </a:r>
            <a:endParaRPr lang="pt-BR" sz="2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9" name="AutoShape 38"/>
          <p:cNvSpPr/>
          <p:nvPr/>
        </p:nvSpPr>
        <p:spPr>
          <a:xfrm>
            <a:off x="11745720" y="1633680"/>
            <a:ext cx="14040" cy="7009560"/>
          </a:xfrm>
          <a:prstGeom prst="line">
            <a:avLst/>
          </a:prstGeom>
          <a:ln w="9525">
            <a:solidFill>
              <a:srgbClr val="DDD7C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Freeform 40"/>
          <p:cNvSpPr/>
          <p:nvPr/>
        </p:nvSpPr>
        <p:spPr>
          <a:xfrm>
            <a:off x="14727240" y="1645920"/>
            <a:ext cx="2394000" cy="1234080"/>
          </a:xfrm>
          <a:custGeom>
            <a:avLst/>
            <a:gdLst>
              <a:gd name="textAreaLeft" fmla="*/ 0 w 2394000"/>
              <a:gd name="textAreaRight" fmla="*/ 2394360 w 2394000"/>
              <a:gd name="textAreaTop" fmla="*/ 0 h 1234080"/>
              <a:gd name="textAreaBottom" fmla="*/ 1234440 h 1234080"/>
            </a:gdLst>
            <a:ahLst/>
            <a:cxnLst/>
            <a:rect l="textAreaLeft" t="textAreaTop" r="textAreaRight" b="textAreaBottom"/>
            <a:pathLst>
              <a:path w="3192628" h="1645920">
                <a:moveTo>
                  <a:pt x="0" y="0"/>
                </a:moveTo>
                <a:lnTo>
                  <a:pt x="3192628" y="0"/>
                </a:lnTo>
                <a:lnTo>
                  <a:pt x="3192628" y="1645920"/>
                </a:lnTo>
                <a:lnTo>
                  <a:pt x="0" y="1645920"/>
                </a:lnTo>
                <a:close/>
              </a:path>
            </a:pathLst>
          </a:custGeom>
          <a:blipFill rotWithShape="0">
            <a:blip r:embed="rId11">
              <a:alphaModFix amt="0"/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1" name="TextBox 41"/>
          <p:cNvSpPr/>
          <p:nvPr/>
        </p:nvSpPr>
        <p:spPr>
          <a:xfrm>
            <a:off x="14727240" y="1638720"/>
            <a:ext cx="2394000" cy="124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ts val="7200"/>
              </a:lnSpc>
            </a:pPr>
            <a:r>
              <a:rPr lang="pt-BR" sz="4800" b="1" u="none" strike="noStrike">
                <a:solidFill>
                  <a:srgbClr val="A8532E"/>
                </a:solidFill>
                <a:effectLst/>
                <a:uFillTx/>
                <a:latin typeface="Cambria Bold"/>
                <a:ea typeface="Cambria Bold"/>
              </a:rPr>
              <a:t>59%</a:t>
            </a:r>
            <a:endParaRPr lang="pt-BR" sz="4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2" name="Freeform 43"/>
          <p:cNvSpPr/>
          <p:nvPr/>
        </p:nvSpPr>
        <p:spPr>
          <a:xfrm>
            <a:off x="14727240" y="3086280"/>
            <a:ext cx="2325600" cy="3565800"/>
          </a:xfrm>
          <a:custGeom>
            <a:avLst/>
            <a:gdLst>
              <a:gd name="textAreaLeft" fmla="*/ 0 w 2325600"/>
              <a:gd name="textAreaRight" fmla="*/ 2325960 w 2325600"/>
              <a:gd name="textAreaTop" fmla="*/ 0 h 3565800"/>
              <a:gd name="textAreaBottom" fmla="*/ 3566160 h 3565800"/>
            </a:gdLst>
            <a:ahLst/>
            <a:cxnLst/>
            <a:rect l="textAreaLeft" t="textAreaTop" r="textAreaRight" b="textAreaBottom"/>
            <a:pathLst>
              <a:path w="3101188" h="4754880">
                <a:moveTo>
                  <a:pt x="0" y="0"/>
                </a:moveTo>
                <a:lnTo>
                  <a:pt x="3101188" y="0"/>
                </a:lnTo>
                <a:lnTo>
                  <a:pt x="3101188" y="4754880"/>
                </a:lnTo>
                <a:lnTo>
                  <a:pt x="0" y="4754880"/>
                </a:lnTo>
                <a:close/>
              </a:path>
            </a:pathLst>
          </a:custGeom>
          <a:blipFill rotWithShape="0">
            <a:blip r:embed="rId12">
              <a:alphaModFix amt="0"/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3" name="TextBox 44"/>
          <p:cNvSpPr/>
          <p:nvPr/>
        </p:nvSpPr>
        <p:spPr>
          <a:xfrm>
            <a:off x="14727240" y="3021840"/>
            <a:ext cx="2325600" cy="363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ts val="2917"/>
              </a:lnSpc>
            </a:pPr>
            <a:r>
              <a:rPr lang="pt-BR" sz="2320" b="0" u="none" strike="noStrike">
                <a:solidFill>
                  <a:srgbClr val="20261F"/>
                </a:solidFill>
                <a:effectLst/>
                <a:uFillTx/>
                <a:latin typeface="Calibri (MS)"/>
                <a:ea typeface="Calibri (MS)"/>
              </a:rPr>
              <a:t>espaço ainda não digitalizado no Nordeste</a:t>
            </a:r>
            <a:endParaRPr lang="pt-BR" sz="2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4" name="AutoShape 45"/>
          <p:cNvSpPr/>
          <p:nvPr/>
        </p:nvSpPr>
        <p:spPr>
          <a:xfrm>
            <a:off x="14551560" y="1633680"/>
            <a:ext cx="14400" cy="7009560"/>
          </a:xfrm>
          <a:prstGeom prst="line">
            <a:avLst/>
          </a:prstGeom>
          <a:ln w="9525">
            <a:solidFill>
              <a:srgbClr val="DDD7C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Freeform 3"/>
          <p:cNvSpPr/>
          <p:nvPr/>
        </p:nvSpPr>
        <p:spPr>
          <a:xfrm>
            <a:off x="5555160" y="0"/>
            <a:ext cx="12732120" cy="10286640"/>
          </a:xfrm>
          <a:custGeom>
            <a:avLst/>
            <a:gdLst>
              <a:gd name="textAreaLeft" fmla="*/ 0 w 12732120"/>
              <a:gd name="textAreaRight" fmla="*/ 12732480 w 12732120"/>
              <a:gd name="textAreaTop" fmla="*/ 0 h 10286640"/>
              <a:gd name="textAreaBottom" fmla="*/ 10287000 h 10286640"/>
            </a:gdLst>
            <a:ahLst/>
            <a:cxnLst/>
            <a:rect l="textAreaLeft" t="textAreaTop" r="textAreaRight" b="textAreaBottom"/>
            <a:pathLst>
              <a:path w="16976725" h="13716000">
                <a:moveTo>
                  <a:pt x="0" y="0"/>
                </a:moveTo>
                <a:lnTo>
                  <a:pt x="16976725" y="0"/>
                </a:lnTo>
                <a:lnTo>
                  <a:pt x="16976725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FBF9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Freeform 5"/>
          <p:cNvSpPr/>
          <p:nvPr/>
        </p:nvSpPr>
        <p:spPr>
          <a:xfrm>
            <a:off x="0" y="0"/>
            <a:ext cx="5554800" cy="10286640"/>
          </a:xfrm>
          <a:custGeom>
            <a:avLst/>
            <a:gdLst>
              <a:gd name="textAreaLeft" fmla="*/ 0 w 5554800"/>
              <a:gd name="textAreaRight" fmla="*/ 5555160 w 5554800"/>
              <a:gd name="textAreaTop" fmla="*/ 0 h 10286640"/>
              <a:gd name="textAreaBottom" fmla="*/ 10287000 h 10286640"/>
            </a:gdLst>
            <a:ahLst/>
            <a:cxnLst/>
            <a:rect l="textAreaLeft" t="textAreaTop" r="textAreaRight" b="textAreaBottom"/>
            <a:pathLst>
              <a:path w="7406640" h="13716000">
                <a:moveTo>
                  <a:pt x="0" y="0"/>
                </a:moveTo>
                <a:lnTo>
                  <a:pt x="7406640" y="0"/>
                </a:lnTo>
                <a:lnTo>
                  <a:pt x="740664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1630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7" name="Freeform 7"/>
          <p:cNvSpPr/>
          <p:nvPr/>
        </p:nvSpPr>
        <p:spPr>
          <a:xfrm>
            <a:off x="-754560" y="5074920"/>
            <a:ext cx="7269120" cy="5623200"/>
          </a:xfrm>
          <a:custGeom>
            <a:avLst/>
            <a:gdLst>
              <a:gd name="textAreaLeft" fmla="*/ 0 w 7269120"/>
              <a:gd name="textAreaRight" fmla="*/ 7269480 w 7269120"/>
              <a:gd name="textAreaTop" fmla="*/ 0 h 5623200"/>
              <a:gd name="textAreaBottom" fmla="*/ 5623560 h 5623200"/>
            </a:gdLst>
            <a:ahLst/>
            <a:cxnLst/>
            <a:rect l="textAreaLeft" t="textAreaTop" r="textAreaRight" b="textAreaBottom"/>
            <a:pathLst>
              <a:path w="9692640" h="7498080">
                <a:moveTo>
                  <a:pt x="0" y="0"/>
                </a:moveTo>
                <a:lnTo>
                  <a:pt x="9692640" y="0"/>
                </a:lnTo>
                <a:lnTo>
                  <a:pt x="9692640" y="7498080"/>
                </a:lnTo>
                <a:lnTo>
                  <a:pt x="0" y="7498080"/>
                </a:lnTo>
                <a:close/>
              </a:path>
            </a:pathLst>
          </a:custGeom>
          <a:blipFill rotWithShape="0">
            <a:blip r:embed="rId1">
              <a:alphaModFix amt="0"/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8" name="TextBox 8"/>
          <p:cNvSpPr/>
          <p:nvPr/>
        </p:nvSpPr>
        <p:spPr>
          <a:xfrm>
            <a:off x="-754560" y="5067720"/>
            <a:ext cx="7269120" cy="563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b">
            <a:noAutofit/>
          </a:bodyPr>
          <a:p>
            <a:pPr>
              <a:lnSpc>
                <a:spcPts val="45000"/>
              </a:lnSpc>
            </a:pPr>
            <a:r>
              <a:rPr lang="pt-BR" sz="37500" b="1" u="none" strike="noStrike">
                <a:solidFill>
                  <a:srgbClr val="224539"/>
                </a:solidFill>
                <a:effectLst/>
                <a:uFillTx/>
                <a:latin typeface="Cambria Bold"/>
                <a:ea typeface="Cambria Bold"/>
              </a:rPr>
              <a:t>09</a:t>
            </a:r>
            <a:endParaRPr lang="pt-BR" sz="37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9" name="Freeform 10"/>
          <p:cNvSpPr/>
          <p:nvPr/>
        </p:nvSpPr>
        <p:spPr>
          <a:xfrm>
            <a:off x="754560" y="891720"/>
            <a:ext cx="4388760" cy="548280"/>
          </a:xfrm>
          <a:custGeom>
            <a:avLst/>
            <a:gdLst>
              <a:gd name="textAreaLeft" fmla="*/ 0 w 4388760"/>
              <a:gd name="textAreaRight" fmla="*/ 4389120 w 4388760"/>
              <a:gd name="textAreaTop" fmla="*/ 0 h 548280"/>
              <a:gd name="textAreaBottom" fmla="*/ 548640 h 548280"/>
            </a:gdLst>
            <a:ahLst/>
            <a:cxnLst/>
            <a:rect l="textAreaLeft" t="textAreaTop" r="textAreaRight" b="textAreaBottom"/>
            <a:pathLst>
              <a:path w="5852160" h="731520">
                <a:moveTo>
                  <a:pt x="0" y="0"/>
                </a:moveTo>
                <a:lnTo>
                  <a:pt x="5852160" y="0"/>
                </a:lnTo>
                <a:lnTo>
                  <a:pt x="5852160" y="731520"/>
                </a:lnTo>
                <a:lnTo>
                  <a:pt x="0" y="731520"/>
                </a:lnTo>
                <a:close/>
              </a:path>
            </a:pathLst>
          </a:custGeom>
          <a:blipFill rotWithShape="0">
            <a:blip r:embed="rId2">
              <a:alphaModFix amt="0"/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0" name="TextBox 11"/>
          <p:cNvSpPr/>
          <p:nvPr/>
        </p:nvSpPr>
        <p:spPr>
          <a:xfrm>
            <a:off x="754560" y="862920"/>
            <a:ext cx="4388760" cy="57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ts val="2160"/>
              </a:lnSpc>
            </a:pPr>
            <a:r>
              <a:rPr lang="pt-BR" sz="1800" b="1" u="none" strike="noStrike">
                <a:solidFill>
                  <a:srgbClr val="A8532E"/>
                </a:solidFill>
                <a:effectLst/>
                <a:uFillTx/>
                <a:latin typeface="Calibri (MS) Bold"/>
                <a:ea typeface="Calibri (MS) Bold"/>
              </a:rPr>
              <a:t>PLANOS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1" name="TextBox 12"/>
          <p:cNvSpPr/>
          <p:nvPr/>
        </p:nvSpPr>
        <p:spPr>
          <a:xfrm>
            <a:off x="754560" y="1510560"/>
            <a:ext cx="4388760" cy="459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ts val="4635"/>
              </a:lnSpc>
            </a:pPr>
            <a:r>
              <a:rPr lang="pt-BR" sz="3450" b="1" u="none" strike="noStrike">
                <a:solidFill>
                  <a:srgbClr val="FFFFFF"/>
                </a:solidFill>
                <a:effectLst/>
                <a:uFillTx/>
                <a:latin typeface="Cambria Bold"/>
                <a:ea typeface="Cambria Bold"/>
              </a:rPr>
              <a:t>Começa simples, cresce junto com o produtor</a:t>
            </a:r>
            <a:endParaRPr lang="pt-BR" sz="3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2" name="Freeform 14"/>
          <p:cNvSpPr/>
          <p:nvPr/>
        </p:nvSpPr>
        <p:spPr>
          <a:xfrm>
            <a:off x="754560" y="9642240"/>
            <a:ext cx="3565800" cy="411120"/>
          </a:xfrm>
          <a:custGeom>
            <a:avLst/>
            <a:gdLst>
              <a:gd name="textAreaLeft" fmla="*/ 0 w 3565800"/>
              <a:gd name="textAreaRight" fmla="*/ 3566160 w 3565800"/>
              <a:gd name="textAreaTop" fmla="*/ 0 h 411120"/>
              <a:gd name="textAreaBottom" fmla="*/ 411480 h 411120"/>
            </a:gdLst>
            <a:ahLst/>
            <a:cxnLst/>
            <a:rect l="textAreaLeft" t="textAreaTop" r="textAreaRight" b="textAreaBottom"/>
            <a:pathLst>
              <a:path w="4754880" h="548640">
                <a:moveTo>
                  <a:pt x="0" y="0"/>
                </a:moveTo>
                <a:lnTo>
                  <a:pt x="4754880" y="0"/>
                </a:lnTo>
                <a:lnTo>
                  <a:pt x="4754880" y="548640"/>
                </a:lnTo>
                <a:lnTo>
                  <a:pt x="0" y="548640"/>
                </a:lnTo>
                <a:close/>
              </a:path>
            </a:pathLst>
          </a:custGeom>
          <a:blipFill rotWithShape="0">
            <a:blip r:embed="rId3">
              <a:alphaModFix amt="0"/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3" name="TextBox 15"/>
          <p:cNvSpPr/>
          <p:nvPr/>
        </p:nvSpPr>
        <p:spPr>
          <a:xfrm>
            <a:off x="754560" y="9621000"/>
            <a:ext cx="3565800" cy="43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ts val="1621"/>
              </a:lnSpc>
            </a:pPr>
            <a:r>
              <a:rPr lang="pt-BR" sz="1350" b="1" u="none" strike="noStrike">
                <a:solidFill>
                  <a:srgbClr val="9BAE97"/>
                </a:solidFill>
                <a:effectLst/>
                <a:uFillTx/>
                <a:latin typeface="Calibri (MS) Bold"/>
                <a:ea typeface="Calibri (MS) Bold"/>
              </a:rPr>
              <a:t>AGROGESTÃO PRO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4" name="Freeform 17"/>
          <p:cNvSpPr/>
          <p:nvPr/>
        </p:nvSpPr>
        <p:spPr>
          <a:xfrm>
            <a:off x="4389120" y="9601200"/>
            <a:ext cx="822600" cy="479880"/>
          </a:xfrm>
          <a:custGeom>
            <a:avLst/>
            <a:gdLst>
              <a:gd name="textAreaLeft" fmla="*/ 0 w 822600"/>
              <a:gd name="textAreaRight" fmla="*/ 822960 w 822600"/>
              <a:gd name="textAreaTop" fmla="*/ 0 h 479880"/>
              <a:gd name="textAreaBottom" fmla="*/ 480240 h 479880"/>
            </a:gdLst>
            <a:ahLst/>
            <a:cxnLst/>
            <a:rect l="textAreaLeft" t="textAreaTop" r="textAreaRight" b="textAreaBottom"/>
            <a:pathLst>
              <a:path w="1097280" h="640080">
                <a:moveTo>
                  <a:pt x="0" y="0"/>
                </a:moveTo>
                <a:lnTo>
                  <a:pt x="1097280" y="0"/>
                </a:lnTo>
                <a:lnTo>
                  <a:pt x="1097280" y="640080"/>
                </a:lnTo>
                <a:lnTo>
                  <a:pt x="0" y="640080"/>
                </a:lnTo>
                <a:close/>
              </a:path>
            </a:pathLst>
          </a:custGeom>
          <a:blipFill rotWithShape="0">
            <a:blip r:embed="rId4">
              <a:alphaModFix amt="0"/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5" name="TextBox 18"/>
          <p:cNvSpPr/>
          <p:nvPr/>
        </p:nvSpPr>
        <p:spPr>
          <a:xfrm>
            <a:off x="4389120" y="9579600"/>
            <a:ext cx="82260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>
              <a:lnSpc>
                <a:spcPts val="1981"/>
              </a:lnSpc>
            </a:pPr>
            <a:r>
              <a:rPr lang="pt-BR" sz="1650" b="0" u="none" strike="noStrike">
                <a:solidFill>
                  <a:srgbClr val="9BAE97"/>
                </a:solidFill>
                <a:effectLst/>
                <a:uFillTx/>
                <a:latin typeface="Calibri (MS)"/>
                <a:ea typeface="Calibri (MS)"/>
              </a:rPr>
              <a:t>09</a:t>
            </a:r>
            <a:endParaRPr lang="pt-BR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6" name="Freeform 20"/>
          <p:cNvSpPr/>
          <p:nvPr/>
        </p:nvSpPr>
        <p:spPr>
          <a:xfrm>
            <a:off x="11852640" y="1166040"/>
            <a:ext cx="5954400" cy="8435160"/>
          </a:xfrm>
          <a:custGeom>
            <a:avLst/>
            <a:gdLst>
              <a:gd name="textAreaLeft" fmla="*/ 0 w 5954400"/>
              <a:gd name="textAreaRight" fmla="*/ 5954760 w 5954400"/>
              <a:gd name="textAreaTop" fmla="*/ 0 h 8435160"/>
              <a:gd name="textAreaBottom" fmla="*/ 8435520 h 8435160"/>
            </a:gdLst>
            <a:ahLst/>
            <a:cxnLst/>
            <a:rect l="textAreaLeft" t="textAreaTop" r="textAreaRight" b="textAreaBottom"/>
            <a:pathLst>
              <a:path w="7939786" h="11247120">
                <a:moveTo>
                  <a:pt x="0" y="0"/>
                </a:moveTo>
                <a:lnTo>
                  <a:pt x="7939786" y="0"/>
                </a:lnTo>
                <a:lnTo>
                  <a:pt x="7939786" y="11247120"/>
                </a:lnTo>
                <a:lnTo>
                  <a:pt x="0" y="11247120"/>
                </a:lnTo>
                <a:close/>
              </a:path>
            </a:pathLst>
          </a:custGeom>
          <a:solidFill>
            <a:srgbClr val="F4E6D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7" name="AutoShape 21"/>
          <p:cNvSpPr/>
          <p:nvPr/>
        </p:nvSpPr>
        <p:spPr>
          <a:xfrm>
            <a:off x="11708280" y="1359360"/>
            <a:ext cx="14040" cy="8038440"/>
          </a:xfrm>
          <a:prstGeom prst="line">
            <a:avLst/>
          </a:prstGeom>
          <a:ln w="9525">
            <a:solidFill>
              <a:srgbClr val="DDD7C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8" name="Freeform 23"/>
          <p:cNvSpPr/>
          <p:nvPr/>
        </p:nvSpPr>
        <p:spPr>
          <a:xfrm>
            <a:off x="6309360" y="1371600"/>
            <a:ext cx="4857120" cy="754200"/>
          </a:xfrm>
          <a:custGeom>
            <a:avLst/>
            <a:gdLst>
              <a:gd name="textAreaLeft" fmla="*/ 0 w 4857120"/>
              <a:gd name="textAreaRight" fmla="*/ 4857480 w 4857120"/>
              <a:gd name="textAreaTop" fmla="*/ 0 h 754200"/>
              <a:gd name="textAreaBottom" fmla="*/ 754560 h 754200"/>
            </a:gdLst>
            <a:ahLst/>
            <a:cxnLst/>
            <a:rect l="textAreaLeft" t="textAreaTop" r="textAreaRight" b="textAreaBottom"/>
            <a:pathLst>
              <a:path w="6476696" h="1005840">
                <a:moveTo>
                  <a:pt x="0" y="0"/>
                </a:moveTo>
                <a:lnTo>
                  <a:pt x="6476696" y="0"/>
                </a:lnTo>
                <a:lnTo>
                  <a:pt x="6476696" y="1005840"/>
                </a:lnTo>
                <a:lnTo>
                  <a:pt x="0" y="1005840"/>
                </a:lnTo>
                <a:close/>
              </a:path>
            </a:pathLst>
          </a:custGeom>
          <a:blipFill rotWithShape="0">
            <a:blip r:embed="rId5">
              <a:alphaModFix amt="0"/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9" name="TextBox 24"/>
          <p:cNvSpPr/>
          <p:nvPr/>
        </p:nvSpPr>
        <p:spPr>
          <a:xfrm>
            <a:off x="6309360" y="1357200"/>
            <a:ext cx="4857120" cy="76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ts val="4320"/>
              </a:lnSpc>
            </a:pPr>
            <a:r>
              <a:rPr lang="pt-BR" sz="3080" b="1" u="none" strike="noStrike">
                <a:solidFill>
                  <a:srgbClr val="16302A"/>
                </a:solidFill>
                <a:effectLst/>
                <a:uFillTx/>
                <a:latin typeface="Cambria Bold"/>
                <a:ea typeface="Cambria Bold"/>
              </a:rPr>
              <a:t>Essencial</a:t>
            </a:r>
            <a:endParaRPr lang="pt-BR" sz="3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0" name="Freeform 26"/>
          <p:cNvSpPr/>
          <p:nvPr/>
        </p:nvSpPr>
        <p:spPr>
          <a:xfrm>
            <a:off x="6309360" y="2400480"/>
            <a:ext cx="479880" cy="861840"/>
          </a:xfrm>
          <a:custGeom>
            <a:avLst/>
            <a:gdLst>
              <a:gd name="textAreaLeft" fmla="*/ 0 w 479880"/>
              <a:gd name="textAreaRight" fmla="*/ 480240 w 479880"/>
              <a:gd name="textAreaTop" fmla="*/ 0 h 861840"/>
              <a:gd name="textAreaBottom" fmla="*/ 862200 h 861840"/>
            </a:gdLst>
            <a:ahLst/>
            <a:cxnLst/>
            <a:rect l="textAreaLeft" t="textAreaTop" r="textAreaRight" b="textAreaBottom"/>
            <a:pathLst>
              <a:path w="640080" h="1149532">
                <a:moveTo>
                  <a:pt x="0" y="0"/>
                </a:moveTo>
                <a:lnTo>
                  <a:pt x="640080" y="0"/>
                </a:lnTo>
                <a:lnTo>
                  <a:pt x="640080" y="1149532"/>
                </a:lnTo>
                <a:lnTo>
                  <a:pt x="0" y="1149532"/>
                </a:lnTo>
                <a:close/>
              </a:path>
            </a:pathLst>
          </a:custGeom>
          <a:blipFill rotWithShape="0">
            <a:blip r:embed="rId6">
              <a:alphaModFix amt="0"/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1" name="TextBox 27"/>
          <p:cNvSpPr/>
          <p:nvPr/>
        </p:nvSpPr>
        <p:spPr>
          <a:xfrm>
            <a:off x="6309360" y="2371680"/>
            <a:ext cx="479880" cy="89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ts val="2251"/>
              </a:lnSpc>
            </a:pPr>
            <a:r>
              <a:rPr lang="pt-BR" sz="1870" b="1" u="none" strike="noStrike">
                <a:solidFill>
                  <a:srgbClr val="A8532E"/>
                </a:solidFill>
                <a:effectLst/>
                <a:uFillTx/>
                <a:latin typeface="Calibri (MS) Bold"/>
                <a:ea typeface="Calibri (MS) Bold"/>
              </a:rPr>
              <a:t>✓</a:t>
            </a:r>
            <a:endParaRPr lang="pt-BR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2" name="Freeform 29"/>
          <p:cNvSpPr/>
          <p:nvPr/>
        </p:nvSpPr>
        <p:spPr>
          <a:xfrm>
            <a:off x="6858000" y="2400480"/>
            <a:ext cx="4582800" cy="861840"/>
          </a:xfrm>
          <a:custGeom>
            <a:avLst/>
            <a:gdLst>
              <a:gd name="textAreaLeft" fmla="*/ 0 w 4582800"/>
              <a:gd name="textAreaRight" fmla="*/ 4583160 w 4582800"/>
              <a:gd name="textAreaTop" fmla="*/ 0 h 861840"/>
              <a:gd name="textAreaBottom" fmla="*/ 862200 h 861840"/>
            </a:gdLst>
            <a:ahLst/>
            <a:cxnLst/>
            <a:rect l="textAreaLeft" t="textAreaTop" r="textAreaRight" b="textAreaBottom"/>
            <a:pathLst>
              <a:path w="6110936" h="1149532">
                <a:moveTo>
                  <a:pt x="0" y="0"/>
                </a:moveTo>
                <a:lnTo>
                  <a:pt x="6110936" y="0"/>
                </a:lnTo>
                <a:lnTo>
                  <a:pt x="6110936" y="1149532"/>
                </a:lnTo>
                <a:lnTo>
                  <a:pt x="0" y="1149532"/>
                </a:lnTo>
                <a:close/>
              </a:path>
            </a:pathLst>
          </a:custGeom>
          <a:blipFill rotWithShape="0">
            <a:blip r:embed="rId7">
              <a:alphaModFix amt="0"/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3" name="TextBox 30"/>
          <p:cNvSpPr/>
          <p:nvPr/>
        </p:nvSpPr>
        <p:spPr>
          <a:xfrm>
            <a:off x="6858000" y="2364480"/>
            <a:ext cx="4582800" cy="89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ts val="2341"/>
              </a:lnSpc>
            </a:pPr>
            <a:r>
              <a:rPr lang="pt-BR" sz="2020" b="0" u="none" strike="noStrike">
                <a:solidFill>
                  <a:srgbClr val="20261F"/>
                </a:solidFill>
                <a:effectLst/>
                <a:uFillTx/>
                <a:latin typeface="Calibri (MS)"/>
                <a:ea typeface="Calibri (MS)"/>
              </a:rPr>
              <a:t>Registro do dia</a:t>
            </a:r>
            <a:endParaRPr lang="pt-BR" sz="2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4" name="AutoShape 31"/>
          <p:cNvSpPr/>
          <p:nvPr/>
        </p:nvSpPr>
        <p:spPr>
          <a:xfrm>
            <a:off x="6302160" y="3305160"/>
            <a:ext cx="4871520" cy="14400"/>
          </a:xfrm>
          <a:prstGeom prst="line">
            <a:avLst/>
          </a:prstGeom>
          <a:ln w="9525">
            <a:solidFill>
              <a:srgbClr val="DDD7C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0600" rIns="90000" bIns="-30600" anchor="t" anchorCtr="1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5" name="Freeform 33"/>
          <p:cNvSpPr/>
          <p:nvPr/>
        </p:nvSpPr>
        <p:spPr>
          <a:xfrm>
            <a:off x="6309360" y="3399480"/>
            <a:ext cx="479880" cy="861840"/>
          </a:xfrm>
          <a:custGeom>
            <a:avLst/>
            <a:gdLst>
              <a:gd name="textAreaLeft" fmla="*/ 0 w 479880"/>
              <a:gd name="textAreaRight" fmla="*/ 480240 w 479880"/>
              <a:gd name="textAreaTop" fmla="*/ 0 h 861840"/>
              <a:gd name="textAreaBottom" fmla="*/ 862200 h 861840"/>
            </a:gdLst>
            <a:ahLst/>
            <a:cxnLst/>
            <a:rect l="textAreaLeft" t="textAreaTop" r="textAreaRight" b="textAreaBottom"/>
            <a:pathLst>
              <a:path w="640080" h="1149532">
                <a:moveTo>
                  <a:pt x="0" y="0"/>
                </a:moveTo>
                <a:lnTo>
                  <a:pt x="640080" y="0"/>
                </a:lnTo>
                <a:lnTo>
                  <a:pt x="640080" y="1149532"/>
                </a:lnTo>
                <a:lnTo>
                  <a:pt x="0" y="1149532"/>
                </a:lnTo>
                <a:close/>
              </a:path>
            </a:pathLst>
          </a:custGeom>
          <a:blipFill rotWithShape="0">
            <a:blip r:embed="rId8">
              <a:alphaModFix amt="0"/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6" name="TextBox 34"/>
          <p:cNvSpPr/>
          <p:nvPr/>
        </p:nvSpPr>
        <p:spPr>
          <a:xfrm>
            <a:off x="6309360" y="3371040"/>
            <a:ext cx="479880" cy="89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ts val="2251"/>
              </a:lnSpc>
            </a:pPr>
            <a:r>
              <a:rPr lang="pt-BR" sz="1870" b="1" u="none" strike="noStrike">
                <a:solidFill>
                  <a:srgbClr val="A8532E"/>
                </a:solidFill>
                <a:effectLst/>
                <a:uFillTx/>
                <a:latin typeface="Calibri (MS) Bold"/>
                <a:ea typeface="Calibri (MS) Bold"/>
              </a:rPr>
              <a:t>✓</a:t>
            </a:r>
            <a:endParaRPr lang="pt-BR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7" name="Freeform 36"/>
          <p:cNvSpPr/>
          <p:nvPr/>
        </p:nvSpPr>
        <p:spPr>
          <a:xfrm>
            <a:off x="6858000" y="3399480"/>
            <a:ext cx="4582800" cy="861840"/>
          </a:xfrm>
          <a:custGeom>
            <a:avLst/>
            <a:gdLst>
              <a:gd name="textAreaLeft" fmla="*/ 0 w 4582800"/>
              <a:gd name="textAreaRight" fmla="*/ 4583160 w 4582800"/>
              <a:gd name="textAreaTop" fmla="*/ 0 h 861840"/>
              <a:gd name="textAreaBottom" fmla="*/ 862200 h 861840"/>
            </a:gdLst>
            <a:ahLst/>
            <a:cxnLst/>
            <a:rect l="textAreaLeft" t="textAreaTop" r="textAreaRight" b="textAreaBottom"/>
            <a:pathLst>
              <a:path w="6110936" h="1149532">
                <a:moveTo>
                  <a:pt x="0" y="0"/>
                </a:moveTo>
                <a:lnTo>
                  <a:pt x="6110936" y="0"/>
                </a:lnTo>
                <a:lnTo>
                  <a:pt x="6110936" y="1149532"/>
                </a:lnTo>
                <a:lnTo>
                  <a:pt x="0" y="1149532"/>
                </a:lnTo>
                <a:close/>
              </a:path>
            </a:pathLst>
          </a:custGeom>
          <a:blipFill rotWithShape="0">
            <a:blip r:embed="rId9">
              <a:alphaModFix amt="0"/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8" name="TextBox 37"/>
          <p:cNvSpPr/>
          <p:nvPr/>
        </p:nvSpPr>
        <p:spPr>
          <a:xfrm>
            <a:off x="6858000" y="3363840"/>
            <a:ext cx="4582800" cy="89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ts val="2341"/>
              </a:lnSpc>
            </a:pPr>
            <a:r>
              <a:rPr lang="pt-BR" sz="2020" b="0" u="none" strike="noStrike">
                <a:solidFill>
                  <a:srgbClr val="20261F"/>
                </a:solidFill>
                <a:effectLst/>
                <a:uFillTx/>
                <a:latin typeface="Calibri (MS)"/>
                <a:ea typeface="Calibri (MS)"/>
              </a:rPr>
              <a:t>Plantações e safras</a:t>
            </a:r>
            <a:endParaRPr lang="pt-BR" sz="2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9" name="AutoShape 38"/>
          <p:cNvSpPr/>
          <p:nvPr/>
        </p:nvSpPr>
        <p:spPr>
          <a:xfrm>
            <a:off x="6302160" y="4304520"/>
            <a:ext cx="4871520" cy="14400"/>
          </a:xfrm>
          <a:prstGeom prst="line">
            <a:avLst/>
          </a:prstGeom>
          <a:ln w="9525">
            <a:solidFill>
              <a:srgbClr val="DDD7C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0600" rIns="90000" bIns="-30600" anchor="t" anchorCtr="1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0" name="Freeform 40"/>
          <p:cNvSpPr/>
          <p:nvPr/>
        </p:nvSpPr>
        <p:spPr>
          <a:xfrm>
            <a:off x="6309360" y="4398840"/>
            <a:ext cx="479880" cy="861840"/>
          </a:xfrm>
          <a:custGeom>
            <a:avLst/>
            <a:gdLst>
              <a:gd name="textAreaLeft" fmla="*/ 0 w 479880"/>
              <a:gd name="textAreaRight" fmla="*/ 480240 w 479880"/>
              <a:gd name="textAreaTop" fmla="*/ 0 h 861840"/>
              <a:gd name="textAreaBottom" fmla="*/ 862200 h 861840"/>
            </a:gdLst>
            <a:ahLst/>
            <a:cxnLst/>
            <a:rect l="textAreaLeft" t="textAreaTop" r="textAreaRight" b="textAreaBottom"/>
            <a:pathLst>
              <a:path w="640080" h="1149532">
                <a:moveTo>
                  <a:pt x="0" y="0"/>
                </a:moveTo>
                <a:lnTo>
                  <a:pt x="640080" y="0"/>
                </a:lnTo>
                <a:lnTo>
                  <a:pt x="640080" y="1149532"/>
                </a:lnTo>
                <a:lnTo>
                  <a:pt x="0" y="1149532"/>
                </a:lnTo>
                <a:close/>
              </a:path>
            </a:pathLst>
          </a:custGeom>
          <a:blipFill rotWithShape="0">
            <a:blip r:embed="rId10">
              <a:alphaModFix amt="0"/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1" name="TextBox 41"/>
          <p:cNvSpPr/>
          <p:nvPr/>
        </p:nvSpPr>
        <p:spPr>
          <a:xfrm>
            <a:off x="6309360" y="4370400"/>
            <a:ext cx="479880" cy="89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ts val="2251"/>
              </a:lnSpc>
            </a:pPr>
            <a:r>
              <a:rPr lang="pt-BR" sz="1870" b="1" u="none" strike="noStrike">
                <a:solidFill>
                  <a:srgbClr val="A8532E"/>
                </a:solidFill>
                <a:effectLst/>
                <a:uFillTx/>
                <a:latin typeface="Calibri (MS) Bold"/>
                <a:ea typeface="Calibri (MS) Bold"/>
              </a:rPr>
              <a:t>✓</a:t>
            </a:r>
            <a:endParaRPr lang="pt-BR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2" name="Freeform 43"/>
          <p:cNvSpPr/>
          <p:nvPr/>
        </p:nvSpPr>
        <p:spPr>
          <a:xfrm>
            <a:off x="6858000" y="4398840"/>
            <a:ext cx="4582800" cy="861840"/>
          </a:xfrm>
          <a:custGeom>
            <a:avLst/>
            <a:gdLst>
              <a:gd name="textAreaLeft" fmla="*/ 0 w 4582800"/>
              <a:gd name="textAreaRight" fmla="*/ 4583160 w 4582800"/>
              <a:gd name="textAreaTop" fmla="*/ 0 h 861840"/>
              <a:gd name="textAreaBottom" fmla="*/ 862200 h 861840"/>
            </a:gdLst>
            <a:ahLst/>
            <a:cxnLst/>
            <a:rect l="textAreaLeft" t="textAreaTop" r="textAreaRight" b="textAreaBottom"/>
            <a:pathLst>
              <a:path w="6110936" h="1149532">
                <a:moveTo>
                  <a:pt x="0" y="0"/>
                </a:moveTo>
                <a:lnTo>
                  <a:pt x="6110936" y="0"/>
                </a:lnTo>
                <a:lnTo>
                  <a:pt x="6110936" y="1149532"/>
                </a:lnTo>
                <a:lnTo>
                  <a:pt x="0" y="1149532"/>
                </a:lnTo>
                <a:close/>
              </a:path>
            </a:pathLst>
          </a:custGeom>
          <a:blipFill rotWithShape="0">
            <a:blip r:embed="rId11">
              <a:alphaModFix amt="0"/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3" name="TextBox 44"/>
          <p:cNvSpPr/>
          <p:nvPr/>
        </p:nvSpPr>
        <p:spPr>
          <a:xfrm>
            <a:off x="6858000" y="4363200"/>
            <a:ext cx="4582800" cy="89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ts val="2341"/>
              </a:lnSpc>
            </a:pPr>
            <a:r>
              <a:rPr lang="pt-BR" sz="2020" b="0" u="none" strike="noStrike">
                <a:solidFill>
                  <a:srgbClr val="20261F"/>
                </a:solidFill>
                <a:effectLst/>
                <a:uFillTx/>
                <a:latin typeface="Calibri (MS)"/>
                <a:ea typeface="Calibri (MS)"/>
              </a:rPr>
              <a:t>Tarefas</a:t>
            </a:r>
            <a:endParaRPr lang="pt-BR" sz="2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4" name="AutoShape 45"/>
          <p:cNvSpPr/>
          <p:nvPr/>
        </p:nvSpPr>
        <p:spPr>
          <a:xfrm>
            <a:off x="6302160" y="5303880"/>
            <a:ext cx="4871520" cy="14400"/>
          </a:xfrm>
          <a:prstGeom prst="line">
            <a:avLst/>
          </a:prstGeom>
          <a:ln w="9525">
            <a:solidFill>
              <a:srgbClr val="DDD7C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0600" rIns="90000" bIns="-30600" anchor="t" anchorCtr="1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5" name="Freeform 47"/>
          <p:cNvSpPr/>
          <p:nvPr/>
        </p:nvSpPr>
        <p:spPr>
          <a:xfrm>
            <a:off x="6309360" y="5398200"/>
            <a:ext cx="479880" cy="861840"/>
          </a:xfrm>
          <a:custGeom>
            <a:avLst/>
            <a:gdLst>
              <a:gd name="textAreaLeft" fmla="*/ 0 w 479880"/>
              <a:gd name="textAreaRight" fmla="*/ 480240 w 479880"/>
              <a:gd name="textAreaTop" fmla="*/ 0 h 861840"/>
              <a:gd name="textAreaBottom" fmla="*/ 862200 h 861840"/>
            </a:gdLst>
            <a:ahLst/>
            <a:cxnLst/>
            <a:rect l="textAreaLeft" t="textAreaTop" r="textAreaRight" b="textAreaBottom"/>
            <a:pathLst>
              <a:path w="640080" h="1149532">
                <a:moveTo>
                  <a:pt x="0" y="0"/>
                </a:moveTo>
                <a:lnTo>
                  <a:pt x="640080" y="0"/>
                </a:lnTo>
                <a:lnTo>
                  <a:pt x="640080" y="1149532"/>
                </a:lnTo>
                <a:lnTo>
                  <a:pt x="0" y="1149532"/>
                </a:lnTo>
                <a:close/>
              </a:path>
            </a:pathLst>
          </a:custGeom>
          <a:blipFill rotWithShape="0">
            <a:blip r:embed="rId12">
              <a:alphaModFix amt="0"/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6" name="TextBox 48"/>
          <p:cNvSpPr/>
          <p:nvPr/>
        </p:nvSpPr>
        <p:spPr>
          <a:xfrm>
            <a:off x="6309360" y="5369760"/>
            <a:ext cx="479880" cy="89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ts val="2251"/>
              </a:lnSpc>
            </a:pPr>
            <a:r>
              <a:rPr lang="pt-BR" sz="1870" b="1" u="none" strike="noStrike">
                <a:solidFill>
                  <a:srgbClr val="A8532E"/>
                </a:solidFill>
                <a:effectLst/>
                <a:uFillTx/>
                <a:latin typeface="Calibri (MS) Bold"/>
                <a:ea typeface="Calibri (MS) Bold"/>
              </a:rPr>
              <a:t>✓</a:t>
            </a:r>
            <a:endParaRPr lang="pt-BR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7" name="Freeform 50"/>
          <p:cNvSpPr/>
          <p:nvPr/>
        </p:nvSpPr>
        <p:spPr>
          <a:xfrm>
            <a:off x="6858000" y="5398200"/>
            <a:ext cx="4582800" cy="861840"/>
          </a:xfrm>
          <a:custGeom>
            <a:avLst/>
            <a:gdLst>
              <a:gd name="textAreaLeft" fmla="*/ 0 w 4582800"/>
              <a:gd name="textAreaRight" fmla="*/ 4583160 w 4582800"/>
              <a:gd name="textAreaTop" fmla="*/ 0 h 861840"/>
              <a:gd name="textAreaBottom" fmla="*/ 862200 h 861840"/>
            </a:gdLst>
            <a:ahLst/>
            <a:cxnLst/>
            <a:rect l="textAreaLeft" t="textAreaTop" r="textAreaRight" b="textAreaBottom"/>
            <a:pathLst>
              <a:path w="6110936" h="1149532">
                <a:moveTo>
                  <a:pt x="0" y="0"/>
                </a:moveTo>
                <a:lnTo>
                  <a:pt x="6110936" y="0"/>
                </a:lnTo>
                <a:lnTo>
                  <a:pt x="6110936" y="1149532"/>
                </a:lnTo>
                <a:lnTo>
                  <a:pt x="0" y="1149532"/>
                </a:lnTo>
                <a:close/>
              </a:path>
            </a:pathLst>
          </a:custGeom>
          <a:blipFill rotWithShape="0">
            <a:blip r:embed="rId13">
              <a:alphaModFix amt="0"/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8" name="TextBox 51"/>
          <p:cNvSpPr/>
          <p:nvPr/>
        </p:nvSpPr>
        <p:spPr>
          <a:xfrm>
            <a:off x="6858000" y="5362560"/>
            <a:ext cx="4582800" cy="89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ts val="2341"/>
              </a:lnSpc>
            </a:pPr>
            <a:r>
              <a:rPr lang="pt-BR" sz="2020" b="0" u="none" strike="noStrike">
                <a:solidFill>
                  <a:srgbClr val="20261F"/>
                </a:solidFill>
                <a:effectLst/>
                <a:uFillTx/>
                <a:latin typeface="Calibri (MS)"/>
                <a:ea typeface="Calibri (MS)"/>
              </a:rPr>
              <a:t>Receitas e despesas</a:t>
            </a:r>
            <a:endParaRPr lang="pt-BR" sz="2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9" name="AutoShape 52"/>
          <p:cNvSpPr/>
          <p:nvPr/>
        </p:nvSpPr>
        <p:spPr>
          <a:xfrm>
            <a:off x="6302160" y="6303240"/>
            <a:ext cx="4871520" cy="14040"/>
          </a:xfrm>
          <a:prstGeom prst="line">
            <a:avLst/>
          </a:prstGeom>
          <a:ln w="9525">
            <a:solidFill>
              <a:srgbClr val="DDD7C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0960" rIns="90000" bIns="-30960" anchor="t" anchorCtr="1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0" name="Freeform 54"/>
          <p:cNvSpPr/>
          <p:nvPr/>
        </p:nvSpPr>
        <p:spPr>
          <a:xfrm>
            <a:off x="6309360" y="6397560"/>
            <a:ext cx="479880" cy="861840"/>
          </a:xfrm>
          <a:custGeom>
            <a:avLst/>
            <a:gdLst>
              <a:gd name="textAreaLeft" fmla="*/ 0 w 479880"/>
              <a:gd name="textAreaRight" fmla="*/ 480240 w 479880"/>
              <a:gd name="textAreaTop" fmla="*/ 0 h 861840"/>
              <a:gd name="textAreaBottom" fmla="*/ 862200 h 861840"/>
            </a:gdLst>
            <a:ahLst/>
            <a:cxnLst/>
            <a:rect l="textAreaLeft" t="textAreaTop" r="textAreaRight" b="textAreaBottom"/>
            <a:pathLst>
              <a:path w="640080" h="1149532">
                <a:moveTo>
                  <a:pt x="0" y="0"/>
                </a:moveTo>
                <a:lnTo>
                  <a:pt x="640080" y="0"/>
                </a:lnTo>
                <a:lnTo>
                  <a:pt x="640080" y="1149532"/>
                </a:lnTo>
                <a:lnTo>
                  <a:pt x="0" y="1149532"/>
                </a:lnTo>
                <a:close/>
              </a:path>
            </a:pathLst>
          </a:custGeom>
          <a:blipFill rotWithShape="0">
            <a:blip r:embed="rId14">
              <a:alphaModFix amt="0"/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1" name="TextBox 55"/>
          <p:cNvSpPr/>
          <p:nvPr/>
        </p:nvSpPr>
        <p:spPr>
          <a:xfrm>
            <a:off x="6309360" y="6369120"/>
            <a:ext cx="479880" cy="89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ts val="2251"/>
              </a:lnSpc>
            </a:pPr>
            <a:r>
              <a:rPr lang="pt-BR" sz="1870" b="1" u="none" strike="noStrike">
                <a:solidFill>
                  <a:srgbClr val="A8532E"/>
                </a:solidFill>
                <a:effectLst/>
                <a:uFillTx/>
                <a:latin typeface="Calibri (MS) Bold"/>
                <a:ea typeface="Calibri (MS) Bold"/>
              </a:rPr>
              <a:t>✓</a:t>
            </a:r>
            <a:endParaRPr lang="pt-BR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2" name="Freeform 57"/>
          <p:cNvSpPr/>
          <p:nvPr/>
        </p:nvSpPr>
        <p:spPr>
          <a:xfrm>
            <a:off x="6858000" y="6397560"/>
            <a:ext cx="4582800" cy="861840"/>
          </a:xfrm>
          <a:custGeom>
            <a:avLst/>
            <a:gdLst>
              <a:gd name="textAreaLeft" fmla="*/ 0 w 4582800"/>
              <a:gd name="textAreaRight" fmla="*/ 4583160 w 4582800"/>
              <a:gd name="textAreaTop" fmla="*/ 0 h 861840"/>
              <a:gd name="textAreaBottom" fmla="*/ 862200 h 861840"/>
            </a:gdLst>
            <a:ahLst/>
            <a:cxnLst/>
            <a:rect l="textAreaLeft" t="textAreaTop" r="textAreaRight" b="textAreaBottom"/>
            <a:pathLst>
              <a:path w="6110936" h="1149532">
                <a:moveTo>
                  <a:pt x="0" y="0"/>
                </a:moveTo>
                <a:lnTo>
                  <a:pt x="6110936" y="0"/>
                </a:lnTo>
                <a:lnTo>
                  <a:pt x="6110936" y="1149532"/>
                </a:lnTo>
                <a:lnTo>
                  <a:pt x="0" y="1149532"/>
                </a:lnTo>
                <a:close/>
              </a:path>
            </a:pathLst>
          </a:custGeom>
          <a:blipFill rotWithShape="0">
            <a:blip r:embed="rId15">
              <a:alphaModFix amt="0"/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3" name="TextBox 58"/>
          <p:cNvSpPr/>
          <p:nvPr/>
        </p:nvSpPr>
        <p:spPr>
          <a:xfrm>
            <a:off x="6858000" y="6361920"/>
            <a:ext cx="4582800" cy="89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ts val="2341"/>
              </a:lnSpc>
            </a:pPr>
            <a:r>
              <a:rPr lang="pt-BR" sz="2020" b="0" u="none" strike="noStrike">
                <a:solidFill>
                  <a:srgbClr val="20261F"/>
                </a:solidFill>
                <a:effectLst/>
                <a:uFillTx/>
                <a:latin typeface="Calibri (MS)"/>
                <a:ea typeface="Calibri (MS)"/>
              </a:rPr>
              <a:t>Resumos</a:t>
            </a:r>
            <a:endParaRPr lang="pt-BR" sz="2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4" name="AutoShape 59"/>
          <p:cNvSpPr/>
          <p:nvPr/>
        </p:nvSpPr>
        <p:spPr>
          <a:xfrm>
            <a:off x="6302160" y="7302600"/>
            <a:ext cx="4871520" cy="14040"/>
          </a:xfrm>
          <a:prstGeom prst="line">
            <a:avLst/>
          </a:prstGeom>
          <a:ln w="9525">
            <a:solidFill>
              <a:srgbClr val="DDD7C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0960" rIns="90000" bIns="-30960" anchor="t" anchorCtr="1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5" name="Freeform 61"/>
          <p:cNvSpPr/>
          <p:nvPr/>
        </p:nvSpPr>
        <p:spPr>
          <a:xfrm>
            <a:off x="6309360" y="7396920"/>
            <a:ext cx="479880" cy="861840"/>
          </a:xfrm>
          <a:custGeom>
            <a:avLst/>
            <a:gdLst>
              <a:gd name="textAreaLeft" fmla="*/ 0 w 479880"/>
              <a:gd name="textAreaRight" fmla="*/ 480240 w 479880"/>
              <a:gd name="textAreaTop" fmla="*/ 0 h 861840"/>
              <a:gd name="textAreaBottom" fmla="*/ 862200 h 861840"/>
            </a:gdLst>
            <a:ahLst/>
            <a:cxnLst/>
            <a:rect l="textAreaLeft" t="textAreaTop" r="textAreaRight" b="textAreaBottom"/>
            <a:pathLst>
              <a:path w="640080" h="1149532">
                <a:moveTo>
                  <a:pt x="0" y="0"/>
                </a:moveTo>
                <a:lnTo>
                  <a:pt x="640080" y="0"/>
                </a:lnTo>
                <a:lnTo>
                  <a:pt x="640080" y="1149532"/>
                </a:lnTo>
                <a:lnTo>
                  <a:pt x="0" y="1149532"/>
                </a:lnTo>
                <a:close/>
              </a:path>
            </a:pathLst>
          </a:custGeom>
          <a:blipFill rotWithShape="0">
            <a:blip r:embed="rId16">
              <a:alphaModFix amt="0"/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6" name="TextBox 62"/>
          <p:cNvSpPr/>
          <p:nvPr/>
        </p:nvSpPr>
        <p:spPr>
          <a:xfrm>
            <a:off x="6309360" y="7368120"/>
            <a:ext cx="479880" cy="89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ts val="2251"/>
              </a:lnSpc>
            </a:pPr>
            <a:r>
              <a:rPr lang="pt-BR" sz="1870" b="1" u="none" strike="noStrike">
                <a:solidFill>
                  <a:srgbClr val="A8532E"/>
                </a:solidFill>
                <a:effectLst/>
                <a:uFillTx/>
                <a:latin typeface="Calibri (MS) Bold"/>
                <a:ea typeface="Calibri (MS) Bold"/>
              </a:rPr>
              <a:t>✓</a:t>
            </a:r>
            <a:endParaRPr lang="pt-BR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7" name="Freeform 64"/>
          <p:cNvSpPr/>
          <p:nvPr/>
        </p:nvSpPr>
        <p:spPr>
          <a:xfrm>
            <a:off x="6858000" y="7396920"/>
            <a:ext cx="4582800" cy="861840"/>
          </a:xfrm>
          <a:custGeom>
            <a:avLst/>
            <a:gdLst>
              <a:gd name="textAreaLeft" fmla="*/ 0 w 4582800"/>
              <a:gd name="textAreaRight" fmla="*/ 4583160 w 4582800"/>
              <a:gd name="textAreaTop" fmla="*/ 0 h 861840"/>
              <a:gd name="textAreaBottom" fmla="*/ 862200 h 861840"/>
            </a:gdLst>
            <a:ahLst/>
            <a:cxnLst/>
            <a:rect l="textAreaLeft" t="textAreaTop" r="textAreaRight" b="textAreaBottom"/>
            <a:pathLst>
              <a:path w="6110936" h="1149532">
                <a:moveTo>
                  <a:pt x="0" y="0"/>
                </a:moveTo>
                <a:lnTo>
                  <a:pt x="6110936" y="0"/>
                </a:lnTo>
                <a:lnTo>
                  <a:pt x="6110936" y="1149532"/>
                </a:lnTo>
                <a:lnTo>
                  <a:pt x="0" y="1149532"/>
                </a:lnTo>
                <a:close/>
              </a:path>
            </a:pathLst>
          </a:custGeom>
          <a:blipFill rotWithShape="0">
            <a:blip r:embed="rId17">
              <a:alphaModFix amt="0"/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65"/>
          <p:cNvSpPr/>
          <p:nvPr/>
        </p:nvSpPr>
        <p:spPr>
          <a:xfrm>
            <a:off x="6858000" y="7361280"/>
            <a:ext cx="4582800" cy="89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ts val="2341"/>
              </a:lnSpc>
            </a:pPr>
            <a:r>
              <a:rPr lang="pt-BR" sz="2020" b="0" u="none" strike="noStrike">
                <a:solidFill>
                  <a:srgbClr val="20261F"/>
                </a:solidFill>
                <a:effectLst/>
                <a:uFillTx/>
                <a:latin typeface="Calibri (MS)"/>
                <a:ea typeface="Calibri (MS)"/>
              </a:rPr>
              <a:t>Funciona sem internet</a:t>
            </a:r>
            <a:endParaRPr lang="pt-BR" sz="2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9" name="AutoShape 66"/>
          <p:cNvSpPr/>
          <p:nvPr/>
        </p:nvSpPr>
        <p:spPr>
          <a:xfrm>
            <a:off x="6302160" y="8301600"/>
            <a:ext cx="4871520" cy="14400"/>
          </a:xfrm>
          <a:prstGeom prst="line">
            <a:avLst/>
          </a:prstGeom>
          <a:ln w="9525">
            <a:solidFill>
              <a:srgbClr val="DDD7C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0600" rIns="90000" bIns="-30600" anchor="t" anchorCtr="1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0" name="Freeform 68"/>
          <p:cNvSpPr/>
          <p:nvPr/>
        </p:nvSpPr>
        <p:spPr>
          <a:xfrm>
            <a:off x="6309360" y="8396280"/>
            <a:ext cx="479880" cy="861840"/>
          </a:xfrm>
          <a:custGeom>
            <a:avLst/>
            <a:gdLst>
              <a:gd name="textAreaLeft" fmla="*/ 0 w 479880"/>
              <a:gd name="textAreaRight" fmla="*/ 480240 w 479880"/>
              <a:gd name="textAreaTop" fmla="*/ 0 h 861840"/>
              <a:gd name="textAreaBottom" fmla="*/ 862200 h 861840"/>
            </a:gdLst>
            <a:ahLst/>
            <a:cxnLst/>
            <a:rect l="textAreaLeft" t="textAreaTop" r="textAreaRight" b="textAreaBottom"/>
            <a:pathLst>
              <a:path w="640080" h="1149532">
                <a:moveTo>
                  <a:pt x="0" y="0"/>
                </a:moveTo>
                <a:lnTo>
                  <a:pt x="640080" y="0"/>
                </a:lnTo>
                <a:lnTo>
                  <a:pt x="640080" y="1149532"/>
                </a:lnTo>
                <a:lnTo>
                  <a:pt x="0" y="1149532"/>
                </a:lnTo>
                <a:close/>
              </a:path>
            </a:pathLst>
          </a:custGeom>
          <a:blipFill rotWithShape="0">
            <a:blip r:embed="rId18">
              <a:alphaModFix amt="0"/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1" name="TextBox 69"/>
          <p:cNvSpPr/>
          <p:nvPr/>
        </p:nvSpPr>
        <p:spPr>
          <a:xfrm>
            <a:off x="6309360" y="8367480"/>
            <a:ext cx="479880" cy="89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ts val="2251"/>
              </a:lnSpc>
            </a:pPr>
            <a:r>
              <a:rPr lang="pt-BR" sz="1870" b="1" u="none" strike="noStrike">
                <a:solidFill>
                  <a:srgbClr val="A8532E"/>
                </a:solidFill>
                <a:effectLst/>
                <a:uFillTx/>
                <a:latin typeface="Calibri (MS) Bold"/>
                <a:ea typeface="Calibri (MS) Bold"/>
              </a:rPr>
              <a:t>✓</a:t>
            </a:r>
            <a:endParaRPr lang="pt-BR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2" name="Freeform 71"/>
          <p:cNvSpPr/>
          <p:nvPr/>
        </p:nvSpPr>
        <p:spPr>
          <a:xfrm>
            <a:off x="6858000" y="8396280"/>
            <a:ext cx="4582800" cy="861840"/>
          </a:xfrm>
          <a:custGeom>
            <a:avLst/>
            <a:gdLst>
              <a:gd name="textAreaLeft" fmla="*/ 0 w 4582800"/>
              <a:gd name="textAreaRight" fmla="*/ 4583160 w 4582800"/>
              <a:gd name="textAreaTop" fmla="*/ 0 h 861840"/>
              <a:gd name="textAreaBottom" fmla="*/ 862200 h 861840"/>
            </a:gdLst>
            <a:ahLst/>
            <a:cxnLst/>
            <a:rect l="textAreaLeft" t="textAreaTop" r="textAreaRight" b="textAreaBottom"/>
            <a:pathLst>
              <a:path w="6110936" h="1149532">
                <a:moveTo>
                  <a:pt x="0" y="0"/>
                </a:moveTo>
                <a:lnTo>
                  <a:pt x="6110936" y="0"/>
                </a:lnTo>
                <a:lnTo>
                  <a:pt x="6110936" y="1149532"/>
                </a:lnTo>
                <a:lnTo>
                  <a:pt x="0" y="1149532"/>
                </a:lnTo>
                <a:close/>
              </a:path>
            </a:pathLst>
          </a:custGeom>
          <a:blipFill rotWithShape="0">
            <a:blip r:embed="rId19">
              <a:alphaModFix amt="0"/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3" name="TextBox 72"/>
          <p:cNvSpPr/>
          <p:nvPr/>
        </p:nvSpPr>
        <p:spPr>
          <a:xfrm>
            <a:off x="6858000" y="8360280"/>
            <a:ext cx="4582800" cy="89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ts val="2341"/>
              </a:lnSpc>
            </a:pPr>
            <a:r>
              <a:rPr lang="pt-BR" sz="2020" b="0" u="none" strike="noStrike">
                <a:solidFill>
                  <a:srgbClr val="20261F"/>
                </a:solidFill>
                <a:effectLst/>
                <a:uFillTx/>
                <a:latin typeface="Calibri (MS)"/>
                <a:ea typeface="Calibri (MS)"/>
              </a:rPr>
              <a:t>Preço mais acessível</a:t>
            </a:r>
            <a:endParaRPr lang="pt-BR" sz="2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4" name="Freeform 74"/>
          <p:cNvSpPr/>
          <p:nvPr/>
        </p:nvSpPr>
        <p:spPr>
          <a:xfrm>
            <a:off x="12264120" y="1371600"/>
            <a:ext cx="4857120" cy="754200"/>
          </a:xfrm>
          <a:custGeom>
            <a:avLst/>
            <a:gdLst>
              <a:gd name="textAreaLeft" fmla="*/ 0 w 4857120"/>
              <a:gd name="textAreaRight" fmla="*/ 4857480 w 4857120"/>
              <a:gd name="textAreaTop" fmla="*/ 0 h 754200"/>
              <a:gd name="textAreaBottom" fmla="*/ 754560 h 754200"/>
            </a:gdLst>
            <a:ahLst/>
            <a:cxnLst/>
            <a:rect l="textAreaLeft" t="textAreaTop" r="textAreaRight" b="textAreaBottom"/>
            <a:pathLst>
              <a:path w="6476696" h="1005840">
                <a:moveTo>
                  <a:pt x="0" y="0"/>
                </a:moveTo>
                <a:lnTo>
                  <a:pt x="6476696" y="0"/>
                </a:lnTo>
                <a:lnTo>
                  <a:pt x="6476696" y="1005840"/>
                </a:lnTo>
                <a:lnTo>
                  <a:pt x="0" y="1005840"/>
                </a:lnTo>
                <a:close/>
              </a:path>
            </a:pathLst>
          </a:custGeom>
          <a:blipFill rotWithShape="0">
            <a:blip r:embed="rId20">
              <a:alphaModFix amt="0"/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5" name="TextBox 75"/>
          <p:cNvSpPr/>
          <p:nvPr/>
        </p:nvSpPr>
        <p:spPr>
          <a:xfrm>
            <a:off x="12264120" y="1357200"/>
            <a:ext cx="4857120" cy="76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ts val="4320"/>
              </a:lnSpc>
            </a:pPr>
            <a:r>
              <a:rPr lang="pt-BR" sz="3080" b="1" u="none" strike="noStrike">
                <a:solidFill>
                  <a:srgbClr val="16302A"/>
                </a:solidFill>
                <a:effectLst/>
                <a:uFillTx/>
                <a:latin typeface="Cambria Bold"/>
                <a:ea typeface="Cambria Bold"/>
              </a:rPr>
              <a:t>Pro</a:t>
            </a:r>
            <a:endParaRPr lang="pt-BR" sz="3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6" name="Freeform 77"/>
          <p:cNvSpPr/>
          <p:nvPr/>
        </p:nvSpPr>
        <p:spPr>
          <a:xfrm>
            <a:off x="12264120" y="2126160"/>
            <a:ext cx="4857120" cy="411120"/>
          </a:xfrm>
          <a:custGeom>
            <a:avLst/>
            <a:gdLst>
              <a:gd name="textAreaLeft" fmla="*/ 0 w 4857120"/>
              <a:gd name="textAreaRight" fmla="*/ 4857480 w 4857120"/>
              <a:gd name="textAreaTop" fmla="*/ 0 h 411120"/>
              <a:gd name="textAreaBottom" fmla="*/ 411480 h 411120"/>
            </a:gdLst>
            <a:ahLst/>
            <a:cxnLst/>
            <a:rect l="textAreaLeft" t="textAreaTop" r="textAreaRight" b="textAreaBottom"/>
            <a:pathLst>
              <a:path w="6476696" h="548640">
                <a:moveTo>
                  <a:pt x="0" y="0"/>
                </a:moveTo>
                <a:lnTo>
                  <a:pt x="6476696" y="0"/>
                </a:lnTo>
                <a:lnTo>
                  <a:pt x="6476696" y="548640"/>
                </a:lnTo>
                <a:lnTo>
                  <a:pt x="0" y="548640"/>
                </a:lnTo>
                <a:close/>
              </a:path>
            </a:pathLst>
          </a:custGeom>
          <a:blipFill rotWithShape="0">
            <a:blip r:embed="rId21">
              <a:alphaModFix amt="0"/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7" name="TextBox 78"/>
          <p:cNvSpPr/>
          <p:nvPr/>
        </p:nvSpPr>
        <p:spPr>
          <a:xfrm>
            <a:off x="12264120" y="2111760"/>
            <a:ext cx="4857120" cy="42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ts val="1888"/>
              </a:lnSpc>
            </a:pPr>
            <a:r>
              <a:rPr lang="pt-BR" sz="1650" b="1" u="none" strike="noStrike">
                <a:solidFill>
                  <a:srgbClr val="A8532E"/>
                </a:solidFill>
                <a:effectLst/>
                <a:uFillTx/>
                <a:latin typeface="Calibri (MS) Bold"/>
                <a:ea typeface="Calibri (MS) Bold"/>
              </a:rPr>
              <a:t>MAIS COMPLETO</a:t>
            </a:r>
            <a:endParaRPr lang="pt-BR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8" name="Freeform 80"/>
          <p:cNvSpPr/>
          <p:nvPr/>
        </p:nvSpPr>
        <p:spPr>
          <a:xfrm>
            <a:off x="12264120" y="2811960"/>
            <a:ext cx="479880" cy="803160"/>
          </a:xfrm>
          <a:custGeom>
            <a:avLst/>
            <a:gdLst>
              <a:gd name="textAreaLeft" fmla="*/ 0 w 479880"/>
              <a:gd name="textAreaRight" fmla="*/ 480240 w 479880"/>
              <a:gd name="textAreaTop" fmla="*/ 0 h 803160"/>
              <a:gd name="textAreaBottom" fmla="*/ 803520 h 803160"/>
            </a:gdLst>
            <a:ahLst/>
            <a:cxnLst/>
            <a:rect l="textAreaLeft" t="textAreaTop" r="textAreaRight" b="textAreaBottom"/>
            <a:pathLst>
              <a:path w="640080" h="1071154">
                <a:moveTo>
                  <a:pt x="0" y="0"/>
                </a:moveTo>
                <a:lnTo>
                  <a:pt x="640080" y="0"/>
                </a:lnTo>
                <a:lnTo>
                  <a:pt x="640080" y="1071154"/>
                </a:lnTo>
                <a:lnTo>
                  <a:pt x="0" y="1071154"/>
                </a:lnTo>
                <a:close/>
              </a:path>
            </a:pathLst>
          </a:custGeom>
          <a:blipFill rotWithShape="0">
            <a:blip r:embed="rId22">
              <a:alphaModFix amt="0"/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9" name="TextBox 81"/>
          <p:cNvSpPr/>
          <p:nvPr/>
        </p:nvSpPr>
        <p:spPr>
          <a:xfrm>
            <a:off x="12264120" y="2783160"/>
            <a:ext cx="479880" cy="83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ts val="2251"/>
              </a:lnSpc>
            </a:pPr>
            <a:r>
              <a:rPr lang="pt-BR" sz="1870" b="1" u="none" strike="noStrike">
                <a:solidFill>
                  <a:srgbClr val="A8532E"/>
                </a:solidFill>
                <a:effectLst/>
                <a:uFillTx/>
                <a:latin typeface="Calibri (MS) Bold"/>
                <a:ea typeface="Calibri (MS) Bold"/>
              </a:rPr>
              <a:t>✓</a:t>
            </a:r>
            <a:endParaRPr lang="pt-BR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0" name="Freeform 83"/>
          <p:cNvSpPr/>
          <p:nvPr/>
        </p:nvSpPr>
        <p:spPr>
          <a:xfrm>
            <a:off x="12812760" y="2811960"/>
            <a:ext cx="4582800" cy="803160"/>
          </a:xfrm>
          <a:custGeom>
            <a:avLst/>
            <a:gdLst>
              <a:gd name="textAreaLeft" fmla="*/ 0 w 4582800"/>
              <a:gd name="textAreaRight" fmla="*/ 4583160 w 4582800"/>
              <a:gd name="textAreaTop" fmla="*/ 0 h 803160"/>
              <a:gd name="textAreaBottom" fmla="*/ 803520 h 803160"/>
            </a:gdLst>
            <a:ahLst/>
            <a:cxnLst/>
            <a:rect l="textAreaLeft" t="textAreaTop" r="textAreaRight" b="textAreaBottom"/>
            <a:pathLst>
              <a:path w="6110936" h="1071154">
                <a:moveTo>
                  <a:pt x="0" y="0"/>
                </a:moveTo>
                <a:lnTo>
                  <a:pt x="6110936" y="0"/>
                </a:lnTo>
                <a:lnTo>
                  <a:pt x="6110936" y="1071154"/>
                </a:lnTo>
                <a:lnTo>
                  <a:pt x="0" y="1071154"/>
                </a:lnTo>
                <a:close/>
              </a:path>
            </a:pathLst>
          </a:custGeom>
          <a:blipFill rotWithShape="0">
            <a:blip r:embed="rId23">
              <a:alphaModFix amt="0"/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1" name="TextBox 84"/>
          <p:cNvSpPr/>
          <p:nvPr/>
        </p:nvSpPr>
        <p:spPr>
          <a:xfrm>
            <a:off x="12812760" y="2775960"/>
            <a:ext cx="4582800" cy="83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ts val="2341"/>
              </a:lnSpc>
            </a:pPr>
            <a:r>
              <a:rPr lang="pt-BR" sz="2020" b="0" u="none" strike="noStrike">
                <a:solidFill>
                  <a:srgbClr val="20261F"/>
                </a:solidFill>
                <a:effectLst/>
                <a:uFillTx/>
                <a:latin typeface="Calibri (MS)"/>
                <a:ea typeface="Calibri (MS)"/>
              </a:rPr>
              <a:t>Várias propriedades</a:t>
            </a:r>
            <a:endParaRPr lang="pt-BR" sz="2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2" name="AutoShape 85"/>
          <p:cNvSpPr/>
          <p:nvPr/>
        </p:nvSpPr>
        <p:spPr>
          <a:xfrm>
            <a:off x="12256920" y="3657960"/>
            <a:ext cx="4871880" cy="14400"/>
          </a:xfrm>
          <a:prstGeom prst="line">
            <a:avLst/>
          </a:prstGeom>
          <a:ln w="9525">
            <a:solidFill>
              <a:srgbClr val="DDD7C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0600" rIns="90000" bIns="-30600" anchor="t" anchorCtr="1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3" name="Freeform 87"/>
          <p:cNvSpPr/>
          <p:nvPr/>
        </p:nvSpPr>
        <p:spPr>
          <a:xfrm>
            <a:off x="12264120" y="3752280"/>
            <a:ext cx="479880" cy="803160"/>
          </a:xfrm>
          <a:custGeom>
            <a:avLst/>
            <a:gdLst>
              <a:gd name="textAreaLeft" fmla="*/ 0 w 479880"/>
              <a:gd name="textAreaRight" fmla="*/ 480240 w 479880"/>
              <a:gd name="textAreaTop" fmla="*/ 0 h 803160"/>
              <a:gd name="textAreaBottom" fmla="*/ 803520 h 803160"/>
            </a:gdLst>
            <a:ahLst/>
            <a:cxnLst/>
            <a:rect l="textAreaLeft" t="textAreaTop" r="textAreaRight" b="textAreaBottom"/>
            <a:pathLst>
              <a:path w="640080" h="1071154">
                <a:moveTo>
                  <a:pt x="0" y="0"/>
                </a:moveTo>
                <a:lnTo>
                  <a:pt x="640080" y="0"/>
                </a:lnTo>
                <a:lnTo>
                  <a:pt x="640080" y="1071154"/>
                </a:lnTo>
                <a:lnTo>
                  <a:pt x="0" y="1071154"/>
                </a:lnTo>
                <a:close/>
              </a:path>
            </a:pathLst>
          </a:custGeom>
          <a:blipFill rotWithShape="0">
            <a:blip r:embed="rId24">
              <a:alphaModFix amt="0"/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4" name="TextBox 88"/>
          <p:cNvSpPr/>
          <p:nvPr/>
        </p:nvSpPr>
        <p:spPr>
          <a:xfrm>
            <a:off x="12264120" y="3723840"/>
            <a:ext cx="479880" cy="83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ts val="2251"/>
              </a:lnSpc>
            </a:pPr>
            <a:r>
              <a:rPr lang="pt-BR" sz="1870" b="1" u="none" strike="noStrike">
                <a:solidFill>
                  <a:srgbClr val="A8532E"/>
                </a:solidFill>
                <a:effectLst/>
                <a:uFillTx/>
                <a:latin typeface="Calibri (MS) Bold"/>
                <a:ea typeface="Calibri (MS) Bold"/>
              </a:rPr>
              <a:t>✓</a:t>
            </a:r>
            <a:endParaRPr lang="pt-BR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5" name="Freeform 90"/>
          <p:cNvSpPr/>
          <p:nvPr/>
        </p:nvSpPr>
        <p:spPr>
          <a:xfrm>
            <a:off x="12812760" y="3752280"/>
            <a:ext cx="4582800" cy="803160"/>
          </a:xfrm>
          <a:custGeom>
            <a:avLst/>
            <a:gdLst>
              <a:gd name="textAreaLeft" fmla="*/ 0 w 4582800"/>
              <a:gd name="textAreaRight" fmla="*/ 4583160 w 4582800"/>
              <a:gd name="textAreaTop" fmla="*/ 0 h 803160"/>
              <a:gd name="textAreaBottom" fmla="*/ 803520 h 803160"/>
            </a:gdLst>
            <a:ahLst/>
            <a:cxnLst/>
            <a:rect l="textAreaLeft" t="textAreaTop" r="textAreaRight" b="textAreaBottom"/>
            <a:pathLst>
              <a:path w="6110936" h="1071154">
                <a:moveTo>
                  <a:pt x="0" y="0"/>
                </a:moveTo>
                <a:lnTo>
                  <a:pt x="6110936" y="0"/>
                </a:lnTo>
                <a:lnTo>
                  <a:pt x="6110936" y="1071154"/>
                </a:lnTo>
                <a:lnTo>
                  <a:pt x="0" y="1071154"/>
                </a:lnTo>
                <a:close/>
              </a:path>
            </a:pathLst>
          </a:custGeom>
          <a:blipFill rotWithShape="0">
            <a:blip r:embed="rId25">
              <a:alphaModFix amt="0"/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6" name="TextBox 91"/>
          <p:cNvSpPr/>
          <p:nvPr/>
        </p:nvSpPr>
        <p:spPr>
          <a:xfrm>
            <a:off x="12812760" y="3716640"/>
            <a:ext cx="4582800" cy="83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ts val="2341"/>
              </a:lnSpc>
            </a:pPr>
            <a:r>
              <a:rPr lang="pt-BR" sz="2020" b="0" u="none" strike="noStrike">
                <a:solidFill>
                  <a:srgbClr val="20261F"/>
                </a:solidFill>
                <a:effectLst/>
                <a:uFillTx/>
                <a:latin typeface="Calibri (MS)"/>
                <a:ea typeface="Calibri (MS)"/>
              </a:rPr>
              <a:t>Funcionários</a:t>
            </a:r>
            <a:endParaRPr lang="pt-BR" sz="2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7" name="AutoShape 92"/>
          <p:cNvSpPr/>
          <p:nvPr/>
        </p:nvSpPr>
        <p:spPr>
          <a:xfrm>
            <a:off x="12256920" y="4598280"/>
            <a:ext cx="4871880" cy="14400"/>
          </a:xfrm>
          <a:prstGeom prst="line">
            <a:avLst/>
          </a:prstGeom>
          <a:ln w="9525">
            <a:solidFill>
              <a:srgbClr val="DDD7C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0600" rIns="90000" bIns="-30600" anchor="t" anchorCtr="1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8" name="Freeform 94"/>
          <p:cNvSpPr/>
          <p:nvPr/>
        </p:nvSpPr>
        <p:spPr>
          <a:xfrm>
            <a:off x="12264120" y="4692960"/>
            <a:ext cx="479880" cy="803160"/>
          </a:xfrm>
          <a:custGeom>
            <a:avLst/>
            <a:gdLst>
              <a:gd name="textAreaLeft" fmla="*/ 0 w 479880"/>
              <a:gd name="textAreaRight" fmla="*/ 480240 w 479880"/>
              <a:gd name="textAreaTop" fmla="*/ 0 h 803160"/>
              <a:gd name="textAreaBottom" fmla="*/ 803520 h 803160"/>
            </a:gdLst>
            <a:ahLst/>
            <a:cxnLst/>
            <a:rect l="textAreaLeft" t="textAreaTop" r="textAreaRight" b="textAreaBottom"/>
            <a:pathLst>
              <a:path w="640080" h="1071154">
                <a:moveTo>
                  <a:pt x="0" y="0"/>
                </a:moveTo>
                <a:lnTo>
                  <a:pt x="640080" y="0"/>
                </a:lnTo>
                <a:lnTo>
                  <a:pt x="640080" y="1071154"/>
                </a:lnTo>
                <a:lnTo>
                  <a:pt x="0" y="1071154"/>
                </a:lnTo>
                <a:close/>
              </a:path>
            </a:pathLst>
          </a:custGeom>
          <a:blipFill rotWithShape="0">
            <a:blip r:embed="rId26">
              <a:alphaModFix amt="0"/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9" name="TextBox 95"/>
          <p:cNvSpPr/>
          <p:nvPr/>
        </p:nvSpPr>
        <p:spPr>
          <a:xfrm>
            <a:off x="12264120" y="4664160"/>
            <a:ext cx="479880" cy="83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ts val="2251"/>
              </a:lnSpc>
            </a:pPr>
            <a:r>
              <a:rPr lang="pt-BR" sz="1870" b="1" u="none" strike="noStrike">
                <a:solidFill>
                  <a:srgbClr val="A8532E"/>
                </a:solidFill>
                <a:effectLst/>
                <a:uFillTx/>
                <a:latin typeface="Calibri (MS) Bold"/>
                <a:ea typeface="Calibri (MS) Bold"/>
              </a:rPr>
              <a:t>✓</a:t>
            </a:r>
            <a:endParaRPr lang="pt-BR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0" name="Freeform 97"/>
          <p:cNvSpPr/>
          <p:nvPr/>
        </p:nvSpPr>
        <p:spPr>
          <a:xfrm>
            <a:off x="12812760" y="4692960"/>
            <a:ext cx="4582800" cy="803160"/>
          </a:xfrm>
          <a:custGeom>
            <a:avLst/>
            <a:gdLst>
              <a:gd name="textAreaLeft" fmla="*/ 0 w 4582800"/>
              <a:gd name="textAreaRight" fmla="*/ 4583160 w 4582800"/>
              <a:gd name="textAreaTop" fmla="*/ 0 h 803160"/>
              <a:gd name="textAreaBottom" fmla="*/ 803520 h 803160"/>
            </a:gdLst>
            <a:ahLst/>
            <a:cxnLst/>
            <a:rect l="textAreaLeft" t="textAreaTop" r="textAreaRight" b="textAreaBottom"/>
            <a:pathLst>
              <a:path w="6110936" h="1071154">
                <a:moveTo>
                  <a:pt x="0" y="0"/>
                </a:moveTo>
                <a:lnTo>
                  <a:pt x="6110936" y="0"/>
                </a:lnTo>
                <a:lnTo>
                  <a:pt x="6110936" y="1071154"/>
                </a:lnTo>
                <a:lnTo>
                  <a:pt x="0" y="1071154"/>
                </a:lnTo>
                <a:close/>
              </a:path>
            </a:pathLst>
          </a:custGeom>
          <a:blipFill rotWithShape="0">
            <a:blip r:embed="rId27">
              <a:alphaModFix amt="0"/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1" name="TextBox 98"/>
          <p:cNvSpPr/>
          <p:nvPr/>
        </p:nvSpPr>
        <p:spPr>
          <a:xfrm>
            <a:off x="12812760" y="4656960"/>
            <a:ext cx="4582800" cy="83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ts val="2341"/>
              </a:lnSpc>
            </a:pPr>
            <a:r>
              <a:rPr lang="pt-BR" sz="2020" b="0" u="none" strike="noStrike">
                <a:solidFill>
                  <a:srgbClr val="20261F"/>
                </a:solidFill>
                <a:effectLst/>
                <a:uFillTx/>
                <a:latin typeface="Calibri (MS)"/>
                <a:ea typeface="Calibri (MS)"/>
              </a:rPr>
              <a:t>Estoque</a:t>
            </a:r>
            <a:endParaRPr lang="pt-BR" sz="2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2" name="AutoShape 99"/>
          <p:cNvSpPr/>
          <p:nvPr/>
        </p:nvSpPr>
        <p:spPr>
          <a:xfrm>
            <a:off x="12256920" y="5538960"/>
            <a:ext cx="4871880" cy="14400"/>
          </a:xfrm>
          <a:prstGeom prst="line">
            <a:avLst/>
          </a:prstGeom>
          <a:ln w="9525">
            <a:solidFill>
              <a:srgbClr val="DDD7C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0600" rIns="90000" bIns="-30600" anchor="t" anchorCtr="1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3" name="Freeform 101"/>
          <p:cNvSpPr/>
          <p:nvPr/>
        </p:nvSpPr>
        <p:spPr>
          <a:xfrm>
            <a:off x="12264120" y="5633280"/>
            <a:ext cx="479880" cy="803160"/>
          </a:xfrm>
          <a:custGeom>
            <a:avLst/>
            <a:gdLst>
              <a:gd name="textAreaLeft" fmla="*/ 0 w 479880"/>
              <a:gd name="textAreaRight" fmla="*/ 480240 w 479880"/>
              <a:gd name="textAreaTop" fmla="*/ 0 h 803160"/>
              <a:gd name="textAreaBottom" fmla="*/ 803520 h 803160"/>
            </a:gdLst>
            <a:ahLst/>
            <a:cxnLst/>
            <a:rect l="textAreaLeft" t="textAreaTop" r="textAreaRight" b="textAreaBottom"/>
            <a:pathLst>
              <a:path w="640080" h="1071154">
                <a:moveTo>
                  <a:pt x="0" y="0"/>
                </a:moveTo>
                <a:lnTo>
                  <a:pt x="640080" y="0"/>
                </a:lnTo>
                <a:lnTo>
                  <a:pt x="640080" y="1071154"/>
                </a:lnTo>
                <a:lnTo>
                  <a:pt x="0" y="1071154"/>
                </a:lnTo>
                <a:close/>
              </a:path>
            </a:pathLst>
          </a:custGeom>
          <a:blipFill rotWithShape="0">
            <a:blip r:embed="rId28">
              <a:alphaModFix amt="0"/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4" name="TextBox 102"/>
          <p:cNvSpPr/>
          <p:nvPr/>
        </p:nvSpPr>
        <p:spPr>
          <a:xfrm>
            <a:off x="12264120" y="5604840"/>
            <a:ext cx="479880" cy="83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ts val="2251"/>
              </a:lnSpc>
            </a:pPr>
            <a:r>
              <a:rPr lang="pt-BR" sz="1870" b="1" u="none" strike="noStrike">
                <a:solidFill>
                  <a:srgbClr val="A8532E"/>
                </a:solidFill>
                <a:effectLst/>
                <a:uFillTx/>
                <a:latin typeface="Calibri (MS) Bold"/>
                <a:ea typeface="Calibri (MS) Bold"/>
              </a:rPr>
              <a:t>✓</a:t>
            </a:r>
            <a:endParaRPr lang="pt-BR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5" name="Freeform 104"/>
          <p:cNvSpPr/>
          <p:nvPr/>
        </p:nvSpPr>
        <p:spPr>
          <a:xfrm>
            <a:off x="12812760" y="5633280"/>
            <a:ext cx="4582800" cy="803160"/>
          </a:xfrm>
          <a:custGeom>
            <a:avLst/>
            <a:gdLst>
              <a:gd name="textAreaLeft" fmla="*/ 0 w 4582800"/>
              <a:gd name="textAreaRight" fmla="*/ 4583160 w 4582800"/>
              <a:gd name="textAreaTop" fmla="*/ 0 h 803160"/>
              <a:gd name="textAreaBottom" fmla="*/ 803520 h 803160"/>
            </a:gdLst>
            <a:ahLst/>
            <a:cxnLst/>
            <a:rect l="textAreaLeft" t="textAreaTop" r="textAreaRight" b="textAreaBottom"/>
            <a:pathLst>
              <a:path w="6110936" h="1071154">
                <a:moveTo>
                  <a:pt x="0" y="0"/>
                </a:moveTo>
                <a:lnTo>
                  <a:pt x="6110936" y="0"/>
                </a:lnTo>
                <a:lnTo>
                  <a:pt x="6110936" y="1071154"/>
                </a:lnTo>
                <a:lnTo>
                  <a:pt x="0" y="1071154"/>
                </a:lnTo>
                <a:close/>
              </a:path>
            </a:pathLst>
          </a:custGeom>
          <a:blipFill rotWithShape="0">
            <a:blip r:embed="rId29">
              <a:alphaModFix amt="0"/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6" name="TextBox 105"/>
          <p:cNvSpPr/>
          <p:nvPr/>
        </p:nvSpPr>
        <p:spPr>
          <a:xfrm>
            <a:off x="12812760" y="5597640"/>
            <a:ext cx="4582800" cy="83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ts val="2341"/>
              </a:lnSpc>
            </a:pPr>
            <a:r>
              <a:rPr lang="pt-BR" sz="2020" b="0" u="none" strike="noStrike">
                <a:solidFill>
                  <a:srgbClr val="20261F"/>
                </a:solidFill>
                <a:effectLst/>
                <a:uFillTx/>
                <a:latin typeface="Calibri (MS)"/>
                <a:ea typeface="Calibri (MS)"/>
              </a:rPr>
              <a:t>Custos detalhados</a:t>
            </a:r>
            <a:endParaRPr lang="pt-BR" sz="2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7" name="AutoShape 106"/>
          <p:cNvSpPr/>
          <p:nvPr/>
        </p:nvSpPr>
        <p:spPr>
          <a:xfrm>
            <a:off x="12256920" y="6479640"/>
            <a:ext cx="4871880" cy="14040"/>
          </a:xfrm>
          <a:prstGeom prst="line">
            <a:avLst/>
          </a:prstGeom>
          <a:ln w="9525">
            <a:solidFill>
              <a:srgbClr val="DDD7C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0960" rIns="90000" bIns="-30960" anchor="t" anchorCtr="1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8" name="Freeform 108"/>
          <p:cNvSpPr/>
          <p:nvPr/>
        </p:nvSpPr>
        <p:spPr>
          <a:xfrm>
            <a:off x="12264120" y="6573960"/>
            <a:ext cx="479880" cy="803160"/>
          </a:xfrm>
          <a:custGeom>
            <a:avLst/>
            <a:gdLst>
              <a:gd name="textAreaLeft" fmla="*/ 0 w 479880"/>
              <a:gd name="textAreaRight" fmla="*/ 480240 w 479880"/>
              <a:gd name="textAreaTop" fmla="*/ 0 h 803160"/>
              <a:gd name="textAreaBottom" fmla="*/ 803520 h 803160"/>
            </a:gdLst>
            <a:ahLst/>
            <a:cxnLst/>
            <a:rect l="textAreaLeft" t="textAreaTop" r="textAreaRight" b="textAreaBottom"/>
            <a:pathLst>
              <a:path w="640080" h="1071154">
                <a:moveTo>
                  <a:pt x="0" y="0"/>
                </a:moveTo>
                <a:lnTo>
                  <a:pt x="640080" y="0"/>
                </a:lnTo>
                <a:lnTo>
                  <a:pt x="640080" y="1071154"/>
                </a:lnTo>
                <a:lnTo>
                  <a:pt x="0" y="1071154"/>
                </a:lnTo>
                <a:close/>
              </a:path>
            </a:pathLst>
          </a:custGeom>
          <a:blipFill rotWithShape="0">
            <a:blip r:embed="rId30">
              <a:alphaModFix amt="0"/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9" name="TextBox 109"/>
          <p:cNvSpPr/>
          <p:nvPr/>
        </p:nvSpPr>
        <p:spPr>
          <a:xfrm>
            <a:off x="12264120" y="6545160"/>
            <a:ext cx="479880" cy="83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ts val="2251"/>
              </a:lnSpc>
            </a:pPr>
            <a:r>
              <a:rPr lang="pt-BR" sz="1870" b="1" u="none" strike="noStrike">
                <a:solidFill>
                  <a:srgbClr val="A8532E"/>
                </a:solidFill>
                <a:effectLst/>
                <a:uFillTx/>
                <a:latin typeface="Calibri (MS) Bold"/>
                <a:ea typeface="Calibri (MS) Bold"/>
              </a:rPr>
              <a:t>✓</a:t>
            </a:r>
            <a:endParaRPr lang="pt-BR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0" name="Freeform 111"/>
          <p:cNvSpPr/>
          <p:nvPr/>
        </p:nvSpPr>
        <p:spPr>
          <a:xfrm>
            <a:off x="12812760" y="6573960"/>
            <a:ext cx="4582800" cy="803160"/>
          </a:xfrm>
          <a:custGeom>
            <a:avLst/>
            <a:gdLst>
              <a:gd name="textAreaLeft" fmla="*/ 0 w 4582800"/>
              <a:gd name="textAreaRight" fmla="*/ 4583160 w 4582800"/>
              <a:gd name="textAreaTop" fmla="*/ 0 h 803160"/>
              <a:gd name="textAreaBottom" fmla="*/ 803520 h 803160"/>
            </a:gdLst>
            <a:ahLst/>
            <a:cxnLst/>
            <a:rect l="textAreaLeft" t="textAreaTop" r="textAreaRight" b="textAreaBottom"/>
            <a:pathLst>
              <a:path w="6110936" h="1071154">
                <a:moveTo>
                  <a:pt x="0" y="0"/>
                </a:moveTo>
                <a:lnTo>
                  <a:pt x="6110936" y="0"/>
                </a:lnTo>
                <a:lnTo>
                  <a:pt x="6110936" y="1071154"/>
                </a:lnTo>
                <a:lnTo>
                  <a:pt x="0" y="1071154"/>
                </a:lnTo>
                <a:close/>
              </a:path>
            </a:pathLst>
          </a:custGeom>
          <a:blipFill rotWithShape="0">
            <a:blip r:embed="rId31">
              <a:alphaModFix amt="0"/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1" name="TextBox 112"/>
          <p:cNvSpPr/>
          <p:nvPr/>
        </p:nvSpPr>
        <p:spPr>
          <a:xfrm>
            <a:off x="12812760" y="6538320"/>
            <a:ext cx="4582800" cy="83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ts val="2341"/>
              </a:lnSpc>
            </a:pPr>
            <a:r>
              <a:rPr lang="pt-BR" sz="2020" b="0" u="none" strike="noStrike">
                <a:solidFill>
                  <a:srgbClr val="20261F"/>
                </a:solidFill>
                <a:effectLst/>
                <a:uFillTx/>
                <a:latin typeface="Calibri (MS)"/>
                <a:ea typeface="Calibri (MS)"/>
              </a:rPr>
              <a:t>Relatórios avançados</a:t>
            </a:r>
            <a:endParaRPr lang="pt-BR" sz="2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2" name="AutoShape 113"/>
          <p:cNvSpPr/>
          <p:nvPr/>
        </p:nvSpPr>
        <p:spPr>
          <a:xfrm>
            <a:off x="12256920" y="7419960"/>
            <a:ext cx="4871880" cy="14400"/>
          </a:xfrm>
          <a:prstGeom prst="line">
            <a:avLst/>
          </a:prstGeom>
          <a:ln w="9525">
            <a:solidFill>
              <a:srgbClr val="DDD7C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0600" rIns="90000" bIns="-30600" anchor="t" anchorCtr="1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3" name="Freeform 115"/>
          <p:cNvSpPr/>
          <p:nvPr/>
        </p:nvSpPr>
        <p:spPr>
          <a:xfrm>
            <a:off x="12264120" y="7514280"/>
            <a:ext cx="479880" cy="803160"/>
          </a:xfrm>
          <a:custGeom>
            <a:avLst/>
            <a:gdLst>
              <a:gd name="textAreaLeft" fmla="*/ 0 w 479880"/>
              <a:gd name="textAreaRight" fmla="*/ 480240 w 479880"/>
              <a:gd name="textAreaTop" fmla="*/ 0 h 803160"/>
              <a:gd name="textAreaBottom" fmla="*/ 803520 h 803160"/>
            </a:gdLst>
            <a:ahLst/>
            <a:cxnLst/>
            <a:rect l="textAreaLeft" t="textAreaTop" r="textAreaRight" b="textAreaBottom"/>
            <a:pathLst>
              <a:path w="640080" h="1071154">
                <a:moveTo>
                  <a:pt x="0" y="0"/>
                </a:moveTo>
                <a:lnTo>
                  <a:pt x="640080" y="0"/>
                </a:lnTo>
                <a:lnTo>
                  <a:pt x="640080" y="1071154"/>
                </a:lnTo>
                <a:lnTo>
                  <a:pt x="0" y="1071154"/>
                </a:lnTo>
                <a:close/>
              </a:path>
            </a:pathLst>
          </a:custGeom>
          <a:blipFill rotWithShape="0">
            <a:blip r:embed="rId32">
              <a:alphaModFix amt="0"/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4" name="TextBox 116"/>
          <p:cNvSpPr/>
          <p:nvPr/>
        </p:nvSpPr>
        <p:spPr>
          <a:xfrm>
            <a:off x="12264120" y="7485840"/>
            <a:ext cx="479880" cy="83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ts val="2251"/>
              </a:lnSpc>
            </a:pPr>
            <a:r>
              <a:rPr lang="pt-BR" sz="1870" b="1" u="none" strike="noStrike">
                <a:solidFill>
                  <a:srgbClr val="A8532E"/>
                </a:solidFill>
                <a:effectLst/>
                <a:uFillTx/>
                <a:latin typeface="Calibri (MS) Bold"/>
                <a:ea typeface="Calibri (MS) Bold"/>
              </a:rPr>
              <a:t>✓</a:t>
            </a:r>
            <a:endParaRPr lang="pt-BR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5" name="Freeform 118"/>
          <p:cNvSpPr/>
          <p:nvPr/>
        </p:nvSpPr>
        <p:spPr>
          <a:xfrm>
            <a:off x="12812760" y="7514280"/>
            <a:ext cx="4582800" cy="803160"/>
          </a:xfrm>
          <a:custGeom>
            <a:avLst/>
            <a:gdLst>
              <a:gd name="textAreaLeft" fmla="*/ 0 w 4582800"/>
              <a:gd name="textAreaRight" fmla="*/ 4583160 w 4582800"/>
              <a:gd name="textAreaTop" fmla="*/ 0 h 803160"/>
              <a:gd name="textAreaBottom" fmla="*/ 803520 h 803160"/>
            </a:gdLst>
            <a:ahLst/>
            <a:cxnLst/>
            <a:rect l="textAreaLeft" t="textAreaTop" r="textAreaRight" b="textAreaBottom"/>
            <a:pathLst>
              <a:path w="6110936" h="1071154">
                <a:moveTo>
                  <a:pt x="0" y="0"/>
                </a:moveTo>
                <a:lnTo>
                  <a:pt x="6110936" y="0"/>
                </a:lnTo>
                <a:lnTo>
                  <a:pt x="6110936" y="1071154"/>
                </a:lnTo>
                <a:lnTo>
                  <a:pt x="0" y="1071154"/>
                </a:lnTo>
                <a:close/>
              </a:path>
            </a:pathLst>
          </a:custGeom>
          <a:blipFill rotWithShape="0">
            <a:blip r:embed="rId33">
              <a:alphaModFix amt="0"/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6" name="TextBox 119"/>
          <p:cNvSpPr/>
          <p:nvPr/>
        </p:nvSpPr>
        <p:spPr>
          <a:xfrm>
            <a:off x="12812760" y="7478640"/>
            <a:ext cx="4582800" cy="83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ts val="2341"/>
              </a:lnSpc>
            </a:pPr>
            <a:r>
              <a:rPr lang="pt-BR" sz="2020" b="0" u="none" strike="noStrike">
                <a:solidFill>
                  <a:srgbClr val="20261F"/>
                </a:solidFill>
                <a:effectLst/>
                <a:uFillTx/>
                <a:latin typeface="Calibri (MS)"/>
                <a:ea typeface="Calibri (MS)"/>
              </a:rPr>
              <a:t>Compartilhar com técnico/contador</a:t>
            </a:r>
            <a:endParaRPr lang="pt-BR" sz="2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7" name="AutoShape 120"/>
          <p:cNvSpPr/>
          <p:nvPr/>
        </p:nvSpPr>
        <p:spPr>
          <a:xfrm>
            <a:off x="12256920" y="8360640"/>
            <a:ext cx="4871880" cy="14040"/>
          </a:xfrm>
          <a:prstGeom prst="line">
            <a:avLst/>
          </a:prstGeom>
          <a:ln w="9525">
            <a:solidFill>
              <a:srgbClr val="DDD7C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0960" rIns="90000" bIns="-30960" anchor="t" anchorCtr="1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8" name="Freeform 122"/>
          <p:cNvSpPr/>
          <p:nvPr/>
        </p:nvSpPr>
        <p:spPr>
          <a:xfrm>
            <a:off x="12264120" y="8454960"/>
            <a:ext cx="479880" cy="803160"/>
          </a:xfrm>
          <a:custGeom>
            <a:avLst/>
            <a:gdLst>
              <a:gd name="textAreaLeft" fmla="*/ 0 w 479880"/>
              <a:gd name="textAreaRight" fmla="*/ 480240 w 479880"/>
              <a:gd name="textAreaTop" fmla="*/ 0 h 803160"/>
              <a:gd name="textAreaBottom" fmla="*/ 803520 h 803160"/>
            </a:gdLst>
            <a:ahLst/>
            <a:cxnLst/>
            <a:rect l="textAreaLeft" t="textAreaTop" r="textAreaRight" b="textAreaBottom"/>
            <a:pathLst>
              <a:path w="640080" h="1071154">
                <a:moveTo>
                  <a:pt x="0" y="0"/>
                </a:moveTo>
                <a:lnTo>
                  <a:pt x="640080" y="0"/>
                </a:lnTo>
                <a:lnTo>
                  <a:pt x="640080" y="1071154"/>
                </a:lnTo>
                <a:lnTo>
                  <a:pt x="0" y="1071154"/>
                </a:lnTo>
                <a:close/>
              </a:path>
            </a:pathLst>
          </a:custGeom>
          <a:blipFill rotWithShape="0">
            <a:blip r:embed="rId34">
              <a:alphaModFix amt="0"/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9" name="TextBox 123"/>
          <p:cNvSpPr/>
          <p:nvPr/>
        </p:nvSpPr>
        <p:spPr>
          <a:xfrm>
            <a:off x="12264120" y="8426520"/>
            <a:ext cx="479880" cy="83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ts val="2251"/>
              </a:lnSpc>
            </a:pPr>
            <a:r>
              <a:rPr lang="pt-BR" sz="1870" b="1" u="none" strike="noStrike">
                <a:solidFill>
                  <a:srgbClr val="A8532E"/>
                </a:solidFill>
                <a:effectLst/>
                <a:uFillTx/>
                <a:latin typeface="Calibri (MS) Bold"/>
                <a:ea typeface="Calibri (MS) Bold"/>
              </a:rPr>
              <a:t>✓</a:t>
            </a:r>
            <a:endParaRPr lang="pt-BR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0" name="Freeform 125"/>
          <p:cNvSpPr/>
          <p:nvPr/>
        </p:nvSpPr>
        <p:spPr>
          <a:xfrm>
            <a:off x="12812760" y="8454960"/>
            <a:ext cx="4582800" cy="803160"/>
          </a:xfrm>
          <a:custGeom>
            <a:avLst/>
            <a:gdLst>
              <a:gd name="textAreaLeft" fmla="*/ 0 w 4582800"/>
              <a:gd name="textAreaRight" fmla="*/ 4583160 w 4582800"/>
              <a:gd name="textAreaTop" fmla="*/ 0 h 803160"/>
              <a:gd name="textAreaBottom" fmla="*/ 803520 h 803160"/>
            </a:gdLst>
            <a:ahLst/>
            <a:cxnLst/>
            <a:rect l="textAreaLeft" t="textAreaTop" r="textAreaRight" b="textAreaBottom"/>
            <a:pathLst>
              <a:path w="6110936" h="1071154">
                <a:moveTo>
                  <a:pt x="0" y="0"/>
                </a:moveTo>
                <a:lnTo>
                  <a:pt x="6110936" y="0"/>
                </a:lnTo>
                <a:lnTo>
                  <a:pt x="6110936" y="1071154"/>
                </a:lnTo>
                <a:lnTo>
                  <a:pt x="0" y="1071154"/>
                </a:lnTo>
                <a:close/>
              </a:path>
            </a:pathLst>
          </a:custGeom>
          <a:blipFill rotWithShape="0">
            <a:blip r:embed="rId35">
              <a:alphaModFix amt="0"/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1" name="TextBox 126"/>
          <p:cNvSpPr/>
          <p:nvPr/>
        </p:nvSpPr>
        <p:spPr>
          <a:xfrm>
            <a:off x="12812760" y="8419320"/>
            <a:ext cx="4582800" cy="83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ts val="2341"/>
              </a:lnSpc>
            </a:pPr>
            <a:r>
              <a:rPr lang="pt-BR" sz="2020" b="0" u="none" strike="noStrike">
                <a:solidFill>
                  <a:srgbClr val="20261F"/>
                </a:solidFill>
                <a:effectLst/>
                <a:uFillTx/>
                <a:latin typeface="Calibri (MS)"/>
                <a:ea typeface="Calibri (MS)"/>
              </a:rPr>
              <a:t>Futuras integrações</a:t>
            </a:r>
            <a:endParaRPr lang="pt-BR" sz="2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Freeform 3"/>
          <p:cNvSpPr/>
          <p:nvPr/>
        </p:nvSpPr>
        <p:spPr>
          <a:xfrm>
            <a:off x="0" y="0"/>
            <a:ext cx="18287280" cy="10286640"/>
          </a:xfrm>
          <a:custGeom>
            <a:avLst/>
            <a:gdLst>
              <a:gd name="textAreaLeft" fmla="*/ 0 w 18287280"/>
              <a:gd name="textAreaRight" fmla="*/ 18287640 w 18287280"/>
              <a:gd name="textAreaTop" fmla="*/ 0 h 10286640"/>
              <a:gd name="textAreaBottom" fmla="*/ 10287000 h 10286640"/>
            </a:gdLst>
            <a:ahLst/>
            <a:cxnLst/>
            <a:rect l="textAreaLeft" t="textAreaTop" r="textAreaRight" b="textAreaBottom"/>
            <a:pathLst>
              <a:path w="24383364" h="13716000">
                <a:moveTo>
                  <a:pt x="0" y="0"/>
                </a:moveTo>
                <a:lnTo>
                  <a:pt x="24383364" y="0"/>
                </a:lnTo>
                <a:lnTo>
                  <a:pt x="24383364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1630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3" name="Freeform 5"/>
          <p:cNvSpPr/>
          <p:nvPr/>
        </p:nvSpPr>
        <p:spPr>
          <a:xfrm>
            <a:off x="-2194560" y="2743200"/>
            <a:ext cx="8503560" cy="7817760"/>
          </a:xfrm>
          <a:custGeom>
            <a:avLst/>
            <a:gdLst>
              <a:gd name="textAreaLeft" fmla="*/ 0 w 8503560"/>
              <a:gd name="textAreaRight" fmla="*/ 8503920 w 8503560"/>
              <a:gd name="textAreaTop" fmla="*/ 0 h 7817760"/>
              <a:gd name="textAreaBottom" fmla="*/ 7818120 h 7817760"/>
            </a:gdLst>
            <a:ahLst/>
            <a:cxnLst/>
            <a:rect l="textAreaLeft" t="textAreaTop" r="textAreaRight" b="textAreaBottom"/>
            <a:pathLst>
              <a:path w="11338560" h="10424160">
                <a:moveTo>
                  <a:pt x="0" y="0"/>
                </a:moveTo>
                <a:lnTo>
                  <a:pt x="11338560" y="0"/>
                </a:lnTo>
                <a:lnTo>
                  <a:pt x="11338560" y="10424160"/>
                </a:lnTo>
                <a:lnTo>
                  <a:pt x="0" y="10424160"/>
                </a:lnTo>
                <a:close/>
              </a:path>
            </a:pathLst>
          </a:custGeom>
          <a:blipFill rotWithShape="0">
            <a:blip r:embed="rId1">
              <a:alphaModFix amt="0"/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4" name="TextBox 6"/>
          <p:cNvSpPr/>
          <p:nvPr/>
        </p:nvSpPr>
        <p:spPr>
          <a:xfrm>
            <a:off x="-2194560" y="2728800"/>
            <a:ext cx="8503560" cy="783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b">
            <a:noAutofit/>
          </a:bodyPr>
          <a:p>
            <a:pPr>
              <a:lnSpc>
                <a:spcPts val="54000"/>
              </a:lnSpc>
            </a:pPr>
            <a:r>
              <a:rPr lang="pt-BR" sz="45000" b="1" u="none" strike="noStrike">
                <a:solidFill>
                  <a:srgbClr val="224539"/>
                </a:solidFill>
                <a:effectLst/>
                <a:uFillTx/>
                <a:latin typeface="Cambria Bold"/>
                <a:ea typeface="Cambria Bold"/>
              </a:rPr>
              <a:t>10</a:t>
            </a:r>
            <a:endParaRPr lang="pt-BR" sz="45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5" name="Freeform 8"/>
          <p:cNvSpPr/>
          <p:nvPr/>
        </p:nvSpPr>
        <p:spPr>
          <a:xfrm>
            <a:off x="4937760" y="3703320"/>
            <a:ext cx="12344040" cy="2605680"/>
          </a:xfrm>
          <a:custGeom>
            <a:avLst/>
            <a:gdLst>
              <a:gd name="textAreaLeft" fmla="*/ 0 w 12344040"/>
              <a:gd name="textAreaRight" fmla="*/ 12344400 w 12344040"/>
              <a:gd name="textAreaTop" fmla="*/ 0 h 2605680"/>
              <a:gd name="textAreaBottom" fmla="*/ 2606040 h 2605680"/>
            </a:gdLst>
            <a:ahLst/>
            <a:cxnLst/>
            <a:rect l="textAreaLeft" t="textAreaTop" r="textAreaRight" b="textAreaBottom"/>
            <a:pathLst>
              <a:path w="16459200" h="3474720">
                <a:moveTo>
                  <a:pt x="0" y="0"/>
                </a:moveTo>
                <a:lnTo>
                  <a:pt x="16459200" y="0"/>
                </a:lnTo>
                <a:lnTo>
                  <a:pt x="16459200" y="3474720"/>
                </a:lnTo>
                <a:lnTo>
                  <a:pt x="0" y="3474720"/>
                </a:lnTo>
                <a:close/>
              </a:path>
            </a:pathLst>
          </a:custGeom>
          <a:blipFill rotWithShape="0">
            <a:blip r:embed="rId2">
              <a:alphaModFix amt="0"/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6" name="TextBox 9"/>
          <p:cNvSpPr/>
          <p:nvPr/>
        </p:nvSpPr>
        <p:spPr>
          <a:xfrm>
            <a:off x="4937760" y="3646080"/>
            <a:ext cx="12344040" cy="266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ts val="7523"/>
              </a:lnSpc>
            </a:pPr>
            <a:r>
              <a:rPr lang="pt-BR" sz="5700" b="1" u="none" strike="noStrike">
                <a:solidFill>
                  <a:srgbClr val="FFFFFF"/>
                </a:solidFill>
                <a:effectLst/>
                <a:uFillTx/>
                <a:latin typeface="Cambria Bold"/>
                <a:ea typeface="Cambria Bold"/>
              </a:rPr>
              <a:t>Menos complexidade.</a:t>
            </a:r>
            <a:endParaRPr lang="pt-BR" sz="5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7523"/>
              </a:lnSpc>
            </a:pPr>
            <a:r>
              <a:rPr lang="pt-BR" sz="5700" b="1" u="none" strike="noStrike">
                <a:solidFill>
                  <a:srgbClr val="FFFFFF"/>
                </a:solidFill>
                <a:effectLst/>
                <a:uFillTx/>
                <a:latin typeface="Cambria Bold"/>
                <a:ea typeface="Cambria Bold"/>
              </a:rPr>
              <a:t>Mais controle da propriedade.</a:t>
            </a:r>
            <a:endParaRPr lang="pt-BR" sz="5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7" name="Freeform 11"/>
          <p:cNvSpPr/>
          <p:nvPr/>
        </p:nvSpPr>
        <p:spPr>
          <a:xfrm>
            <a:off x="5006520" y="6240960"/>
            <a:ext cx="11383920" cy="822600"/>
          </a:xfrm>
          <a:custGeom>
            <a:avLst/>
            <a:gdLst>
              <a:gd name="textAreaLeft" fmla="*/ 0 w 11383920"/>
              <a:gd name="textAreaRight" fmla="*/ 11384280 w 11383920"/>
              <a:gd name="textAreaTop" fmla="*/ 0 h 822600"/>
              <a:gd name="textAreaBottom" fmla="*/ 822960 h 822600"/>
            </a:gdLst>
            <a:ahLst/>
            <a:cxnLst/>
            <a:rect l="textAreaLeft" t="textAreaTop" r="textAreaRight" b="textAreaBottom"/>
            <a:pathLst>
              <a:path w="15179039" h="1097280">
                <a:moveTo>
                  <a:pt x="0" y="0"/>
                </a:moveTo>
                <a:lnTo>
                  <a:pt x="15179039" y="0"/>
                </a:lnTo>
                <a:lnTo>
                  <a:pt x="15179039" y="1097280"/>
                </a:lnTo>
                <a:lnTo>
                  <a:pt x="0" y="1097280"/>
                </a:lnTo>
                <a:close/>
              </a:path>
            </a:pathLst>
          </a:custGeom>
          <a:blipFill rotWithShape="0">
            <a:blip r:embed="rId3">
              <a:alphaModFix amt="0"/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8" name="TextBox 12"/>
          <p:cNvSpPr/>
          <p:nvPr/>
        </p:nvSpPr>
        <p:spPr>
          <a:xfrm>
            <a:off x="5006520" y="6204960"/>
            <a:ext cx="11383920" cy="85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ts val="2789"/>
              </a:lnSpc>
            </a:pPr>
            <a:r>
              <a:rPr lang="pt-BR" sz="2170" b="0" u="none" strike="noStrike">
                <a:solidFill>
                  <a:srgbClr val="C9D6CB"/>
                </a:solidFill>
                <a:effectLst/>
                <a:uFillTx/>
                <a:latin typeface="Calibri (MS)"/>
                <a:ea typeface="Calibri (MS)"/>
              </a:rPr>
              <a:t>O AgroGestão Pro começa simples e cresce junto com o produtor.</a:t>
            </a:r>
            <a:endParaRPr lang="pt-BR" sz="2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>
          <a:prstDash val="solid"/>
        </a:ln>
        <a:ln w="25400">
          <a:prstDash val="solid"/>
        </a:ln>
        <a:ln w="381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LibreOffice/26.2.5.2$Windows_X86_64 LibreOffice_project/cd7284b4cbbfeb507e630c1aac019f4157393acb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2026-08-10T21:47:56Z</dcterms:created>
  <dc:creator>Walnut Exporter</dc:creator>
  <dc:description/>
  <dc:language>pt-BR</dc:language>
  <cp:lastModifiedBy/>
  <dcterms:modified xsi:type="dcterms:W3CDTF">2026-08-10T18:54:08Z</dcterms:modified>
  <cp:revision>1</cp:revision>
  <dc:subject/>
  <dc:title>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Converted Presentation</vt:lpwstr>
  </property>
</Properties>
</file>